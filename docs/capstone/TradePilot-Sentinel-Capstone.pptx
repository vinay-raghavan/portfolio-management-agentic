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ef63c9c7b9450d" /><Relationship Type="http://schemas.openxmlformats.org/officeDocument/2006/relationships/extended-properties" Target="/docProps/app.xml" Id="R3730681b566942ef" /><Relationship Type="http://schemas.openxmlformats.org/officeDocument/2006/relationships/officeDocument" Target="/ppt/presentation.xml" Id="R74b23506874f4fb5" /></Relationships>
</file>

<file path=ppt/presentation.xml><?xml version="1.0" encoding="utf-8"?>
<p:presentation xmlns:p="http://schemas.openxmlformats.org/presentationml/2006/main">
  <p:sldMasterIdLst>
    <p:sldMasterId xmlns:r="http://schemas.openxmlformats.org/officeDocument/2006/relationships" id="2147483648" r:id="R22d48c6981f24c8c"/>
  </p:sldMasterIdLst>
  <p:notesMasterIdLst>
    <p:notesMasterId xmlns:r="http://schemas.openxmlformats.org/officeDocument/2006/relationships" r:id="Ra37bb03e7f3f4f41"/>
  </p:notesMasterIdLst>
  <p:sldIdLst>
    <p:sldId xmlns:r="http://schemas.openxmlformats.org/officeDocument/2006/relationships" id="256" r:id="R61adce6f3d1b468c"/>
    <p:sldId xmlns:r="http://schemas.openxmlformats.org/officeDocument/2006/relationships" id="257" r:id="Rf32af7348e284600"/>
    <p:sldId xmlns:r="http://schemas.openxmlformats.org/officeDocument/2006/relationships" id="258" r:id="R48403d84288b4088"/>
    <p:sldId xmlns:r="http://schemas.openxmlformats.org/officeDocument/2006/relationships" id="259" r:id="Rc38a204174324d84"/>
    <p:sldId xmlns:r="http://schemas.openxmlformats.org/officeDocument/2006/relationships" id="260" r:id="R4bfefea2b27f470b"/>
    <p:sldId xmlns:r="http://schemas.openxmlformats.org/officeDocument/2006/relationships" id="261" r:id="R7e9814d5b1c24f7e"/>
    <p:sldId xmlns:r="http://schemas.openxmlformats.org/officeDocument/2006/relationships" id="262" r:id="Rb0511de293b24c71"/>
    <p:sldId xmlns:r="http://schemas.openxmlformats.org/officeDocument/2006/relationships" id="263" r:id="Recd5dca17c9d4343"/>
    <p:sldId xmlns:r="http://schemas.openxmlformats.org/officeDocument/2006/relationships" id="264" r:id="Rfef46309e0b74bf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3ea170ff9c4d34" /><Relationship Type="http://schemas.openxmlformats.org/officeDocument/2006/relationships/slideMaster" Target="/ppt/slideMasters/slideMaster1.xml" Id="R22d48c6981f24c8c" /><Relationship Type="http://schemas.openxmlformats.org/officeDocument/2006/relationships/notesMaster" Target="/ppt/notesMasters/notesMaster1.xml" Id="Ra37bb03e7f3f4f41" /><Relationship Type="http://schemas.openxmlformats.org/officeDocument/2006/relationships/presProps" Target="/ppt/presProps.xml" Id="Re5ad56c0d72247d0" /><Relationship Type="http://schemas.openxmlformats.org/officeDocument/2006/relationships/tableStyles" Target="/ppt/tableStyles.xml" Id="R8eb75d0089ea4128" /><Relationship Type="http://schemas.openxmlformats.org/officeDocument/2006/relationships/slide" Target="/ppt/slides/slide1.xml" Id="R61adce6f3d1b468c" /><Relationship Type="http://schemas.openxmlformats.org/officeDocument/2006/relationships/slide" Target="/ppt/slides/slide2.xml" Id="Rf32af7348e284600" /><Relationship Type="http://schemas.openxmlformats.org/officeDocument/2006/relationships/slide" Target="/ppt/slides/slide3.xml" Id="R48403d84288b4088" /><Relationship Type="http://schemas.openxmlformats.org/officeDocument/2006/relationships/slide" Target="/ppt/slides/slide4.xml" Id="Rc38a204174324d84" /><Relationship Type="http://schemas.openxmlformats.org/officeDocument/2006/relationships/slide" Target="/ppt/slides/slide5.xml" Id="R4bfefea2b27f470b" /><Relationship Type="http://schemas.openxmlformats.org/officeDocument/2006/relationships/slide" Target="/ppt/slides/slide6.xml" Id="R7e9814d5b1c24f7e" /><Relationship Type="http://schemas.openxmlformats.org/officeDocument/2006/relationships/slide" Target="/ppt/slides/slide7.xml" Id="Rb0511de293b24c71" /><Relationship Type="http://schemas.openxmlformats.org/officeDocument/2006/relationships/slide" Target="/ppt/slides/slide8.xml" Id="Recd5dca17c9d4343" /><Relationship Type="http://schemas.openxmlformats.org/officeDocument/2006/relationships/slide" Target="/ppt/slides/slide9.xml" Id="Rfef46309e0b74b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fadff5d17947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65369684494751" /><Relationship Type="http://schemas.openxmlformats.org/officeDocument/2006/relationships/notesMaster" Target="/ppt/notesMasters/notesMaster1.xml" Id="R6c2b2c5254dd47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df1d103d274810" /><Relationship Type="http://schemas.openxmlformats.org/officeDocument/2006/relationships/notesMaster" Target="/ppt/notesMasters/notesMaster1.xml" Id="R099dc0629d1943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2f95f1d6214920" /><Relationship Type="http://schemas.openxmlformats.org/officeDocument/2006/relationships/notesMaster" Target="/ppt/notesMasters/notesMaster1.xml" Id="R028f03bf611b4c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bf50ec87c34b28" /><Relationship Type="http://schemas.openxmlformats.org/officeDocument/2006/relationships/notesMaster" Target="/ppt/notesMasters/notesMaster1.xml" Id="Rfe49a97bce26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2c74c5d2db4745" /><Relationship Type="http://schemas.openxmlformats.org/officeDocument/2006/relationships/notesMaster" Target="/ppt/notesMasters/notesMaster1.xml" Id="R452e7cf9ae4a44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d436130f664445" /><Relationship Type="http://schemas.openxmlformats.org/officeDocument/2006/relationships/notesMaster" Target="/ppt/notesMasters/notesMaster1.xml" Id="R24b5bf7c78ae43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322223aa654ddb" /><Relationship Type="http://schemas.openxmlformats.org/officeDocument/2006/relationships/notesMaster" Target="/ppt/notesMasters/notesMaster1.xml" Id="Rc5293780c73c43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9915e474d149be" /><Relationship Type="http://schemas.openxmlformats.org/officeDocument/2006/relationships/notesMaster" Target="/ppt/notesMasters/notesMaster1.xml" Id="R54d7a3111ca645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04159c871c465f" /><Relationship Type="http://schemas.openxmlformats.org/officeDocument/2006/relationships/notesMaster" Target="/ppt/notesMasters/notesMaster1.xml" Id="R01ac296a10f54a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TradePilot Sentinel as a governed agentic trading workflow platform. The capstone uses paper simulation as a safe proof path, while the architecture separates future execution from the current release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a workflow problem. Signals, reasoning, and execution controls usually live in different systems. TradePilot Sentinel puts them in one governed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does not own business rules. ADK coordinates intent and response synthesis, MCP exposes only bounded tools, and deterministic domain services own scores, readiness, ledger state, and audit records. Future execution remains outside the current trust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factor stack. Every input is normalized and freshness-checked. Hard gates can block a candidate before scoring. The recommendation includes both supporting evidence and counterevidence, then exposes only allowed next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before the live demo. The agent selects and sequences tools, but deterministic readiness and policy checks constrain the workflow. A human approval is required before the system can create a simulated fill.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is not a prompt-only instruction. The MCP server exposes a least-privilege tool catalog, policy tests assert forbidden tools remain absent, and approval state is persisted before a simulated fill can occur.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this is a functioning workflow, not a static concept. The screen captures come from the local Docker or Podman Compose stack using safe fixture data. The result includes an approval record, a simulated fill, and a redacted audit trail.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 suite measures response quality, forbidden-action safety, and expected tool trajectories. Fifteen inference cases completed. Deterministic triage passed with zero failures and zero critical failures. The same stack runs through Docker or Podman Compose and CI exercises contracts, the web build, containers, and the MCP tool 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product principle. TradePilot Sentinel is broader than paper trading, but the capstone release proves the architecture through a safe simulation boundary. Future execution requires explicit production controls and is not represented as implemented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34f6dc80e446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b583f1bdb9435a" /><Relationship Type="http://schemas.openxmlformats.org/officeDocument/2006/relationships/slideLayout" Target="/ppt/slideLayouts/slideLayout1.xml" Id="Rdc60e6fbb35a42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0e6fbb35a42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9e95491e3b40da" /><Relationship Type="http://schemas.openxmlformats.org/officeDocument/2006/relationships/image" Target="/ppt/media/image.png" Id="Rc7cc3563f3fa4160" /><Relationship Type="http://schemas.openxmlformats.org/officeDocument/2006/relationships/notesSlide" Target="/ppt/notesSlides/notesSlide1.xml" Id="R4efc839504dc48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89693c20394176" /><Relationship Type="http://schemas.openxmlformats.org/officeDocument/2006/relationships/notesSlide" Target="/ppt/notesSlides/notesSlide2.xml" Id="Rb4a15cfbe6de4e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9aeba381924554" /><Relationship Type="http://schemas.openxmlformats.org/officeDocument/2006/relationships/notesSlide" Target="/ppt/notesSlides/notesSlide3.xml" Id="R7cf2f92269c143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c9ce00a2fc4691" /><Relationship Type="http://schemas.openxmlformats.org/officeDocument/2006/relationships/notesSlide" Target="/ppt/notesSlides/notesSlide4.xml" Id="Racdbe53df35544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716330f2054451" /><Relationship Type="http://schemas.openxmlformats.org/officeDocument/2006/relationships/notesSlide" Target="/ppt/notesSlides/notesSlide5.xml" Id="R129b47af5b0f45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188e56b81b425a" /><Relationship Type="http://schemas.openxmlformats.org/officeDocument/2006/relationships/notesSlide" Target="/ppt/notesSlides/notesSlide6.xml" Id="R2cca8d4e8e1a4b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8ee7d7c1264585" /><Relationship Type="http://schemas.openxmlformats.org/officeDocument/2006/relationships/image" Target="/ppt/media/image2.png" Id="R24ba06aad2144ad0" /><Relationship Type="http://schemas.openxmlformats.org/officeDocument/2006/relationships/image" Target="/ppt/media/image3.png" Id="R588b1eb9e31c4b02" /><Relationship Type="http://schemas.openxmlformats.org/officeDocument/2006/relationships/image" Target="/ppt/media/image4.png" Id="Rf5a9bdd81b5743ae" /><Relationship Type="http://schemas.openxmlformats.org/officeDocument/2006/relationships/notesSlide" Target="/ppt/notesSlides/notesSlide7.xml" Id="R1f2762bde05e4e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12f9c680d543ab" /><Relationship Type="http://schemas.openxmlformats.org/officeDocument/2006/relationships/notesSlide" Target="/ppt/notesSlides/notesSlide8.xml" Id="Rf35b7af488044d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5e6e2952cf4ed5" /><Relationship Type="http://schemas.openxmlformats.org/officeDocument/2006/relationships/notesSlide" Target="/ppt/notesSlides/notesSlide9.xml" Id="Rb1078da2e47d4713"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8BF1A5-B57A-4309-AC92-E1BE783A611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2" name="">
            <a:extLst xmlns:a="http://schemas.openxmlformats.org/drawingml/2006/main">
              <a:ext uri="{FF2B5EF4-FFF2-40B4-BE49-F238E27FC236}">
                <a16:creationId xmlns:a16="http://schemas.microsoft.com/office/drawing/2014/main" id="{C110D9D0-0511-491A-A56F-782BCBEA634E}"/>
              </a:ext>
            </a:extLst>
          </p:cNvPr>
          <p:cNvSpPr>
            <a:spLocks xmlns:a="http://schemas.openxmlformats.org/drawingml/2006/main" noGrp="1"/>
          </p:cNvSpPr>
          <p:nvPr/>
        </p:nvSpPr>
        <p:spPr>
          <a:xfrm xmlns:a="http://schemas.openxmlformats.org/drawingml/2006/main">
            <a:off x="666750" y="552450"/>
            <a:ext cx="2362200" cy="323850"/>
          </a:xfrm>
          <a:prstGeom xmlns:a="http://schemas.openxmlformats.org/drawingml/2006/main" prst="roundRect">
            <a:avLst>
              <a:gd name="adj" fmla="val 50000"/>
            </a:avLst>
          </a:prstGeom>
          <a:solidFill xmlns:a="http://schemas.openxmlformats.org/drawingml/2006/main">
            <a:srgbClr val="E3EBDD"/>
          </a:solidFill>
          <a:ln xmlns:a="http://schemas.openxmlformats.org/drawingml/2006/main" w="9525">
            <a:solidFill>
              <a:srgbClr val="E3EBD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2F6B4F"/>
                </a:solidFill>
              </a:defRPr>
            </a:pPr>
            <a:r>
              <a:rPr sz="1050" b="1">
                <a:solidFill>
                  <a:srgbClr val="2F6B4F"/>
                </a:solidFill>
              </a:rPr>
              <a:t>KAGGLE AI AGENTS CAPSTONE</a:t>
            </a:r>
          </a:p>
        </p:txBody>
      </p:sp>
      <p:sp>
        <p:nvSpPr>
          <p:cNvPr id="3" name="">
            <a:extLst xmlns:a="http://schemas.openxmlformats.org/drawingml/2006/main">
              <a:ext uri="{FF2B5EF4-FFF2-40B4-BE49-F238E27FC236}">
                <a16:creationId xmlns:a16="http://schemas.microsoft.com/office/drawing/2014/main" id="{CD57BE1A-2370-4A24-BB17-D88766F1A17D}"/>
              </a:ext>
            </a:extLst>
          </p:cNvPr>
          <p:cNvSpPr>
            <a:spLocks xmlns:a="http://schemas.openxmlformats.org/drawingml/2006/main" noGrp="1"/>
          </p:cNvSpPr>
          <p:nvPr/>
        </p:nvSpPr>
        <p:spPr>
          <a:xfrm xmlns:a="http://schemas.openxmlformats.org/drawingml/2006/main">
            <a:off x="666750" y="1257300"/>
            <a:ext cx="4476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TradePilot</a:t>
            </a:r>
          </a:p>
          <a:p xmlns:a="http://schemas.openxmlformats.org/drawingml/2006/main">
            <a:pPr algn="l">
              <a:defRPr sz="4350" b="1">
                <a:solidFill>
                  <a:srgbClr val="FFFFFF"/>
                </a:solidFill>
              </a:defRPr>
            </a:pPr>
            <a:r>
              <a:rPr sz="4350" b="1">
                <a:solidFill>
                  <a:srgbClr val="FFFFFF"/>
                </a:solidFill>
              </a:rPr>
              <a:t>Sentinel</a:t>
            </a:r>
          </a:p>
        </p:txBody>
      </p:sp>
      <p:sp>
        <p:nvSpPr>
          <p:cNvPr id="4" name="">
            <a:extLst xmlns:a="http://schemas.openxmlformats.org/drawingml/2006/main">
              <a:ext uri="{FF2B5EF4-FFF2-40B4-BE49-F238E27FC236}">
                <a16:creationId xmlns:a16="http://schemas.microsoft.com/office/drawing/2014/main" id="{A1E218BE-6B20-46F5-9A0C-2AF3B780DA48}"/>
              </a:ext>
            </a:extLst>
          </p:cNvPr>
          <p:cNvSpPr>
            <a:spLocks xmlns:a="http://schemas.openxmlformats.org/drawingml/2006/main" noGrp="1"/>
          </p:cNvSpPr>
          <p:nvPr/>
        </p:nvSpPr>
        <p:spPr>
          <a:xfrm xmlns:a="http://schemas.openxmlformats.org/drawingml/2006/main">
            <a:off x="666750" y="3048000"/>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CBD5E1"/>
                </a:solidFill>
              </a:defRPr>
            </a:pPr>
            <a:r>
              <a:rPr sz="1875" b="0">
                <a:solidFill>
                  <a:srgbClr val="CBD5E1"/>
                </a:solidFill>
              </a:rPr>
              <a:t>Agentic trading workflows with evidence, policy, and human control.</a:t>
            </a:r>
          </a:p>
        </p:txBody>
      </p:sp>
      <p:sp>
        <p:nvSpPr>
          <p:cNvPr id="5" name="">
            <a:extLst xmlns:a="http://schemas.openxmlformats.org/drawingml/2006/main">
              <a:ext uri="{FF2B5EF4-FFF2-40B4-BE49-F238E27FC236}">
                <a16:creationId xmlns:a16="http://schemas.microsoft.com/office/drawing/2014/main" id="{BE9C9E7F-CB55-4E55-9D20-8935E4DAA7C2}"/>
              </a:ext>
            </a:extLst>
          </p:cNvPr>
          <p:cNvSpPr>
            <a:spLocks xmlns:a="http://schemas.openxmlformats.org/drawingml/2006/main" noGrp="1"/>
          </p:cNvSpPr>
          <p:nvPr/>
        </p:nvSpPr>
        <p:spPr>
          <a:xfrm xmlns:a="http://schemas.openxmlformats.org/drawingml/2006/main">
            <a:off x="666750" y="4171950"/>
            <a:ext cx="1257300" cy="323850"/>
          </a:xfrm>
          <a:prstGeom xmlns:a="http://schemas.openxmlformats.org/drawingml/2006/main" prst="roundRect">
            <a:avLst>
              <a:gd name="adj" fmla="val 50000"/>
            </a:avLst>
          </a:prstGeom>
          <a:solidFill xmlns:a="http://schemas.openxmlformats.org/drawingml/2006/main">
            <a:srgbClr val="E4E7EC"/>
          </a:solidFill>
          <a:ln xmlns:a="http://schemas.openxmlformats.org/drawingml/2006/main" w="9525">
            <a:solidFill>
              <a:srgbClr val="E4E7E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4F5D75"/>
                </a:solidFill>
              </a:defRPr>
            </a:pPr>
            <a:r>
              <a:rPr sz="1050" b="1">
                <a:solidFill>
                  <a:srgbClr val="4F5D75"/>
                </a:solidFill>
              </a:rPr>
              <a:t>ADK AGENT</a:t>
            </a:r>
          </a:p>
        </p:txBody>
      </p:sp>
      <p:sp>
        <p:nvSpPr>
          <p:cNvPr id="6" name="">
            <a:extLst xmlns:a="http://schemas.openxmlformats.org/drawingml/2006/main">
              <a:ext uri="{FF2B5EF4-FFF2-40B4-BE49-F238E27FC236}">
                <a16:creationId xmlns:a16="http://schemas.microsoft.com/office/drawing/2014/main" id="{8EB9184A-B969-4926-89A7-3FBB24A377A0}"/>
              </a:ext>
            </a:extLst>
          </p:cNvPr>
          <p:cNvSpPr>
            <a:spLocks xmlns:a="http://schemas.openxmlformats.org/drawingml/2006/main" noGrp="1"/>
          </p:cNvSpPr>
          <p:nvPr/>
        </p:nvSpPr>
        <p:spPr>
          <a:xfrm xmlns:a="http://schemas.openxmlformats.org/drawingml/2006/main">
            <a:off x="2038350" y="4171950"/>
            <a:ext cx="1257300" cy="323850"/>
          </a:xfrm>
          <a:prstGeom xmlns:a="http://schemas.openxmlformats.org/drawingml/2006/main" prst="roundRect">
            <a:avLst>
              <a:gd name="adj" fmla="val 50000"/>
            </a:avLst>
          </a:prstGeom>
          <a:solidFill xmlns:a="http://schemas.openxmlformats.org/drawingml/2006/main">
            <a:srgbClr val="E3EBDD"/>
          </a:solidFill>
          <a:ln xmlns:a="http://schemas.openxmlformats.org/drawingml/2006/main" w="9525">
            <a:solidFill>
              <a:srgbClr val="E3EBD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2F6B4F"/>
                </a:solidFill>
              </a:defRPr>
            </a:pPr>
            <a:r>
              <a:rPr sz="1050" b="1">
                <a:solidFill>
                  <a:srgbClr val="2F6B4F"/>
                </a:solidFill>
              </a:rPr>
              <a:t>MCP TOOLS</a:t>
            </a:r>
          </a:p>
        </p:txBody>
      </p:sp>
      <p:sp>
        <p:nvSpPr>
          <p:cNvPr id="7" name="">
            <a:extLst xmlns:a="http://schemas.openxmlformats.org/drawingml/2006/main">
              <a:ext uri="{FF2B5EF4-FFF2-40B4-BE49-F238E27FC236}">
                <a16:creationId xmlns:a16="http://schemas.microsoft.com/office/drawing/2014/main" id="{D2D4018C-2349-4768-A371-599BE7DF2898}"/>
              </a:ext>
            </a:extLst>
          </p:cNvPr>
          <p:cNvSpPr>
            <a:spLocks xmlns:a="http://schemas.openxmlformats.org/drawingml/2006/main" noGrp="1"/>
          </p:cNvSpPr>
          <p:nvPr/>
        </p:nvSpPr>
        <p:spPr>
          <a:xfrm xmlns:a="http://schemas.openxmlformats.org/drawingml/2006/main">
            <a:off x="3409950" y="4171950"/>
            <a:ext cx="1657350" cy="323850"/>
          </a:xfrm>
          <a:prstGeom xmlns:a="http://schemas.openxmlformats.org/drawingml/2006/main" prst="roundRect">
            <a:avLst>
              <a:gd name="adj" fmla="val 50000"/>
            </a:avLst>
          </a:prstGeom>
          <a:solidFill xmlns:a="http://schemas.openxmlformats.org/drawingml/2006/main">
            <a:srgbClr val="F4E8D6"/>
          </a:solidFill>
          <a:ln xmlns:a="http://schemas.openxmlformats.org/drawingml/2006/main" w="9525">
            <a:solidFill>
              <a:srgbClr val="F4E8D6"/>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C67C2E"/>
                </a:solidFill>
              </a:defRPr>
            </a:pPr>
            <a:r>
              <a:rPr sz="1050" b="1">
                <a:solidFill>
                  <a:srgbClr val="C67C2E"/>
                </a:solidFill>
              </a:rPr>
              <a:t>APPROVAL-GATED</a:t>
            </a:r>
          </a:p>
        </p:txBody>
      </p:sp>
      <p:sp>
        <p:nvSpPr>
          <p:cNvPr id="8" name="">
            <a:extLst xmlns:a="http://schemas.openxmlformats.org/drawingml/2006/main">
              <a:ext uri="{FF2B5EF4-FFF2-40B4-BE49-F238E27FC236}">
                <a16:creationId xmlns:a16="http://schemas.microsoft.com/office/drawing/2014/main" id="{62DDF9ED-8636-4818-8306-7829E2869FA9}"/>
              </a:ext>
            </a:extLst>
          </p:cNvPr>
          <p:cNvSpPr>
            <a:spLocks xmlns:a="http://schemas.openxmlformats.org/drawingml/2006/main" noGrp="1"/>
          </p:cNvSpPr>
          <p:nvPr/>
        </p:nvSpPr>
        <p:spPr>
          <a:xfrm xmlns:a="http://schemas.openxmlformats.org/drawingml/2006/main">
            <a:off x="666750" y="4857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94A3B8"/>
                </a:solidFill>
              </a:defRPr>
            </a:pPr>
            <a:r>
              <a:rPr sz="1350" b="1">
                <a:solidFill>
                  <a:srgbClr val="94A3B8"/>
                </a:solidFill>
              </a:rPr>
              <a:t>Agents for Business</a:t>
            </a:r>
          </a:p>
        </p:txBody>
      </p:sp>
      <p:sp>
        <p:nvSpPr>
          <p:cNvPr id="9" name="">
            <a:extLst xmlns:a="http://schemas.openxmlformats.org/drawingml/2006/main">
              <a:ext uri="{FF2B5EF4-FFF2-40B4-BE49-F238E27FC236}">
                <a16:creationId xmlns:a16="http://schemas.microsoft.com/office/drawing/2014/main" id="{57D0F7B7-E0FA-4FFD-891B-EB39893B6321}"/>
              </a:ext>
            </a:extLst>
          </p:cNvPr>
          <p:cNvSpPr>
            <a:spLocks xmlns:a="http://schemas.openxmlformats.org/drawingml/2006/main" noGrp="1"/>
          </p:cNvSpPr>
          <p:nvPr/>
        </p:nvSpPr>
        <p:spPr>
          <a:xfrm xmlns:a="http://schemas.openxmlformats.org/drawingml/2006/main">
            <a:off x="666750" y="52197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4A3B8"/>
                </a:solidFill>
              </a:defRPr>
            </a:pPr>
            <a:r>
              <a:rPr sz="1200" b="0">
                <a:solidFill>
                  <a:srgbClr val="94A3B8"/>
                </a:solidFill>
              </a:rPr>
              <a:t>Capstone evidence uses paper simulation; the platform architecture is built for governed trading workflows.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7cc3563f3fa4160"/>
          <a:srcRect xmlns:a="http://schemas.openxmlformats.org/drawingml/2006/main" l="0" t="16129" r="0" b="16129"/>
          <a:stretch xmlns:a="http://schemas.openxmlformats.org/drawingml/2006/main">
            <a:fillRect l="0" t="0" r="0" b="0"/>
          </a:stretch>
        </p:blipFill>
        <p:spPr>
          <a:xfrm xmlns:a="http://schemas.openxmlformats.org/drawingml/2006/main">
            <a:off x="5562600" y="552450"/>
            <a:ext cx="6153150" cy="5638800"/>
          </a:xfrm>
          <a:prstGeom xmlns:a="http://schemas.openxmlformats.org/drawingml/2006/main" prst="roundRect">
            <a:avLst>
              <a:gd name="adj" fmla="val 3041"/>
            </a:avLst>
          </a:prstGeom>
        </p:spPr>
      </p:pic>
      <p:sp>
        <p:nvSpPr>
          <p:cNvPr id="11" name="">
            <a:extLst xmlns:a="http://schemas.openxmlformats.org/drawingml/2006/main">
              <a:ext uri="{FF2B5EF4-FFF2-40B4-BE49-F238E27FC236}">
                <a16:creationId xmlns:a16="http://schemas.microsoft.com/office/drawing/2014/main" id="{CD4F7692-5202-4E17-8B05-BC591E6F2EC3}"/>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4A3B8"/>
                </a:solidFill>
              </a:defRPr>
            </a:pPr>
            <a:r>
              <a:rPr sz="900" b="1">
                <a:solidFill>
                  <a:srgbClr val="94A3B8"/>
                </a:solidFill>
              </a:rPr>
              <a:t>TRADEPILOT SENTINEL</a:t>
            </a:r>
          </a:p>
        </p:txBody>
      </p:sp>
      <p:sp>
        <p:nvSpPr>
          <p:cNvPr id="12" name="">
            <a:extLst xmlns:a="http://schemas.openxmlformats.org/drawingml/2006/main">
              <a:ext uri="{FF2B5EF4-FFF2-40B4-BE49-F238E27FC236}">
                <a16:creationId xmlns:a16="http://schemas.microsoft.com/office/drawing/2014/main" id="{5A1B018C-C214-48BE-9A1C-1986C6024F0C}"/>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94A3B8"/>
                </a:solidFill>
              </a:defRPr>
            </a:pPr>
            <a:r>
              <a:rPr sz="900" b="1">
                <a:solidFill>
                  <a:srgbClr val="94A3B8"/>
                </a:solidFill>
              </a:rPr>
              <a:t>01</a:t>
            </a:r>
          </a:p>
        </p:txBody>
      </p:sp>
    </p:spTree>
    <p:extLst>
      <p:ext uri="{BB962C8B-B14F-4D97-AF65-F5344CB8AC3E}">
        <p14:creationId xmlns:p14="http://schemas.microsoft.com/office/powerpoint/2010/main" val="1612555904"/>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0B89EF-27E1-4A72-A5E0-766031BE8970}"/>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WHY THIS MATTERS</a:t>
            </a:r>
          </a:p>
        </p:txBody>
      </p:sp>
      <p:sp>
        <p:nvSpPr>
          <p:cNvPr id="2" name="">
            <a:extLst xmlns:a="http://schemas.openxmlformats.org/drawingml/2006/main">
              <a:ext uri="{FF2B5EF4-FFF2-40B4-BE49-F238E27FC236}">
                <a16:creationId xmlns:a16="http://schemas.microsoft.com/office/drawing/2014/main" id="{BFC9A287-65B4-4D6B-929E-DFC51F75E049}"/>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A trading assistant must explain and govern every action</a:t>
            </a:r>
          </a:p>
        </p:txBody>
      </p:sp>
      <p:sp>
        <p:nvSpPr>
          <p:cNvPr id="3" name="">
            <a:extLst xmlns:a="http://schemas.openxmlformats.org/drawingml/2006/main">
              <a:ext uri="{FF2B5EF4-FFF2-40B4-BE49-F238E27FC236}">
                <a16:creationId xmlns:a16="http://schemas.microsoft.com/office/drawing/2014/main" id="{47D5FE9E-A415-480D-BB72-5FC71EBA4859}"/>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4CA7015E-9DEE-4B93-84B8-F79E4FAD0D20}"/>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02</a:t>
            </a:r>
          </a:p>
        </p:txBody>
      </p:sp>
      <p:sp>
        <p:nvSpPr>
          <p:cNvPr id="5" name="">
            <a:extLst xmlns:a="http://schemas.openxmlformats.org/drawingml/2006/main">
              <a:ext uri="{FF2B5EF4-FFF2-40B4-BE49-F238E27FC236}">
                <a16:creationId xmlns:a16="http://schemas.microsoft.com/office/drawing/2014/main" id="{80FA668D-559D-4F17-9B6F-CCEBAFC0D079}"/>
              </a:ext>
            </a:extLst>
          </p:cNvPr>
          <p:cNvSpPr>
            <a:spLocks xmlns:a="http://schemas.openxmlformats.org/drawingml/2006/main" noGrp="1"/>
          </p:cNvSpPr>
          <p:nvPr/>
        </p:nvSpPr>
        <p:spPr>
          <a:xfrm xmlns:a="http://schemas.openxmlformats.org/drawingml/2006/main">
            <a:off x="590550" y="13525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65D65"/>
                </a:solidFill>
              </a:defRPr>
            </a:pPr>
            <a:r>
              <a:rPr sz="1500" b="0">
                <a:solidFill>
                  <a:srgbClr val="565D65"/>
                </a:solidFill>
              </a:rPr>
              <a:t>Most systems optimize one step. Real decisions fail across the handoffs.</a:t>
            </a:r>
          </a:p>
        </p:txBody>
      </p:sp>
      <p:sp>
        <p:nvSpPr>
          <p:cNvPr id="6" name="">
            <a:extLst xmlns:a="http://schemas.openxmlformats.org/drawingml/2006/main">
              <a:ext uri="{FF2B5EF4-FFF2-40B4-BE49-F238E27FC236}">
                <a16:creationId xmlns:a16="http://schemas.microsoft.com/office/drawing/2014/main" id="{10CAE457-30EF-444B-96F3-23F172061D50}"/>
              </a:ext>
            </a:extLst>
          </p:cNvPr>
          <p:cNvSpPr>
            <a:spLocks xmlns:a="http://schemas.openxmlformats.org/drawingml/2006/main" noGrp="1"/>
          </p:cNvSpPr>
          <p:nvPr/>
        </p:nvSpPr>
        <p:spPr>
          <a:xfrm xmlns:a="http://schemas.openxmlformats.org/drawingml/2006/main">
            <a:off x="590550" y="21336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F6B4F"/>
                </a:solidFill>
              </a:defRPr>
            </a:pPr>
            <a:r>
              <a:rPr sz="1800" b="1">
                <a:solidFill>
                  <a:srgbClr val="2F6B4F"/>
                </a:solidFill>
              </a:rPr>
              <a:t>01</a:t>
            </a:r>
          </a:p>
        </p:txBody>
      </p:sp>
      <p:sp>
        <p:nvSpPr>
          <p:cNvPr id="7" name="">
            <a:extLst xmlns:a="http://schemas.openxmlformats.org/drawingml/2006/main">
              <a:ext uri="{FF2B5EF4-FFF2-40B4-BE49-F238E27FC236}">
                <a16:creationId xmlns:a16="http://schemas.microsoft.com/office/drawing/2014/main" id="{5687E7FE-E7C1-4598-8DEF-64603212CE6D}"/>
              </a:ext>
            </a:extLst>
          </p:cNvPr>
          <p:cNvSpPr>
            <a:spLocks xmlns:a="http://schemas.openxmlformats.org/drawingml/2006/main" noGrp="1"/>
          </p:cNvSpPr>
          <p:nvPr/>
        </p:nvSpPr>
        <p:spPr>
          <a:xfrm xmlns:a="http://schemas.openxmlformats.org/drawingml/2006/main">
            <a:off x="590550" y="2571750"/>
            <a:ext cx="3181350" cy="0"/>
          </a:xfrm>
          <a:prstGeom xmlns:a="http://schemas.openxmlformats.org/drawingml/2006/main" prst="line">
            <a:avLst/>
          </a:prstGeom>
          <a:noFill xmlns:a="http://schemas.openxmlformats.org/drawingml/2006/main"/>
          <a:ln xmlns:a="http://schemas.openxmlformats.org/drawingml/2006/main" w="38100">
            <a:solidFill>
              <a:srgbClr val="2F6B4F"/>
            </a:solidFill>
            <a:prstDash val="solid"/>
          </a:ln>
        </p:spPr>
      </p:sp>
      <p:sp>
        <p:nvSpPr>
          <p:cNvPr id="8" name="">
            <a:extLst xmlns:a="http://schemas.openxmlformats.org/drawingml/2006/main">
              <a:ext uri="{FF2B5EF4-FFF2-40B4-BE49-F238E27FC236}">
                <a16:creationId xmlns:a16="http://schemas.microsoft.com/office/drawing/2014/main" id="{2B4D87C4-3E7A-4118-9EF5-C6F69376A186}"/>
              </a:ext>
            </a:extLst>
          </p:cNvPr>
          <p:cNvSpPr>
            <a:spLocks xmlns:a="http://schemas.openxmlformats.org/drawingml/2006/main" noGrp="1"/>
          </p:cNvSpPr>
          <p:nvPr/>
        </p:nvSpPr>
        <p:spPr>
          <a:xfrm xmlns:a="http://schemas.openxmlformats.org/drawingml/2006/main">
            <a:off x="590550" y="28003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191C"/>
                </a:solidFill>
              </a:defRPr>
            </a:pPr>
            <a:r>
              <a:rPr sz="1800" b="1">
                <a:solidFill>
                  <a:srgbClr val="17191C"/>
                </a:solidFill>
              </a:rPr>
              <a:t>Fragmented signals</a:t>
            </a:r>
          </a:p>
        </p:txBody>
      </p:sp>
      <p:sp>
        <p:nvSpPr>
          <p:cNvPr id="9" name="">
            <a:extLst xmlns:a="http://schemas.openxmlformats.org/drawingml/2006/main">
              <a:ext uri="{FF2B5EF4-FFF2-40B4-BE49-F238E27FC236}">
                <a16:creationId xmlns:a16="http://schemas.microsoft.com/office/drawing/2014/main" id="{64B1CD5D-034C-4CE4-B6F0-AF925D0A2F4A}"/>
              </a:ext>
            </a:extLst>
          </p:cNvPr>
          <p:cNvSpPr>
            <a:spLocks xmlns:a="http://schemas.openxmlformats.org/drawingml/2006/main" noGrp="1"/>
          </p:cNvSpPr>
          <p:nvPr/>
        </p:nvSpPr>
        <p:spPr>
          <a:xfrm xmlns:a="http://schemas.openxmlformats.org/drawingml/2006/main">
            <a:off x="590550" y="3276600"/>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65D65"/>
                </a:solidFill>
              </a:defRPr>
            </a:pPr>
            <a:r>
              <a:rPr sz="1275" b="0">
                <a:solidFill>
                  <a:srgbClr val="565D65"/>
                </a:solidFill>
              </a:rPr>
              <a:t>Technical, fundamental, sentiment, volatility, and macro evidence live in separate workflows.</a:t>
            </a:r>
          </a:p>
        </p:txBody>
      </p:sp>
      <p:sp>
        <p:nvSpPr>
          <p:cNvPr id="10" name="">
            <a:extLst xmlns:a="http://schemas.openxmlformats.org/drawingml/2006/main">
              <a:ext uri="{FF2B5EF4-FFF2-40B4-BE49-F238E27FC236}">
                <a16:creationId xmlns:a16="http://schemas.microsoft.com/office/drawing/2014/main" id="{F83B2DB7-FA20-49B9-AC09-9316B2F2943A}"/>
              </a:ext>
            </a:extLst>
          </p:cNvPr>
          <p:cNvSpPr>
            <a:spLocks xmlns:a="http://schemas.openxmlformats.org/drawingml/2006/main" noGrp="1"/>
          </p:cNvSpPr>
          <p:nvPr/>
        </p:nvSpPr>
        <p:spPr>
          <a:xfrm xmlns:a="http://schemas.openxmlformats.org/drawingml/2006/main">
            <a:off x="4286250" y="21336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C67C2E"/>
                </a:solidFill>
              </a:defRPr>
            </a:pPr>
            <a:r>
              <a:rPr sz="1800" b="1">
                <a:solidFill>
                  <a:srgbClr val="C67C2E"/>
                </a:solidFill>
              </a:rPr>
              <a:t>02</a:t>
            </a:r>
          </a:p>
        </p:txBody>
      </p:sp>
      <p:sp>
        <p:nvSpPr>
          <p:cNvPr id="11" name="">
            <a:extLst xmlns:a="http://schemas.openxmlformats.org/drawingml/2006/main">
              <a:ext uri="{FF2B5EF4-FFF2-40B4-BE49-F238E27FC236}">
                <a16:creationId xmlns:a16="http://schemas.microsoft.com/office/drawing/2014/main" id="{1ED39E35-7FCC-4704-A368-50675876E83A}"/>
              </a:ext>
            </a:extLst>
          </p:cNvPr>
          <p:cNvSpPr>
            <a:spLocks xmlns:a="http://schemas.openxmlformats.org/drawingml/2006/main" noGrp="1"/>
          </p:cNvSpPr>
          <p:nvPr/>
        </p:nvSpPr>
        <p:spPr>
          <a:xfrm xmlns:a="http://schemas.openxmlformats.org/drawingml/2006/main">
            <a:off x="4286250" y="2571750"/>
            <a:ext cx="3181350" cy="0"/>
          </a:xfrm>
          <a:prstGeom xmlns:a="http://schemas.openxmlformats.org/drawingml/2006/main" prst="line">
            <a:avLst/>
          </a:prstGeom>
          <a:noFill xmlns:a="http://schemas.openxmlformats.org/drawingml/2006/main"/>
          <a:ln xmlns:a="http://schemas.openxmlformats.org/drawingml/2006/main" w="38100">
            <a:solidFill>
              <a:srgbClr val="C67C2E"/>
            </a:solidFill>
            <a:prstDash val="solid"/>
          </a:ln>
        </p:spPr>
      </p:sp>
      <p:sp>
        <p:nvSpPr>
          <p:cNvPr id="12" name="">
            <a:extLst xmlns:a="http://schemas.openxmlformats.org/drawingml/2006/main">
              <a:ext uri="{FF2B5EF4-FFF2-40B4-BE49-F238E27FC236}">
                <a16:creationId xmlns:a16="http://schemas.microsoft.com/office/drawing/2014/main" id="{776BCB6C-0E37-47E6-B385-937BD1FB437A}"/>
              </a:ext>
            </a:extLst>
          </p:cNvPr>
          <p:cNvSpPr>
            <a:spLocks xmlns:a="http://schemas.openxmlformats.org/drawingml/2006/main" noGrp="1"/>
          </p:cNvSpPr>
          <p:nvPr/>
        </p:nvSpPr>
        <p:spPr>
          <a:xfrm xmlns:a="http://schemas.openxmlformats.org/drawingml/2006/main">
            <a:off x="4286250" y="28003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191C"/>
                </a:solidFill>
              </a:defRPr>
            </a:pPr>
            <a:r>
              <a:rPr sz="1800" b="1">
                <a:solidFill>
                  <a:srgbClr val="17191C"/>
                </a:solidFill>
              </a:rPr>
              <a:t>Opaque recommendations</a:t>
            </a:r>
          </a:p>
        </p:txBody>
      </p:sp>
      <p:sp>
        <p:nvSpPr>
          <p:cNvPr id="13" name="">
            <a:extLst xmlns:a="http://schemas.openxmlformats.org/drawingml/2006/main">
              <a:ext uri="{FF2B5EF4-FFF2-40B4-BE49-F238E27FC236}">
                <a16:creationId xmlns:a16="http://schemas.microsoft.com/office/drawing/2014/main" id="{CE2B0E21-A89C-4168-A1AD-22EE74C32698}"/>
              </a:ext>
            </a:extLst>
          </p:cNvPr>
          <p:cNvSpPr>
            <a:spLocks xmlns:a="http://schemas.openxmlformats.org/drawingml/2006/main" noGrp="1"/>
          </p:cNvSpPr>
          <p:nvPr/>
        </p:nvSpPr>
        <p:spPr>
          <a:xfrm xmlns:a="http://schemas.openxmlformats.org/drawingml/2006/main">
            <a:off x="4286250" y="3276600"/>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65D65"/>
                </a:solidFill>
              </a:defRPr>
            </a:pPr>
            <a:r>
              <a:rPr sz="1275" b="0">
                <a:solidFill>
                  <a:srgbClr val="565D65"/>
                </a:solidFill>
              </a:rPr>
              <a:t>A score without counterevidence, citations, and readiness checks is not decision support.</a:t>
            </a:r>
          </a:p>
        </p:txBody>
      </p:sp>
      <p:sp>
        <p:nvSpPr>
          <p:cNvPr id="14" name="">
            <a:extLst xmlns:a="http://schemas.openxmlformats.org/drawingml/2006/main">
              <a:ext uri="{FF2B5EF4-FFF2-40B4-BE49-F238E27FC236}">
                <a16:creationId xmlns:a16="http://schemas.microsoft.com/office/drawing/2014/main" id="{55BCA7B6-0E38-4946-ABC5-FB8E277EC53C}"/>
              </a:ext>
            </a:extLst>
          </p:cNvPr>
          <p:cNvSpPr>
            <a:spLocks xmlns:a="http://schemas.openxmlformats.org/drawingml/2006/main" noGrp="1"/>
          </p:cNvSpPr>
          <p:nvPr/>
        </p:nvSpPr>
        <p:spPr>
          <a:xfrm xmlns:a="http://schemas.openxmlformats.org/drawingml/2006/main">
            <a:off x="7981950" y="21336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84A4A"/>
                </a:solidFill>
              </a:defRPr>
            </a:pPr>
            <a:r>
              <a:rPr sz="1800" b="1">
                <a:solidFill>
                  <a:srgbClr val="B84A4A"/>
                </a:solidFill>
              </a:rPr>
              <a:t>03</a:t>
            </a:r>
          </a:p>
        </p:txBody>
      </p:sp>
      <p:sp>
        <p:nvSpPr>
          <p:cNvPr id="15" name="">
            <a:extLst xmlns:a="http://schemas.openxmlformats.org/drawingml/2006/main">
              <a:ext uri="{FF2B5EF4-FFF2-40B4-BE49-F238E27FC236}">
                <a16:creationId xmlns:a16="http://schemas.microsoft.com/office/drawing/2014/main" id="{030C815D-DFE6-4889-8A29-7BB2252F3114}"/>
              </a:ext>
            </a:extLst>
          </p:cNvPr>
          <p:cNvSpPr>
            <a:spLocks xmlns:a="http://schemas.openxmlformats.org/drawingml/2006/main" noGrp="1"/>
          </p:cNvSpPr>
          <p:nvPr/>
        </p:nvSpPr>
        <p:spPr>
          <a:xfrm xmlns:a="http://schemas.openxmlformats.org/drawingml/2006/main">
            <a:off x="7981950" y="2571750"/>
            <a:ext cx="3181350" cy="0"/>
          </a:xfrm>
          <a:prstGeom xmlns:a="http://schemas.openxmlformats.org/drawingml/2006/main" prst="line">
            <a:avLst/>
          </a:prstGeom>
          <a:noFill xmlns:a="http://schemas.openxmlformats.org/drawingml/2006/main"/>
          <a:ln xmlns:a="http://schemas.openxmlformats.org/drawingml/2006/main" w="38100">
            <a:solidFill>
              <a:srgbClr val="B84A4A"/>
            </a:solidFill>
            <a:prstDash val="solid"/>
          </a:ln>
        </p:spPr>
      </p:sp>
      <p:sp>
        <p:nvSpPr>
          <p:cNvPr id="16" name="">
            <a:extLst xmlns:a="http://schemas.openxmlformats.org/drawingml/2006/main">
              <a:ext uri="{FF2B5EF4-FFF2-40B4-BE49-F238E27FC236}">
                <a16:creationId xmlns:a16="http://schemas.microsoft.com/office/drawing/2014/main" id="{8E957C16-590E-497F-8A48-DE63EC7C8F0C}"/>
              </a:ext>
            </a:extLst>
          </p:cNvPr>
          <p:cNvSpPr>
            <a:spLocks xmlns:a="http://schemas.openxmlformats.org/drawingml/2006/main" noGrp="1"/>
          </p:cNvSpPr>
          <p:nvPr/>
        </p:nvSpPr>
        <p:spPr>
          <a:xfrm xmlns:a="http://schemas.openxmlformats.org/drawingml/2006/main">
            <a:off x="7981950" y="28003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191C"/>
                </a:solidFill>
              </a:defRPr>
            </a:pPr>
            <a:r>
              <a:rPr sz="1800" b="1">
                <a:solidFill>
                  <a:srgbClr val="17191C"/>
                </a:solidFill>
              </a:rPr>
              <a:t>Unsafe automation</a:t>
            </a:r>
          </a:p>
        </p:txBody>
      </p:sp>
      <p:sp>
        <p:nvSpPr>
          <p:cNvPr id="17" name="">
            <a:extLst xmlns:a="http://schemas.openxmlformats.org/drawingml/2006/main">
              <a:ext uri="{FF2B5EF4-FFF2-40B4-BE49-F238E27FC236}">
                <a16:creationId xmlns:a16="http://schemas.microsoft.com/office/drawing/2014/main" id="{DBD73689-8404-44DE-A7B2-B1935B1B8225}"/>
              </a:ext>
            </a:extLst>
          </p:cNvPr>
          <p:cNvSpPr>
            <a:spLocks xmlns:a="http://schemas.openxmlformats.org/drawingml/2006/main" noGrp="1"/>
          </p:cNvSpPr>
          <p:nvPr/>
        </p:nvSpPr>
        <p:spPr>
          <a:xfrm xmlns:a="http://schemas.openxmlformats.org/drawingml/2006/main">
            <a:off x="7981950" y="3276600"/>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65D65"/>
                </a:solidFill>
              </a:defRPr>
            </a:pPr>
            <a:r>
              <a:rPr sz="1275" b="0">
                <a:solidFill>
                  <a:srgbClr val="565D65"/>
                </a:solidFill>
              </a:rPr>
              <a:t>A capable model still needs permissions, approvals, audit records, and a hard execution boundary.</a:t>
            </a:r>
          </a:p>
        </p:txBody>
      </p:sp>
      <p:sp>
        <p:nvSpPr>
          <p:cNvPr id="18" name="">
            <a:extLst xmlns:a="http://schemas.openxmlformats.org/drawingml/2006/main">
              <a:ext uri="{FF2B5EF4-FFF2-40B4-BE49-F238E27FC236}">
                <a16:creationId xmlns:a16="http://schemas.microsoft.com/office/drawing/2014/main" id="{F0B7F19C-CD29-4B56-99FD-F785C6B5BD5F}"/>
              </a:ext>
            </a:extLst>
          </p:cNvPr>
          <p:cNvSpPr>
            <a:spLocks xmlns:a="http://schemas.openxmlformats.org/drawingml/2006/main" noGrp="1"/>
          </p:cNvSpPr>
          <p:nvPr/>
        </p:nvSpPr>
        <p:spPr>
          <a:xfrm xmlns:a="http://schemas.openxmlformats.org/drawingml/2006/main">
            <a:off x="590550" y="4857750"/>
            <a:ext cx="11010900" cy="1066800"/>
          </a:xfrm>
          <a:prstGeom xmlns:a="http://schemas.openxmlformats.org/drawingml/2006/main" prst="roundRect">
            <a:avLst>
              <a:gd name="adj" fmla="val 10714"/>
            </a:avLst>
          </a:prstGeom>
          <a:solidFill xmlns:a="http://schemas.openxmlformats.org/drawingml/2006/main">
            <a:srgbClr val="17191C"/>
          </a:solidFill>
          <a:ln xmlns:a="http://schemas.openxmlformats.org/drawingml/2006/main" w="9525">
            <a:solidFill>
              <a:srgbClr val="17191C"/>
            </a:solidFill>
            <a:prstDash val="solid"/>
          </a:ln>
        </p:spPr>
      </p:sp>
      <p:sp>
        <p:nvSpPr>
          <p:cNvPr id="19" name="">
            <a:extLst xmlns:a="http://schemas.openxmlformats.org/drawingml/2006/main">
              <a:ext uri="{FF2B5EF4-FFF2-40B4-BE49-F238E27FC236}">
                <a16:creationId xmlns:a16="http://schemas.microsoft.com/office/drawing/2014/main" id="{3D4476BC-29DC-4A7D-B5E6-56069F8C5E58}"/>
              </a:ext>
            </a:extLst>
          </p:cNvPr>
          <p:cNvSpPr>
            <a:spLocks xmlns:a="http://schemas.openxmlformats.org/drawingml/2006/main" noGrp="1"/>
          </p:cNvSpPr>
          <p:nvPr/>
        </p:nvSpPr>
        <p:spPr>
          <a:xfrm xmlns:a="http://schemas.openxmlformats.org/drawingml/2006/main">
            <a:off x="914400" y="512445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TradePilot Sentinel makes evidence, policy, and approval part of the workflow itself.</a:t>
            </a:r>
          </a:p>
        </p:txBody>
      </p:sp>
      <p:sp>
        <p:nvSpPr>
          <p:cNvPr id="20" name="">
            <a:extLst xmlns:a="http://schemas.openxmlformats.org/drawingml/2006/main">
              <a:ext uri="{FF2B5EF4-FFF2-40B4-BE49-F238E27FC236}">
                <a16:creationId xmlns:a16="http://schemas.microsoft.com/office/drawing/2014/main" id="{1335293A-13A0-4643-B62D-0D9FE07FCA2D}"/>
              </a:ext>
            </a:extLst>
          </p:cNvPr>
          <p:cNvSpPr>
            <a:spLocks xmlns:a="http://schemas.openxmlformats.org/drawingml/2006/main" noGrp="1"/>
          </p:cNvSpPr>
          <p:nvPr/>
        </p:nvSpPr>
        <p:spPr>
          <a:xfrm xmlns:a="http://schemas.openxmlformats.org/drawingml/2006/main">
            <a:off x="1104900" y="5524500"/>
            <a:ext cx="998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CBD5E1"/>
                </a:solidFill>
              </a:defRPr>
            </a:pPr>
            <a:r>
              <a:rPr sz="1275" b="0">
                <a:solidFill>
                  <a:srgbClr val="CBD5E1"/>
                </a:solidFill>
              </a:rPr>
              <a:t>The result is a traceable recommendation and a bounded action, not a conversational guess.</a:t>
            </a:r>
          </a:p>
        </p:txBody>
      </p:sp>
    </p:spTree>
    <p:extLst>
      <p:ext uri="{BB962C8B-B14F-4D97-AF65-F5344CB8AC3E}">
        <p14:creationId xmlns:p14="http://schemas.microsoft.com/office/powerpoint/2010/main" val="1196207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7074D1-00AF-4BDB-AF83-607E0F1E6ABD}"/>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SYSTEM ARCHITECTURE</a:t>
            </a:r>
          </a:p>
        </p:txBody>
      </p:sp>
      <p:sp>
        <p:nvSpPr>
          <p:cNvPr id="2" name="">
            <a:extLst xmlns:a="http://schemas.openxmlformats.org/drawingml/2006/main">
              <a:ext uri="{FF2B5EF4-FFF2-40B4-BE49-F238E27FC236}">
                <a16:creationId xmlns:a16="http://schemas.microsoft.com/office/drawing/2014/main" id="{9721EFF4-2542-4384-8C47-480023B95071}"/>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The agent coordinates; deterministic services decide what is allowed</a:t>
            </a:r>
          </a:p>
        </p:txBody>
      </p:sp>
      <p:sp>
        <p:nvSpPr>
          <p:cNvPr id="3" name="">
            <a:extLst xmlns:a="http://schemas.openxmlformats.org/drawingml/2006/main">
              <a:ext uri="{FF2B5EF4-FFF2-40B4-BE49-F238E27FC236}">
                <a16:creationId xmlns:a16="http://schemas.microsoft.com/office/drawing/2014/main" id="{953EEF20-CF87-42C4-9F8D-02403EFE194A}"/>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22317A19-C647-49F6-8568-1AC8EDB4B4C0}"/>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03</a:t>
            </a:r>
          </a:p>
        </p:txBody>
      </p:sp>
      <p:sp>
        <p:nvSpPr>
          <p:cNvPr id="5" name="">
            <a:extLst xmlns:a="http://schemas.openxmlformats.org/drawingml/2006/main">
              <a:ext uri="{FF2B5EF4-FFF2-40B4-BE49-F238E27FC236}">
                <a16:creationId xmlns:a16="http://schemas.microsoft.com/office/drawing/2014/main" id="{F0165699-5845-4963-9796-1F4AACB17BA8}"/>
              </a:ext>
            </a:extLst>
          </p:cNvPr>
          <p:cNvSpPr>
            <a:spLocks xmlns:a="http://schemas.openxmlformats.org/drawingml/2006/main" noGrp="1"/>
          </p:cNvSpPr>
          <p:nvPr/>
        </p:nvSpPr>
        <p:spPr>
          <a:xfrm xmlns:a="http://schemas.openxmlformats.org/drawingml/2006/main">
            <a:off x="590550" y="1714500"/>
            <a:ext cx="2000250" cy="781050"/>
          </a:xfrm>
          <a:prstGeom xmlns:a="http://schemas.openxmlformats.org/drawingml/2006/main" prst="roundRect">
            <a:avLst>
              <a:gd name="adj" fmla="val 12195"/>
            </a:avLst>
          </a:prstGeom>
          <a:solidFill xmlns:a="http://schemas.openxmlformats.org/drawingml/2006/main">
            <a:srgbClr val="F7F7F2"/>
          </a:solidFill>
          <a:ln xmlns:a="http://schemas.openxmlformats.org/drawingml/2006/main" w="9525">
            <a:solidFill>
              <a:srgbClr val="D7D9D5"/>
            </a:solidFill>
            <a:prstDash val="solid"/>
          </a:ln>
        </p:spPr>
      </p:sp>
      <p:sp>
        <p:nvSpPr>
          <p:cNvPr id="6" name="">
            <a:extLst xmlns:a="http://schemas.openxmlformats.org/drawingml/2006/main">
              <a:ext uri="{FF2B5EF4-FFF2-40B4-BE49-F238E27FC236}">
                <a16:creationId xmlns:a16="http://schemas.microsoft.com/office/drawing/2014/main" id="{BCCEFAFD-E047-4D7C-8992-EE4FED549E65}"/>
              </a:ext>
            </a:extLst>
          </p:cNvPr>
          <p:cNvSpPr>
            <a:spLocks xmlns:a="http://schemas.openxmlformats.org/drawingml/2006/main" noGrp="1"/>
          </p:cNvSpPr>
          <p:nvPr/>
        </p:nvSpPr>
        <p:spPr>
          <a:xfrm xmlns:a="http://schemas.openxmlformats.org/drawingml/2006/main">
            <a:off x="590550" y="1714500"/>
            <a:ext cx="57150" cy="781050"/>
          </a:xfrm>
          <a:prstGeom xmlns:a="http://schemas.openxmlformats.org/drawingml/2006/main" prst="rect">
            <a:avLst/>
          </a:prstGeom>
          <a:solidFill xmlns:a="http://schemas.openxmlformats.org/drawingml/2006/main">
            <a:srgbClr val="4F5D75"/>
          </a:solidFill>
          <a:ln xmlns:a="http://schemas.openxmlformats.org/drawingml/2006/main" w="0">
            <a:solidFill>
              <a:srgbClr val="4F5D75"/>
            </a:solidFill>
            <a:prstDash val="solid"/>
          </a:ln>
        </p:spPr>
      </p:sp>
      <p:sp>
        <p:nvSpPr>
          <p:cNvPr id="7" name="">
            <a:extLst xmlns:a="http://schemas.openxmlformats.org/drawingml/2006/main">
              <a:ext uri="{FF2B5EF4-FFF2-40B4-BE49-F238E27FC236}">
                <a16:creationId xmlns:a16="http://schemas.microsoft.com/office/drawing/2014/main" id="{A0E6A17B-134F-49E5-921C-06D7AADF8A45}"/>
              </a:ext>
            </a:extLst>
          </p:cNvPr>
          <p:cNvSpPr>
            <a:spLocks xmlns:a="http://schemas.openxmlformats.org/drawingml/2006/main" noGrp="1"/>
          </p:cNvSpPr>
          <p:nvPr/>
        </p:nvSpPr>
        <p:spPr>
          <a:xfrm xmlns:a="http://schemas.openxmlformats.org/drawingml/2006/main">
            <a:off x="762000" y="18097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Web console + API clients</a:t>
            </a:r>
          </a:p>
        </p:txBody>
      </p:sp>
      <p:sp>
        <p:nvSpPr>
          <p:cNvPr id="8" name="">
            <a:extLst xmlns:a="http://schemas.openxmlformats.org/drawingml/2006/main">
              <a:ext uri="{FF2B5EF4-FFF2-40B4-BE49-F238E27FC236}">
                <a16:creationId xmlns:a16="http://schemas.microsoft.com/office/drawing/2014/main" id="{AFDF4E09-4189-44CB-8BE3-9713028E4F67}"/>
              </a:ext>
            </a:extLst>
          </p:cNvPr>
          <p:cNvSpPr>
            <a:spLocks xmlns:a="http://schemas.openxmlformats.org/drawingml/2006/main" noGrp="1"/>
          </p:cNvSpPr>
          <p:nvPr/>
        </p:nvSpPr>
        <p:spPr>
          <a:xfrm xmlns:a="http://schemas.openxmlformats.org/drawingml/2006/main">
            <a:off x="762000" y="2190750"/>
            <a:ext cx="1733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Workflow entry points</a:t>
            </a:r>
          </a:p>
        </p:txBody>
      </p:sp>
      <p:sp>
        <p:nvSpPr>
          <p:cNvPr id="9" name="">
            <a:extLst xmlns:a="http://schemas.openxmlformats.org/drawingml/2006/main">
              <a:ext uri="{FF2B5EF4-FFF2-40B4-BE49-F238E27FC236}">
                <a16:creationId xmlns:a16="http://schemas.microsoft.com/office/drawing/2014/main" id="{1645AF10-CD3C-4E45-B12B-BECB16777121}"/>
              </a:ext>
            </a:extLst>
          </p:cNvPr>
          <p:cNvSpPr>
            <a:spLocks xmlns:a="http://schemas.openxmlformats.org/drawingml/2006/main" noGrp="1"/>
          </p:cNvSpPr>
          <p:nvPr/>
        </p:nvSpPr>
        <p:spPr>
          <a:xfrm xmlns:a="http://schemas.openxmlformats.org/drawingml/2006/main">
            <a:off x="3143250" y="1714500"/>
            <a:ext cx="2247900" cy="781050"/>
          </a:xfrm>
          <a:prstGeom xmlns:a="http://schemas.openxmlformats.org/drawingml/2006/main" prst="roundRect">
            <a:avLst>
              <a:gd name="adj" fmla="val 12195"/>
            </a:avLst>
          </a:prstGeom>
          <a:solidFill xmlns:a="http://schemas.openxmlformats.org/drawingml/2006/main">
            <a:srgbClr val="E4E7EC"/>
          </a:solidFill>
          <a:ln xmlns:a="http://schemas.openxmlformats.org/drawingml/2006/main" w="9525">
            <a:solidFill>
              <a:srgbClr val="B7BDC7"/>
            </a:solidFill>
            <a:prstDash val="solid"/>
          </a:ln>
        </p:spPr>
      </p:sp>
      <p:sp>
        <p:nvSpPr>
          <p:cNvPr id="10" name="">
            <a:extLst xmlns:a="http://schemas.openxmlformats.org/drawingml/2006/main">
              <a:ext uri="{FF2B5EF4-FFF2-40B4-BE49-F238E27FC236}">
                <a16:creationId xmlns:a16="http://schemas.microsoft.com/office/drawing/2014/main" id="{45985498-746F-46FC-A747-AC600DDACE33}"/>
              </a:ext>
            </a:extLst>
          </p:cNvPr>
          <p:cNvSpPr>
            <a:spLocks xmlns:a="http://schemas.openxmlformats.org/drawingml/2006/main" noGrp="1"/>
          </p:cNvSpPr>
          <p:nvPr/>
        </p:nvSpPr>
        <p:spPr>
          <a:xfrm xmlns:a="http://schemas.openxmlformats.org/drawingml/2006/main">
            <a:off x="3143250" y="1714500"/>
            <a:ext cx="57150" cy="781050"/>
          </a:xfrm>
          <a:prstGeom xmlns:a="http://schemas.openxmlformats.org/drawingml/2006/main" prst="rect">
            <a:avLst/>
          </a:prstGeom>
          <a:solidFill xmlns:a="http://schemas.openxmlformats.org/drawingml/2006/main">
            <a:srgbClr val="4F5D75"/>
          </a:solidFill>
          <a:ln xmlns:a="http://schemas.openxmlformats.org/drawingml/2006/main" w="0">
            <a:solidFill>
              <a:srgbClr val="4F5D75"/>
            </a:solidFill>
            <a:prstDash val="solid"/>
          </a:ln>
        </p:spPr>
      </p:sp>
      <p:sp>
        <p:nvSpPr>
          <p:cNvPr id="11" name="">
            <a:extLst xmlns:a="http://schemas.openxmlformats.org/drawingml/2006/main">
              <a:ext uri="{FF2B5EF4-FFF2-40B4-BE49-F238E27FC236}">
                <a16:creationId xmlns:a16="http://schemas.microsoft.com/office/drawing/2014/main" id="{3E1BA76B-EFF5-4D30-AE60-636A2DF4F6A2}"/>
              </a:ext>
            </a:extLst>
          </p:cNvPr>
          <p:cNvSpPr>
            <a:spLocks xmlns:a="http://schemas.openxmlformats.org/drawingml/2006/main" noGrp="1"/>
          </p:cNvSpPr>
          <p:nvPr/>
        </p:nvSpPr>
        <p:spPr>
          <a:xfrm xmlns:a="http://schemas.openxmlformats.org/drawingml/2006/main">
            <a:off x="3314700" y="18097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FastAPI + Google ADK</a:t>
            </a:r>
          </a:p>
        </p:txBody>
      </p:sp>
      <p:sp>
        <p:nvSpPr>
          <p:cNvPr id="12" name="">
            <a:extLst xmlns:a="http://schemas.openxmlformats.org/drawingml/2006/main">
              <a:ext uri="{FF2B5EF4-FFF2-40B4-BE49-F238E27FC236}">
                <a16:creationId xmlns:a16="http://schemas.microsoft.com/office/drawing/2014/main" id="{403D8415-B5CC-4E9B-BD85-C2368B26ADF2}"/>
              </a:ext>
            </a:extLst>
          </p:cNvPr>
          <p:cNvSpPr>
            <a:spLocks xmlns:a="http://schemas.openxmlformats.org/drawingml/2006/main" noGrp="1"/>
          </p:cNvSpPr>
          <p:nvPr/>
        </p:nvSpPr>
        <p:spPr>
          <a:xfrm xmlns:a="http://schemas.openxmlformats.org/drawingml/2006/main">
            <a:off x="3314700" y="2190750"/>
            <a:ext cx="1981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Intent routing and synthesis</a:t>
            </a:r>
          </a:p>
        </p:txBody>
      </p:sp>
      <p:sp>
        <p:nvSpPr>
          <p:cNvPr id="13" name="">
            <a:extLst xmlns:a="http://schemas.openxmlformats.org/drawingml/2006/main">
              <a:ext uri="{FF2B5EF4-FFF2-40B4-BE49-F238E27FC236}">
                <a16:creationId xmlns:a16="http://schemas.microsoft.com/office/drawing/2014/main" id="{5BD4A470-61DA-4E1F-BF43-613F313628A8}"/>
              </a:ext>
            </a:extLst>
          </p:cNvPr>
          <p:cNvSpPr>
            <a:spLocks xmlns:a="http://schemas.openxmlformats.org/drawingml/2006/main" noGrp="1"/>
          </p:cNvSpPr>
          <p:nvPr/>
        </p:nvSpPr>
        <p:spPr>
          <a:xfrm xmlns:a="http://schemas.openxmlformats.org/drawingml/2006/main">
            <a:off x="5943600" y="1714500"/>
            <a:ext cx="2381250" cy="781050"/>
          </a:xfrm>
          <a:prstGeom xmlns:a="http://schemas.openxmlformats.org/drawingml/2006/main" prst="roundRect">
            <a:avLst>
              <a:gd name="adj" fmla="val 12195"/>
            </a:avLst>
          </a:prstGeom>
          <a:solidFill xmlns:a="http://schemas.openxmlformats.org/drawingml/2006/main">
            <a:srgbClr val="DCE9E2"/>
          </a:solidFill>
          <a:ln xmlns:a="http://schemas.openxmlformats.org/drawingml/2006/main" w="9525">
            <a:solidFill>
              <a:srgbClr val="A7C4B4"/>
            </a:solidFill>
            <a:prstDash val="solid"/>
          </a:ln>
        </p:spPr>
      </p:sp>
      <p:sp>
        <p:nvSpPr>
          <p:cNvPr id="14" name="">
            <a:extLst xmlns:a="http://schemas.openxmlformats.org/drawingml/2006/main">
              <a:ext uri="{FF2B5EF4-FFF2-40B4-BE49-F238E27FC236}">
                <a16:creationId xmlns:a16="http://schemas.microsoft.com/office/drawing/2014/main" id="{4BA9659A-7786-4202-8090-28591FCACC9E}"/>
              </a:ext>
            </a:extLst>
          </p:cNvPr>
          <p:cNvSpPr>
            <a:spLocks xmlns:a="http://schemas.openxmlformats.org/drawingml/2006/main" noGrp="1"/>
          </p:cNvSpPr>
          <p:nvPr/>
        </p:nvSpPr>
        <p:spPr>
          <a:xfrm xmlns:a="http://schemas.openxmlformats.org/drawingml/2006/main">
            <a:off x="5943600" y="1714500"/>
            <a:ext cx="57150" cy="78105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15" name="">
            <a:extLst xmlns:a="http://schemas.openxmlformats.org/drawingml/2006/main">
              <a:ext uri="{FF2B5EF4-FFF2-40B4-BE49-F238E27FC236}">
                <a16:creationId xmlns:a16="http://schemas.microsoft.com/office/drawing/2014/main" id="{40445398-AC6F-41CD-9B6B-3B76E3D53FD1}"/>
              </a:ext>
            </a:extLst>
          </p:cNvPr>
          <p:cNvSpPr>
            <a:spLocks xmlns:a="http://schemas.openxmlformats.org/drawingml/2006/main" noGrp="1"/>
          </p:cNvSpPr>
          <p:nvPr/>
        </p:nvSpPr>
        <p:spPr>
          <a:xfrm xmlns:a="http://schemas.openxmlformats.org/drawingml/2006/main">
            <a:off x="6115050" y="1809750"/>
            <a:ext cx="2114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MCP policy boundary</a:t>
            </a:r>
          </a:p>
        </p:txBody>
      </p:sp>
      <p:sp>
        <p:nvSpPr>
          <p:cNvPr id="16" name="">
            <a:extLst xmlns:a="http://schemas.openxmlformats.org/drawingml/2006/main">
              <a:ext uri="{FF2B5EF4-FFF2-40B4-BE49-F238E27FC236}">
                <a16:creationId xmlns:a16="http://schemas.microsoft.com/office/drawing/2014/main" id="{44DE566A-7C52-41D4-AE14-01BDEBDA81DB}"/>
              </a:ext>
            </a:extLst>
          </p:cNvPr>
          <p:cNvSpPr>
            <a:spLocks xmlns:a="http://schemas.openxmlformats.org/drawingml/2006/main" noGrp="1"/>
          </p:cNvSpPr>
          <p:nvPr/>
        </p:nvSpPr>
        <p:spPr>
          <a:xfrm xmlns:a="http://schemas.openxmlformats.org/drawingml/2006/main">
            <a:off x="6115050" y="21907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49 safe tools; forbidden tools unregistered</a:t>
            </a:r>
          </a:p>
        </p:txBody>
      </p:sp>
      <p:sp>
        <p:nvSpPr>
          <p:cNvPr id="17" name="">
            <a:extLst xmlns:a="http://schemas.openxmlformats.org/drawingml/2006/main">
              <a:ext uri="{FF2B5EF4-FFF2-40B4-BE49-F238E27FC236}">
                <a16:creationId xmlns:a16="http://schemas.microsoft.com/office/drawing/2014/main" id="{CB7E6933-B685-475D-A014-B3206E772742}"/>
              </a:ext>
            </a:extLst>
          </p:cNvPr>
          <p:cNvSpPr>
            <a:spLocks xmlns:a="http://schemas.openxmlformats.org/drawingml/2006/main" noGrp="1"/>
          </p:cNvSpPr>
          <p:nvPr/>
        </p:nvSpPr>
        <p:spPr>
          <a:xfrm xmlns:a="http://schemas.openxmlformats.org/drawingml/2006/main">
            <a:off x="8877300" y="1714500"/>
            <a:ext cx="2724150" cy="781050"/>
          </a:xfrm>
          <a:prstGeom xmlns:a="http://schemas.openxmlformats.org/drawingml/2006/main" prst="roundRect">
            <a:avLst>
              <a:gd name="adj" fmla="val 12195"/>
            </a:avLst>
          </a:prstGeom>
          <a:solidFill xmlns:a="http://schemas.openxmlformats.org/drawingml/2006/main">
            <a:srgbClr val="E3EBDD"/>
          </a:solidFill>
          <a:ln xmlns:a="http://schemas.openxmlformats.org/drawingml/2006/main" w="9525">
            <a:solidFill>
              <a:srgbClr val="B7C8AA"/>
            </a:solidFill>
            <a:prstDash val="solid"/>
          </a:ln>
        </p:spPr>
      </p:sp>
      <p:sp>
        <p:nvSpPr>
          <p:cNvPr id="18" name="">
            <a:extLst xmlns:a="http://schemas.openxmlformats.org/drawingml/2006/main">
              <a:ext uri="{FF2B5EF4-FFF2-40B4-BE49-F238E27FC236}">
                <a16:creationId xmlns:a16="http://schemas.microsoft.com/office/drawing/2014/main" id="{43A276AA-6F54-4056-877A-2CBBB2EA4392}"/>
              </a:ext>
            </a:extLst>
          </p:cNvPr>
          <p:cNvSpPr>
            <a:spLocks xmlns:a="http://schemas.openxmlformats.org/drawingml/2006/main" noGrp="1"/>
          </p:cNvSpPr>
          <p:nvPr/>
        </p:nvSpPr>
        <p:spPr>
          <a:xfrm xmlns:a="http://schemas.openxmlformats.org/drawingml/2006/main">
            <a:off x="8877300" y="1714500"/>
            <a:ext cx="57150" cy="78105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19" name="">
            <a:extLst xmlns:a="http://schemas.openxmlformats.org/drawingml/2006/main">
              <a:ext uri="{FF2B5EF4-FFF2-40B4-BE49-F238E27FC236}">
                <a16:creationId xmlns:a16="http://schemas.microsoft.com/office/drawing/2014/main" id="{A61D5DBB-4BFE-43D6-8199-8783B31E19BC}"/>
              </a:ext>
            </a:extLst>
          </p:cNvPr>
          <p:cNvSpPr>
            <a:spLocks xmlns:a="http://schemas.openxmlformats.org/drawingml/2006/main" noGrp="1"/>
          </p:cNvSpPr>
          <p:nvPr/>
        </p:nvSpPr>
        <p:spPr>
          <a:xfrm xmlns:a="http://schemas.openxmlformats.org/drawingml/2006/main">
            <a:off x="9048750" y="18097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Deterministic domain services</a:t>
            </a:r>
          </a:p>
        </p:txBody>
      </p:sp>
      <p:sp>
        <p:nvSpPr>
          <p:cNvPr id="20" name="">
            <a:extLst xmlns:a="http://schemas.openxmlformats.org/drawingml/2006/main">
              <a:ext uri="{FF2B5EF4-FFF2-40B4-BE49-F238E27FC236}">
                <a16:creationId xmlns:a16="http://schemas.microsoft.com/office/drawing/2014/main" id="{FB3CBD9D-E89A-4FAB-8B82-BF7C51895C4C}"/>
              </a:ext>
            </a:extLst>
          </p:cNvPr>
          <p:cNvSpPr>
            <a:spLocks xmlns:a="http://schemas.openxmlformats.org/drawingml/2006/main" noGrp="1"/>
          </p:cNvSpPr>
          <p:nvPr/>
        </p:nvSpPr>
        <p:spPr>
          <a:xfrm xmlns:a="http://schemas.openxmlformats.org/drawingml/2006/main">
            <a:off x="9048750" y="21907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Screeners, recommendations, backtests, ledger, reports</a:t>
            </a:r>
          </a:p>
        </p:txBody>
      </p:sp>
      <p:cxnSp>
        <p:nvCxnSpPr>
          <p:cNvPr id="68" name=""/>
          <p:cNvCxnSpPr>
            <a:stCxn xmlns:a="http://schemas.openxmlformats.org/drawingml/2006/main" id="5" idx="3"/>
            <a:endCxn xmlns:a="http://schemas.openxmlformats.org/drawingml/2006/main" id="9" idx="1"/>
          </p:cNvCxnSpPr>
          <p:nvPr/>
        </p:nvCxnSpPr>
        <p:spPr>
          <a:xfrm xmlns:a="http://schemas.openxmlformats.org/drawingml/2006/main">
            <a:off x="2590800" y="2105025"/>
            <a:ext cx="552450" cy="0"/>
          </a:xfrm>
          <a:prstGeom xmlns:a="http://schemas.openxmlformats.org/drawingml/2006/main" prst="straightConnector1">
            <a:avLst/>
          </a:prstGeom>
          <a:ln xmlns:a="http://schemas.openxmlformats.org/drawingml/2006/main" w="19050">
            <a:solidFill>
              <a:srgbClr val="4F5D75"/>
            </a:solidFill>
            <a:prstDash val="solid"/>
            <a:tailEnd type="triangle" w="sm" len="sm"/>
          </a:ln>
        </p:spPr>
      </p:cxnSp>
      <p:cxnSp>
        <p:nvCxnSpPr>
          <p:cNvPr id="69" name=""/>
          <p:cNvCxnSpPr>
            <a:stCxn xmlns:a="http://schemas.openxmlformats.org/drawingml/2006/main" id="9" idx="3"/>
            <a:endCxn xmlns:a="http://schemas.openxmlformats.org/drawingml/2006/main" id="13" idx="1"/>
          </p:cNvCxnSpPr>
          <p:nvPr/>
        </p:nvCxnSpPr>
        <p:spPr>
          <a:xfrm xmlns:a="http://schemas.openxmlformats.org/drawingml/2006/main">
            <a:off x="5391150" y="2105025"/>
            <a:ext cx="552450" cy="0"/>
          </a:xfrm>
          <a:prstGeom xmlns:a="http://schemas.openxmlformats.org/drawingml/2006/main" prst="straightConnector1">
            <a:avLst/>
          </a:prstGeom>
          <a:ln xmlns:a="http://schemas.openxmlformats.org/drawingml/2006/main" w="19050">
            <a:solidFill>
              <a:srgbClr val="2F6B4F"/>
            </a:solidFill>
            <a:prstDash val="solid"/>
            <a:tailEnd type="triangle" w="sm" len="sm"/>
          </a:ln>
        </p:spPr>
      </p:cxnSp>
      <p:cxnSp>
        <p:nvCxnSpPr>
          <p:cNvPr id="70" name=""/>
          <p:cNvCxnSpPr>
            <a:stCxn xmlns:a="http://schemas.openxmlformats.org/drawingml/2006/main" id="13" idx="3"/>
            <a:endCxn xmlns:a="http://schemas.openxmlformats.org/drawingml/2006/main" id="17" idx="1"/>
          </p:cNvCxnSpPr>
          <p:nvPr/>
        </p:nvCxnSpPr>
        <p:spPr>
          <a:xfrm xmlns:a="http://schemas.openxmlformats.org/drawingml/2006/main">
            <a:off x="8324850" y="2105025"/>
            <a:ext cx="552450" cy="0"/>
          </a:xfrm>
          <a:prstGeom xmlns:a="http://schemas.openxmlformats.org/drawingml/2006/main" prst="straightConnector1">
            <a:avLst/>
          </a:prstGeom>
          <a:ln xmlns:a="http://schemas.openxmlformats.org/drawingml/2006/main" w="19050">
            <a:solidFill>
              <a:srgbClr val="5B8C5A"/>
            </a:solidFill>
            <a:prstDash val="solid"/>
            <a:tailEnd type="triangle" w="sm" len="sm"/>
          </a:ln>
        </p:spPr>
      </p:cxnSp>
      <p:sp>
        <p:nvSpPr>
          <p:cNvPr id="24" name="">
            <a:extLst xmlns:a="http://schemas.openxmlformats.org/drawingml/2006/main">
              <a:ext uri="{FF2B5EF4-FFF2-40B4-BE49-F238E27FC236}">
                <a16:creationId xmlns:a16="http://schemas.microsoft.com/office/drawing/2014/main" id="{09A2C831-A464-4CB5-8D43-EC0009C795E6}"/>
              </a:ext>
            </a:extLst>
          </p:cNvPr>
          <p:cNvSpPr>
            <a:spLocks xmlns:a="http://schemas.openxmlformats.org/drawingml/2006/main" noGrp="1"/>
          </p:cNvSpPr>
          <p:nvPr/>
        </p:nvSpPr>
        <p:spPr>
          <a:xfrm xmlns:a="http://schemas.openxmlformats.org/drawingml/2006/main">
            <a:off x="3143250" y="3067050"/>
            <a:ext cx="2857500" cy="857250"/>
          </a:xfrm>
          <a:prstGeom xmlns:a="http://schemas.openxmlformats.org/drawingml/2006/main" prst="roundRect">
            <a:avLst>
              <a:gd name="adj" fmla="val 11111"/>
            </a:avLst>
          </a:prstGeom>
          <a:solidFill xmlns:a="http://schemas.openxmlformats.org/drawingml/2006/main">
            <a:srgbClr val="F7F7F2"/>
          </a:solidFill>
          <a:ln xmlns:a="http://schemas.openxmlformats.org/drawingml/2006/main" w="9525">
            <a:solidFill>
              <a:srgbClr val="D7D9D5"/>
            </a:solidFill>
            <a:prstDash val="solid"/>
          </a:ln>
        </p:spPr>
      </p:sp>
      <p:sp>
        <p:nvSpPr>
          <p:cNvPr id="25" name="">
            <a:extLst xmlns:a="http://schemas.openxmlformats.org/drawingml/2006/main">
              <a:ext uri="{FF2B5EF4-FFF2-40B4-BE49-F238E27FC236}">
                <a16:creationId xmlns:a16="http://schemas.microsoft.com/office/drawing/2014/main" id="{5D2460F5-D632-46D8-8590-BA6049B84921}"/>
              </a:ext>
            </a:extLst>
          </p:cNvPr>
          <p:cNvSpPr>
            <a:spLocks xmlns:a="http://schemas.openxmlformats.org/drawingml/2006/main" noGrp="1"/>
          </p:cNvSpPr>
          <p:nvPr/>
        </p:nvSpPr>
        <p:spPr>
          <a:xfrm xmlns:a="http://schemas.openxmlformats.org/drawingml/2006/main">
            <a:off x="3143250" y="3067050"/>
            <a:ext cx="57150" cy="857250"/>
          </a:xfrm>
          <a:prstGeom xmlns:a="http://schemas.openxmlformats.org/drawingml/2006/main" prst="rect">
            <a:avLst/>
          </a:prstGeom>
          <a:solidFill xmlns:a="http://schemas.openxmlformats.org/drawingml/2006/main">
            <a:srgbClr val="C67C2E"/>
          </a:solidFill>
          <a:ln xmlns:a="http://schemas.openxmlformats.org/drawingml/2006/main" w="0">
            <a:solidFill>
              <a:srgbClr val="C67C2E"/>
            </a:solidFill>
            <a:prstDash val="solid"/>
          </a:ln>
        </p:spPr>
      </p:sp>
      <p:sp>
        <p:nvSpPr>
          <p:cNvPr id="26" name="">
            <a:extLst xmlns:a="http://schemas.openxmlformats.org/drawingml/2006/main">
              <a:ext uri="{FF2B5EF4-FFF2-40B4-BE49-F238E27FC236}">
                <a16:creationId xmlns:a16="http://schemas.microsoft.com/office/drawing/2014/main" id="{A3FA3A3D-07C9-4A4B-8B96-B70B93C80125}"/>
              </a:ext>
            </a:extLst>
          </p:cNvPr>
          <p:cNvSpPr>
            <a:spLocks xmlns:a="http://schemas.openxmlformats.org/drawingml/2006/main" noGrp="1"/>
          </p:cNvSpPr>
          <p:nvPr/>
        </p:nvSpPr>
        <p:spPr>
          <a:xfrm xmlns:a="http://schemas.openxmlformats.org/drawingml/2006/main">
            <a:off x="3314700" y="31623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Model provider adapter</a:t>
            </a:r>
          </a:p>
        </p:txBody>
      </p:sp>
      <p:sp>
        <p:nvSpPr>
          <p:cNvPr id="27" name="">
            <a:extLst xmlns:a="http://schemas.openxmlformats.org/drawingml/2006/main">
              <a:ext uri="{FF2B5EF4-FFF2-40B4-BE49-F238E27FC236}">
                <a16:creationId xmlns:a16="http://schemas.microsoft.com/office/drawing/2014/main" id="{59E123A2-BA8D-4616-9B3F-43FC975A9869}"/>
              </a:ext>
            </a:extLst>
          </p:cNvPr>
          <p:cNvSpPr>
            <a:spLocks xmlns:a="http://schemas.openxmlformats.org/drawingml/2006/main" noGrp="1"/>
          </p:cNvSpPr>
          <p:nvPr/>
        </p:nvSpPr>
        <p:spPr>
          <a:xfrm xmlns:a="http://schemas.openxmlformats.org/drawingml/2006/main">
            <a:off x="3314700" y="354330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Gemini default; Claude, OpenAI-compatible, and Ollama paths</a:t>
            </a:r>
          </a:p>
        </p:txBody>
      </p:sp>
      <p:sp>
        <p:nvSpPr>
          <p:cNvPr id="28" name="">
            <a:extLst xmlns:a="http://schemas.openxmlformats.org/drawingml/2006/main">
              <a:ext uri="{FF2B5EF4-FFF2-40B4-BE49-F238E27FC236}">
                <a16:creationId xmlns:a16="http://schemas.microsoft.com/office/drawing/2014/main" id="{26F4DF97-2B8A-453A-8529-FCC6970A6AF8}"/>
              </a:ext>
            </a:extLst>
          </p:cNvPr>
          <p:cNvSpPr>
            <a:spLocks xmlns:a="http://schemas.openxmlformats.org/drawingml/2006/main" noGrp="1"/>
          </p:cNvSpPr>
          <p:nvPr/>
        </p:nvSpPr>
        <p:spPr>
          <a:xfrm xmlns:a="http://schemas.openxmlformats.org/drawingml/2006/main">
            <a:off x="6553200" y="3067050"/>
            <a:ext cx="2857500" cy="857250"/>
          </a:xfrm>
          <a:prstGeom xmlns:a="http://schemas.openxmlformats.org/drawingml/2006/main" prst="roundRect">
            <a:avLst>
              <a:gd name="adj" fmla="val 11111"/>
            </a:avLst>
          </a:prstGeom>
          <a:solidFill xmlns:a="http://schemas.openxmlformats.org/drawingml/2006/main">
            <a:srgbClr val="F7F7F2"/>
          </a:solidFill>
          <a:ln xmlns:a="http://schemas.openxmlformats.org/drawingml/2006/main" w="9525">
            <a:solidFill>
              <a:srgbClr val="D7D9D5"/>
            </a:solidFill>
            <a:prstDash val="solid"/>
          </a:ln>
        </p:spPr>
      </p:sp>
      <p:sp>
        <p:nvSpPr>
          <p:cNvPr id="29" name="">
            <a:extLst xmlns:a="http://schemas.openxmlformats.org/drawingml/2006/main">
              <a:ext uri="{FF2B5EF4-FFF2-40B4-BE49-F238E27FC236}">
                <a16:creationId xmlns:a16="http://schemas.microsoft.com/office/drawing/2014/main" id="{3952EB43-7723-4B2A-97D9-DEF3CF6EBC03}"/>
              </a:ext>
            </a:extLst>
          </p:cNvPr>
          <p:cNvSpPr>
            <a:spLocks xmlns:a="http://schemas.openxmlformats.org/drawingml/2006/main" noGrp="1"/>
          </p:cNvSpPr>
          <p:nvPr/>
        </p:nvSpPr>
        <p:spPr>
          <a:xfrm xmlns:a="http://schemas.openxmlformats.org/drawingml/2006/main">
            <a:off x="6553200" y="3067050"/>
            <a:ext cx="57150" cy="85725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30" name="">
            <a:extLst xmlns:a="http://schemas.openxmlformats.org/drawingml/2006/main">
              <a:ext uri="{FF2B5EF4-FFF2-40B4-BE49-F238E27FC236}">
                <a16:creationId xmlns:a16="http://schemas.microsoft.com/office/drawing/2014/main" id="{3C3491AE-E32A-499A-8195-E2804EB678C5}"/>
              </a:ext>
            </a:extLst>
          </p:cNvPr>
          <p:cNvSpPr>
            <a:spLocks xmlns:a="http://schemas.openxmlformats.org/drawingml/2006/main" noGrp="1"/>
          </p:cNvSpPr>
          <p:nvPr/>
        </p:nvSpPr>
        <p:spPr>
          <a:xfrm xmlns:a="http://schemas.openxmlformats.org/drawingml/2006/main">
            <a:off x="6724650" y="31623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Read-only data adapters</a:t>
            </a:r>
          </a:p>
        </p:txBody>
      </p:sp>
      <p:sp>
        <p:nvSpPr>
          <p:cNvPr id="31" name="">
            <a:extLst xmlns:a="http://schemas.openxmlformats.org/drawingml/2006/main">
              <a:ext uri="{FF2B5EF4-FFF2-40B4-BE49-F238E27FC236}">
                <a16:creationId xmlns:a16="http://schemas.microsoft.com/office/drawing/2014/main" id="{1D8CD8D5-AB18-4268-8BE7-B28C91FC9E66}"/>
              </a:ext>
            </a:extLst>
          </p:cNvPr>
          <p:cNvSpPr>
            <a:spLocks xmlns:a="http://schemas.openxmlformats.org/drawingml/2006/main" noGrp="1"/>
          </p:cNvSpPr>
          <p:nvPr/>
        </p:nvSpPr>
        <p:spPr>
          <a:xfrm xmlns:a="http://schemas.openxmlformats.org/drawingml/2006/main">
            <a:off x="6724650" y="354330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Fixtures or configured market, universe, fundamentals, sentiment, volatility, macro</a:t>
            </a:r>
          </a:p>
        </p:txBody>
      </p:sp>
      <p:sp>
        <p:nvSpPr>
          <p:cNvPr id="32" name="">
            <a:extLst xmlns:a="http://schemas.openxmlformats.org/drawingml/2006/main">
              <a:ext uri="{FF2B5EF4-FFF2-40B4-BE49-F238E27FC236}">
                <a16:creationId xmlns:a16="http://schemas.microsoft.com/office/drawing/2014/main" id="{E3AE0F89-56B4-4B8C-AB26-2339A7EAEF93}"/>
              </a:ext>
            </a:extLst>
          </p:cNvPr>
          <p:cNvSpPr>
            <a:spLocks xmlns:a="http://schemas.openxmlformats.org/drawingml/2006/main" noGrp="1"/>
          </p:cNvSpPr>
          <p:nvPr/>
        </p:nvSpPr>
        <p:spPr>
          <a:xfrm xmlns:a="http://schemas.openxmlformats.org/drawingml/2006/main">
            <a:off x="6553200" y="4476750"/>
            <a:ext cx="2857500" cy="857250"/>
          </a:xfrm>
          <a:prstGeom xmlns:a="http://schemas.openxmlformats.org/drawingml/2006/main" prst="roundRect">
            <a:avLst>
              <a:gd name="adj" fmla="val 11111"/>
            </a:avLst>
          </a:prstGeom>
          <a:solidFill xmlns:a="http://schemas.openxmlformats.org/drawingml/2006/main">
            <a:srgbClr val="F7F7F2"/>
          </a:solidFill>
          <a:ln xmlns:a="http://schemas.openxmlformats.org/drawingml/2006/main" w="9525">
            <a:solidFill>
              <a:srgbClr val="D7D9D5"/>
            </a:solidFill>
            <a:prstDash val="solid"/>
          </a:ln>
        </p:spPr>
      </p:sp>
      <p:sp>
        <p:nvSpPr>
          <p:cNvPr id="33" name="">
            <a:extLst xmlns:a="http://schemas.openxmlformats.org/drawingml/2006/main">
              <a:ext uri="{FF2B5EF4-FFF2-40B4-BE49-F238E27FC236}">
                <a16:creationId xmlns:a16="http://schemas.microsoft.com/office/drawing/2014/main" id="{4704C736-A9DA-47A5-BA2C-A4A0B82DD070}"/>
              </a:ext>
            </a:extLst>
          </p:cNvPr>
          <p:cNvSpPr>
            <a:spLocks xmlns:a="http://schemas.openxmlformats.org/drawingml/2006/main" noGrp="1"/>
          </p:cNvSpPr>
          <p:nvPr/>
        </p:nvSpPr>
        <p:spPr>
          <a:xfrm xmlns:a="http://schemas.openxmlformats.org/drawingml/2006/main">
            <a:off x="6553200" y="4476750"/>
            <a:ext cx="57150" cy="85725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34" name="">
            <a:extLst xmlns:a="http://schemas.openxmlformats.org/drawingml/2006/main">
              <a:ext uri="{FF2B5EF4-FFF2-40B4-BE49-F238E27FC236}">
                <a16:creationId xmlns:a16="http://schemas.microsoft.com/office/drawing/2014/main" id="{E59906A8-043C-4BB4-A13B-A0A69949D774}"/>
              </a:ext>
            </a:extLst>
          </p:cNvPr>
          <p:cNvSpPr>
            <a:spLocks xmlns:a="http://schemas.openxmlformats.org/drawingml/2006/main" noGrp="1"/>
          </p:cNvSpPr>
          <p:nvPr/>
        </p:nvSpPr>
        <p:spPr>
          <a:xfrm xmlns:a="http://schemas.openxmlformats.org/drawingml/2006/main">
            <a:off x="6724650" y="45720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Structured state</a:t>
            </a:r>
          </a:p>
        </p:txBody>
      </p:sp>
      <p:sp>
        <p:nvSpPr>
          <p:cNvPr id="35" name="">
            <a:extLst xmlns:a="http://schemas.openxmlformats.org/drawingml/2006/main">
              <a:ext uri="{FF2B5EF4-FFF2-40B4-BE49-F238E27FC236}">
                <a16:creationId xmlns:a16="http://schemas.microsoft.com/office/drawing/2014/main" id="{EBEEE2AA-1879-47D3-9761-7AA13D2E3179}"/>
              </a:ext>
            </a:extLst>
          </p:cNvPr>
          <p:cNvSpPr>
            <a:spLocks xmlns:a="http://schemas.openxmlformats.org/drawingml/2006/main" noGrp="1"/>
          </p:cNvSpPr>
          <p:nvPr/>
        </p:nvSpPr>
        <p:spPr>
          <a:xfrm xmlns:a="http://schemas.openxmlformats.org/drawingml/2006/main">
            <a:off x="6724650" y="495300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SQLite ledger, provider profiles, market snapshots, audit events</a:t>
            </a:r>
          </a:p>
        </p:txBody>
      </p:sp>
      <p:sp>
        <p:nvSpPr>
          <p:cNvPr id="36" name="">
            <a:extLst xmlns:a="http://schemas.openxmlformats.org/drawingml/2006/main">
              <a:ext uri="{FF2B5EF4-FFF2-40B4-BE49-F238E27FC236}">
                <a16:creationId xmlns:a16="http://schemas.microsoft.com/office/drawing/2014/main" id="{00337C7A-0939-4BDB-B0A8-DA31B669AFEE}"/>
              </a:ext>
            </a:extLst>
          </p:cNvPr>
          <p:cNvSpPr>
            <a:spLocks xmlns:a="http://schemas.openxmlformats.org/drawingml/2006/main" noGrp="1"/>
          </p:cNvSpPr>
          <p:nvPr/>
        </p:nvSpPr>
        <p:spPr>
          <a:xfrm xmlns:a="http://schemas.openxmlformats.org/drawingml/2006/main">
            <a:off x="590550" y="4476750"/>
            <a:ext cx="4819650" cy="857250"/>
          </a:xfrm>
          <a:prstGeom xmlns:a="http://schemas.openxmlformats.org/drawingml/2006/main" prst="roundRect">
            <a:avLst>
              <a:gd name="adj" fmla="val 11111"/>
            </a:avLst>
          </a:prstGeom>
          <a:solidFill xmlns:a="http://schemas.openxmlformats.org/drawingml/2006/main">
            <a:srgbClr val="17191C"/>
          </a:solidFill>
          <a:ln xmlns:a="http://schemas.openxmlformats.org/drawingml/2006/main" w="9525">
            <a:solidFill>
              <a:srgbClr val="17191C"/>
            </a:solidFill>
            <a:prstDash val="solid"/>
          </a:ln>
        </p:spPr>
      </p:sp>
      <p:sp>
        <p:nvSpPr>
          <p:cNvPr id="37" name="">
            <a:extLst xmlns:a="http://schemas.openxmlformats.org/drawingml/2006/main">
              <a:ext uri="{FF2B5EF4-FFF2-40B4-BE49-F238E27FC236}">
                <a16:creationId xmlns:a16="http://schemas.microsoft.com/office/drawing/2014/main" id="{4BF3F07B-3AE5-450D-8EAD-38C64D38BB50}"/>
              </a:ext>
            </a:extLst>
          </p:cNvPr>
          <p:cNvSpPr>
            <a:spLocks xmlns:a="http://schemas.openxmlformats.org/drawingml/2006/main" noGrp="1"/>
          </p:cNvSpPr>
          <p:nvPr/>
        </p:nvSpPr>
        <p:spPr>
          <a:xfrm xmlns:a="http://schemas.openxmlformats.org/drawingml/2006/main">
            <a:off x="590550" y="4476750"/>
            <a:ext cx="57150" cy="85725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38" name="">
            <a:extLst xmlns:a="http://schemas.openxmlformats.org/drawingml/2006/main">
              <a:ext uri="{FF2B5EF4-FFF2-40B4-BE49-F238E27FC236}">
                <a16:creationId xmlns:a16="http://schemas.microsoft.com/office/drawing/2014/main" id="{F2CFCC5D-9042-4F12-85DD-BAE824E212F3}"/>
              </a:ext>
            </a:extLst>
          </p:cNvPr>
          <p:cNvSpPr>
            <a:spLocks xmlns:a="http://schemas.openxmlformats.org/drawingml/2006/main" noGrp="1"/>
          </p:cNvSpPr>
          <p:nvPr/>
        </p:nvSpPr>
        <p:spPr>
          <a:xfrm xmlns:a="http://schemas.openxmlformats.org/drawingml/2006/main">
            <a:off x="762000" y="45910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Evaluation + delivery</a:t>
            </a:r>
          </a:p>
        </p:txBody>
      </p:sp>
      <p:sp>
        <p:nvSpPr>
          <p:cNvPr id="39" name="">
            <a:extLst xmlns:a="http://schemas.openxmlformats.org/drawingml/2006/main">
              <a:ext uri="{FF2B5EF4-FFF2-40B4-BE49-F238E27FC236}">
                <a16:creationId xmlns:a16="http://schemas.microsoft.com/office/drawing/2014/main" id="{D7AB328D-31FC-4B11-BD4A-0C9FAB919DAF}"/>
              </a:ext>
            </a:extLst>
          </p:cNvPr>
          <p:cNvSpPr>
            <a:spLocks xmlns:a="http://schemas.openxmlformats.org/drawingml/2006/main" noGrp="1"/>
          </p:cNvSpPr>
          <p:nvPr/>
        </p:nvSpPr>
        <p:spPr>
          <a:xfrm xmlns:a="http://schemas.openxmlformats.org/drawingml/2006/main">
            <a:off x="762000" y="48958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CBD5E1"/>
                </a:solidFill>
              </a:defRPr>
            </a:pPr>
            <a:r>
              <a:rPr sz="975" b="0">
                <a:solidFill>
                  <a:srgbClr val="CBD5E1"/>
                </a:solidFill>
              </a:rPr>
              <a:t>Agents CLI evals, deterministic policy metrics, CI, Docker/Podman</a:t>
            </a:r>
          </a:p>
        </p:txBody>
      </p:sp>
      <p:cxnSp>
        <p:nvCxnSpPr>
          <p:cNvPr id="87" name=""/>
          <p:cNvCxnSpPr>
            <a:stCxn xmlns:a="http://schemas.openxmlformats.org/drawingml/2006/main" id="24" idx="0"/>
            <a:endCxn xmlns:a="http://schemas.openxmlformats.org/drawingml/2006/main" id="9" idx="2"/>
          </p:cNvCxnSpPr>
          <p:nvPr/>
        </p:nvCxnSpPr>
        <p:spPr>
          <a:xfrm xmlns:a="http://schemas.openxmlformats.org/drawingml/2006/main" flipH="1" flipV="1">
            <a:off x="4267200" y="2495550"/>
            <a:ext cx="304800" cy="571500"/>
          </a:xfrm>
          <a:prstGeom xmlns:a="http://schemas.openxmlformats.org/drawingml/2006/main" prst="bentConnector4">
            <a:avLst>
              <a:gd name="adj1" fmla="val 0"/>
              <a:gd name="adj2" fmla="val 50000"/>
            </a:avLst>
          </a:prstGeom>
          <a:ln xmlns:a="http://schemas.openxmlformats.org/drawingml/2006/main" w="19050">
            <a:solidFill>
              <a:srgbClr val="C67C2E"/>
            </a:solidFill>
            <a:prstDash val="solid"/>
            <a:tailEnd type="triangle" w="sm" len="sm"/>
          </a:ln>
        </p:spPr>
      </p:cxnSp>
      <p:cxnSp>
        <p:nvCxnSpPr>
          <p:cNvPr id="88" name=""/>
          <p:cNvCxnSpPr>
            <a:stCxn xmlns:a="http://schemas.openxmlformats.org/drawingml/2006/main" id="28" idx="0"/>
            <a:endCxn xmlns:a="http://schemas.openxmlformats.org/drawingml/2006/main" id="17" idx="2"/>
          </p:cNvCxnSpPr>
          <p:nvPr/>
        </p:nvCxnSpPr>
        <p:spPr>
          <a:xfrm xmlns:a="http://schemas.openxmlformats.org/drawingml/2006/main" flipV="1">
            <a:off x="7981950" y="2495550"/>
            <a:ext cx="2257425" cy="571500"/>
          </a:xfrm>
          <a:prstGeom xmlns:a="http://schemas.openxmlformats.org/drawingml/2006/main" prst="bentConnector4">
            <a:avLst>
              <a:gd name="adj1" fmla="val 0"/>
              <a:gd name="adj2" fmla="val 50000"/>
            </a:avLst>
          </a:prstGeom>
          <a:ln xmlns:a="http://schemas.openxmlformats.org/drawingml/2006/main" w="19050">
            <a:solidFill>
              <a:srgbClr val="2F6B4F"/>
            </a:solidFill>
            <a:prstDash val="solid"/>
            <a:tailEnd type="triangle" w="sm" len="sm"/>
          </a:ln>
        </p:spPr>
      </p:cxnSp>
      <p:cxnSp>
        <p:nvCxnSpPr>
          <p:cNvPr id="89" name=""/>
          <p:cNvCxnSpPr>
            <a:stCxn xmlns:a="http://schemas.openxmlformats.org/drawingml/2006/main" id="17" idx="2"/>
            <a:endCxn xmlns:a="http://schemas.openxmlformats.org/drawingml/2006/main" id="32" idx="0"/>
          </p:cNvCxnSpPr>
          <p:nvPr/>
        </p:nvCxnSpPr>
        <p:spPr>
          <a:xfrm xmlns:a="http://schemas.openxmlformats.org/drawingml/2006/main" flipH="1">
            <a:off x="7981950" y="2495550"/>
            <a:ext cx="2257425" cy="1981200"/>
          </a:xfrm>
          <a:prstGeom xmlns:a="http://schemas.openxmlformats.org/drawingml/2006/main" prst="bentConnector4">
            <a:avLst/>
          </a:prstGeom>
          <a:ln xmlns:a="http://schemas.openxmlformats.org/drawingml/2006/main" w="19050">
            <a:solidFill>
              <a:srgbClr val="5B8C5A"/>
            </a:solidFill>
            <a:prstDash val="solid"/>
            <a:tailEnd type="triangle" w="sm" len="sm"/>
          </a:ln>
        </p:spPr>
      </p:cxnSp>
      <p:cxnSp>
        <p:nvCxnSpPr>
          <p:cNvPr id="90" name=""/>
          <p:cNvCxnSpPr>
            <a:stCxn xmlns:a="http://schemas.openxmlformats.org/drawingml/2006/main" id="36" idx="0"/>
            <a:endCxn xmlns:a="http://schemas.openxmlformats.org/drawingml/2006/main" id="9" idx="2"/>
          </p:cNvCxnSpPr>
          <p:nvPr/>
        </p:nvCxnSpPr>
        <p:spPr>
          <a:xfrm xmlns:a="http://schemas.openxmlformats.org/drawingml/2006/main" flipV="1">
            <a:off x="3000375" y="2495550"/>
            <a:ext cx="1266825" cy="1981200"/>
          </a:xfrm>
          <a:prstGeom xmlns:a="http://schemas.openxmlformats.org/drawingml/2006/main" prst="bentConnector4">
            <a:avLst>
              <a:gd name="adj1" fmla="val 0"/>
              <a:gd name="adj2" fmla="val 88462"/>
            </a:avLst>
          </a:prstGeom>
          <a:ln xmlns:a="http://schemas.openxmlformats.org/drawingml/2006/main" w="19050">
            <a:solidFill>
              <a:srgbClr val="2F6B4F"/>
            </a:solidFill>
            <a:prstDash val="solid"/>
            <a:tailEnd type="triangle" w="sm" len="sm"/>
          </a:ln>
        </p:spPr>
      </p:cxnSp>
      <p:sp>
        <p:nvSpPr>
          <p:cNvPr id="44" name="">
            <a:extLst xmlns:a="http://schemas.openxmlformats.org/drawingml/2006/main">
              <a:ext uri="{FF2B5EF4-FFF2-40B4-BE49-F238E27FC236}">
                <a16:creationId xmlns:a16="http://schemas.microsoft.com/office/drawing/2014/main" id="{4B4B354F-DE10-4060-8C68-FCEA97F2C24A}"/>
              </a:ext>
            </a:extLst>
          </p:cNvPr>
          <p:cNvSpPr>
            <a:spLocks xmlns:a="http://schemas.openxmlformats.org/drawingml/2006/main" noGrp="1"/>
          </p:cNvSpPr>
          <p:nvPr/>
        </p:nvSpPr>
        <p:spPr>
          <a:xfrm xmlns:a="http://schemas.openxmlformats.org/drawingml/2006/main">
            <a:off x="9906000" y="4095750"/>
            <a:ext cx="1695450" cy="1428750"/>
          </a:xfrm>
          <a:prstGeom xmlns:a="http://schemas.openxmlformats.org/drawingml/2006/main" prst="roundRect">
            <a:avLst>
              <a:gd name="adj" fmla="val 6667"/>
            </a:avLst>
          </a:prstGeom>
          <a:solidFill xmlns:a="http://schemas.openxmlformats.org/drawingml/2006/main">
            <a:srgbClr val="F3DEDC"/>
          </a:solidFill>
          <a:ln xmlns:a="http://schemas.openxmlformats.org/drawingml/2006/main" w="9525">
            <a:solidFill>
              <a:srgbClr val="D6A2A0"/>
            </a:solidFill>
            <a:prstDash val="solid"/>
          </a:ln>
        </p:spPr>
      </p:sp>
      <p:sp>
        <p:nvSpPr>
          <p:cNvPr id="45" name="">
            <a:extLst xmlns:a="http://schemas.openxmlformats.org/drawingml/2006/main">
              <a:ext uri="{FF2B5EF4-FFF2-40B4-BE49-F238E27FC236}">
                <a16:creationId xmlns:a16="http://schemas.microsoft.com/office/drawing/2014/main" id="{3BD78DB0-0499-4089-9959-EA016E5A2E62}"/>
              </a:ext>
            </a:extLst>
          </p:cNvPr>
          <p:cNvSpPr>
            <a:spLocks xmlns:a="http://schemas.openxmlformats.org/drawingml/2006/main" noGrp="1"/>
          </p:cNvSpPr>
          <p:nvPr/>
        </p:nvSpPr>
        <p:spPr>
          <a:xfrm xmlns:a="http://schemas.openxmlformats.org/drawingml/2006/main">
            <a:off x="10058400" y="4267200"/>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84A4A"/>
                </a:solidFill>
              </a:defRPr>
            </a:pPr>
            <a:r>
              <a:rPr sz="1275" b="1">
                <a:solidFill>
                  <a:srgbClr val="B84A4A"/>
                </a:solidFill>
              </a:rPr>
              <a:t>Future execution</a:t>
            </a:r>
          </a:p>
          <a:p xmlns:a="http://schemas.openxmlformats.org/drawingml/2006/main">
            <a:pPr algn="ctr">
              <a:defRPr sz="1275" b="1">
                <a:solidFill>
                  <a:srgbClr val="B84A4A"/>
                </a:solidFill>
              </a:defRPr>
            </a:pPr>
            <a:r>
              <a:rPr sz="1275" b="1">
                <a:solidFill>
                  <a:srgbClr val="B84A4A"/>
                </a:solidFill>
              </a:rPr>
              <a:t>adapters</a:t>
            </a:r>
          </a:p>
        </p:txBody>
      </p:sp>
      <p:sp>
        <p:nvSpPr>
          <p:cNvPr id="46" name="">
            <a:extLst xmlns:a="http://schemas.openxmlformats.org/drawingml/2006/main">
              <a:ext uri="{FF2B5EF4-FFF2-40B4-BE49-F238E27FC236}">
                <a16:creationId xmlns:a16="http://schemas.microsoft.com/office/drawing/2014/main" id="{2E22A808-24A5-4789-A214-8904514A874D}"/>
              </a:ext>
            </a:extLst>
          </p:cNvPr>
          <p:cNvSpPr>
            <a:spLocks xmlns:a="http://schemas.openxmlformats.org/drawingml/2006/main" noGrp="1"/>
          </p:cNvSpPr>
          <p:nvPr/>
        </p:nvSpPr>
        <p:spPr>
          <a:xfrm xmlns:a="http://schemas.openxmlformats.org/drawingml/2006/main">
            <a:off x="10058400" y="4933950"/>
            <a:ext cx="1390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B84A4A"/>
                </a:solidFill>
              </a:defRPr>
            </a:pPr>
            <a:r>
              <a:rPr sz="975" b="0">
                <a:solidFill>
                  <a:srgbClr val="B84A4A"/>
                </a:solidFill>
              </a:rPr>
              <a:t>Disabled in the capstone release boundary</a:t>
            </a:r>
          </a:p>
        </p:txBody>
      </p:sp>
      <p:cxnSp>
        <p:nvCxnSpPr>
          <p:cNvPr id="94" name=""/>
          <p:cNvCxnSpPr>
            <a:stCxn xmlns:a="http://schemas.openxmlformats.org/drawingml/2006/main" id="17" idx="2"/>
            <a:endCxn xmlns:a="http://schemas.openxmlformats.org/drawingml/2006/main" id="44" idx="0"/>
          </p:cNvCxnSpPr>
          <p:nvPr/>
        </p:nvCxnSpPr>
        <p:spPr>
          <a:xfrm xmlns:a="http://schemas.openxmlformats.org/drawingml/2006/main">
            <a:off x="10239375" y="2495550"/>
            <a:ext cx="514350" cy="1600200"/>
          </a:xfrm>
          <a:prstGeom xmlns:a="http://schemas.openxmlformats.org/drawingml/2006/main" prst="bentConnector4">
            <a:avLst>
              <a:gd name="adj1" fmla="val 0"/>
              <a:gd name="adj2" fmla="val 50000"/>
            </a:avLst>
          </a:prstGeom>
          <a:ln xmlns:a="http://schemas.openxmlformats.org/drawingml/2006/main" w="19050">
            <a:solidFill>
              <a:srgbClr val="B84A4A"/>
            </a:solidFill>
            <a:prstDash val="dash"/>
            <a:tailEnd type="triangle" w="sm" len="sm"/>
          </a:ln>
        </p:spPr>
      </p:cxnSp>
    </p:spTree>
    <p:extLst>
      <p:ext uri="{BB962C8B-B14F-4D97-AF65-F5344CB8AC3E}">
        <p14:creationId xmlns:p14="http://schemas.microsoft.com/office/powerpoint/2010/main" val="881140519"/>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E18BA5-0E14-4E20-ABBA-68EEE7E4DBBC}"/>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DECISION INTELLIGENCE</a:t>
            </a:r>
          </a:p>
        </p:txBody>
      </p:sp>
      <p:sp>
        <p:nvSpPr>
          <p:cNvPr id="2" name="">
            <a:extLst xmlns:a="http://schemas.openxmlformats.org/drawingml/2006/main">
              <a:ext uri="{FF2B5EF4-FFF2-40B4-BE49-F238E27FC236}">
                <a16:creationId xmlns:a16="http://schemas.microsoft.com/office/drawing/2014/main" id="{FAD2F91F-5BCB-4FCC-8DA8-422667207048}"/>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Six evidence families become one reviewable recommendation</a:t>
            </a:r>
          </a:p>
        </p:txBody>
      </p:sp>
      <p:sp>
        <p:nvSpPr>
          <p:cNvPr id="3" name="">
            <a:extLst xmlns:a="http://schemas.openxmlformats.org/drawingml/2006/main">
              <a:ext uri="{FF2B5EF4-FFF2-40B4-BE49-F238E27FC236}">
                <a16:creationId xmlns:a16="http://schemas.microsoft.com/office/drawing/2014/main" id="{8B5FCC9D-355A-488B-B148-34CCE1B534F6}"/>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B0E41E6B-576A-4557-8310-2E5B9E94355F}"/>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04</a:t>
            </a:r>
          </a:p>
        </p:txBody>
      </p:sp>
      <p:sp>
        <p:nvSpPr>
          <p:cNvPr id="5" name="">
            <a:extLst xmlns:a="http://schemas.openxmlformats.org/drawingml/2006/main">
              <a:ext uri="{FF2B5EF4-FFF2-40B4-BE49-F238E27FC236}">
                <a16:creationId xmlns:a16="http://schemas.microsoft.com/office/drawing/2014/main" id="{018A9161-F29E-46FB-BA8F-73B242331A32}"/>
              </a:ext>
            </a:extLst>
          </p:cNvPr>
          <p:cNvSpPr>
            <a:spLocks xmlns:a="http://schemas.openxmlformats.org/drawingml/2006/main" noGrp="1"/>
          </p:cNvSpPr>
          <p:nvPr/>
        </p:nvSpPr>
        <p:spPr>
          <a:xfrm xmlns:a="http://schemas.openxmlformats.org/drawingml/2006/main">
            <a:off x="590550" y="1600200"/>
            <a:ext cx="2095500" cy="552450"/>
          </a:xfrm>
          <a:prstGeom xmlns:a="http://schemas.openxmlformats.org/drawingml/2006/main" prst="roundRect">
            <a:avLst>
              <a:gd name="adj" fmla="val 17241"/>
            </a:avLst>
          </a:prstGeom>
          <a:solidFill xmlns:a="http://schemas.openxmlformats.org/drawingml/2006/main">
            <a:srgbClr val="E4E7EC"/>
          </a:solidFill>
          <a:ln xmlns:a="http://schemas.openxmlformats.org/drawingml/2006/main" w="9525">
            <a:solidFill>
              <a:srgbClr val="E4E7EC"/>
            </a:solidFill>
            <a:prstDash val="solid"/>
          </a:ln>
        </p:spPr>
      </p:sp>
      <p:sp>
        <p:nvSpPr>
          <p:cNvPr id="6" name="">
            <a:extLst xmlns:a="http://schemas.openxmlformats.org/drawingml/2006/main">
              <a:ext uri="{FF2B5EF4-FFF2-40B4-BE49-F238E27FC236}">
                <a16:creationId xmlns:a16="http://schemas.microsoft.com/office/drawing/2014/main" id="{2C1B52C1-B708-4869-AC8F-E3DE84F96960}"/>
              </a:ext>
            </a:extLst>
          </p:cNvPr>
          <p:cNvSpPr>
            <a:spLocks xmlns:a="http://schemas.openxmlformats.org/drawingml/2006/main" noGrp="1"/>
          </p:cNvSpPr>
          <p:nvPr/>
        </p:nvSpPr>
        <p:spPr>
          <a:xfrm xmlns:a="http://schemas.openxmlformats.org/drawingml/2006/main">
            <a:off x="590550" y="1600200"/>
            <a:ext cx="57150" cy="552450"/>
          </a:xfrm>
          <a:prstGeom xmlns:a="http://schemas.openxmlformats.org/drawingml/2006/main" prst="rect">
            <a:avLst/>
          </a:prstGeom>
          <a:solidFill xmlns:a="http://schemas.openxmlformats.org/drawingml/2006/main">
            <a:srgbClr val="4F5D75"/>
          </a:solidFill>
          <a:ln xmlns:a="http://schemas.openxmlformats.org/drawingml/2006/main" w="0">
            <a:solidFill>
              <a:srgbClr val="4F5D75"/>
            </a:solidFill>
            <a:prstDash val="solid"/>
          </a:ln>
        </p:spPr>
      </p:sp>
      <p:sp>
        <p:nvSpPr>
          <p:cNvPr id="7" name="">
            <a:extLst xmlns:a="http://schemas.openxmlformats.org/drawingml/2006/main">
              <a:ext uri="{FF2B5EF4-FFF2-40B4-BE49-F238E27FC236}">
                <a16:creationId xmlns:a16="http://schemas.microsoft.com/office/drawing/2014/main" id="{D6730847-F717-4C4A-A2FD-A8318669D022}"/>
              </a:ext>
            </a:extLst>
          </p:cNvPr>
          <p:cNvSpPr>
            <a:spLocks xmlns:a="http://schemas.openxmlformats.org/drawingml/2006/main" noGrp="1"/>
          </p:cNvSpPr>
          <p:nvPr/>
        </p:nvSpPr>
        <p:spPr>
          <a:xfrm xmlns:a="http://schemas.openxmlformats.org/drawingml/2006/main">
            <a:off x="762000" y="16954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Technical</a:t>
            </a:r>
          </a:p>
        </p:txBody>
      </p:sp>
      <p:sp>
        <p:nvSpPr>
          <p:cNvPr id="8" name="">
            <a:extLst xmlns:a="http://schemas.openxmlformats.org/drawingml/2006/main">
              <a:ext uri="{FF2B5EF4-FFF2-40B4-BE49-F238E27FC236}">
                <a16:creationId xmlns:a16="http://schemas.microsoft.com/office/drawing/2014/main" id="{EBBE44E4-9627-48E5-BC09-6FF6BC8161CF}"/>
              </a:ext>
            </a:extLst>
          </p:cNvPr>
          <p:cNvSpPr>
            <a:spLocks xmlns:a="http://schemas.openxmlformats.org/drawingml/2006/main" noGrp="1"/>
          </p:cNvSpPr>
          <p:nvPr/>
        </p:nvSpPr>
        <p:spPr>
          <a:xfrm xmlns:a="http://schemas.openxmlformats.org/drawingml/2006/main">
            <a:off x="762000" y="20764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trend, momentum, ATR</a:t>
            </a:r>
          </a:p>
        </p:txBody>
      </p:sp>
      <p:sp>
        <p:nvSpPr>
          <p:cNvPr id="9" name="">
            <a:extLst xmlns:a="http://schemas.openxmlformats.org/drawingml/2006/main">
              <a:ext uri="{FF2B5EF4-FFF2-40B4-BE49-F238E27FC236}">
                <a16:creationId xmlns:a16="http://schemas.microsoft.com/office/drawing/2014/main" id="{6AE38758-7B38-4328-B8CE-70518EF112BA}"/>
              </a:ext>
            </a:extLst>
          </p:cNvPr>
          <p:cNvSpPr>
            <a:spLocks xmlns:a="http://schemas.openxmlformats.org/drawingml/2006/main" noGrp="1"/>
          </p:cNvSpPr>
          <p:nvPr/>
        </p:nvSpPr>
        <p:spPr>
          <a:xfrm xmlns:a="http://schemas.openxmlformats.org/drawingml/2006/main">
            <a:off x="590550" y="2286000"/>
            <a:ext cx="2095500" cy="552450"/>
          </a:xfrm>
          <a:prstGeom xmlns:a="http://schemas.openxmlformats.org/drawingml/2006/main" prst="roundRect">
            <a:avLst>
              <a:gd name="adj" fmla="val 17241"/>
            </a:avLst>
          </a:prstGeom>
          <a:solidFill xmlns:a="http://schemas.openxmlformats.org/drawingml/2006/main">
            <a:srgbClr val="E3EBDD"/>
          </a:solidFill>
          <a:ln xmlns:a="http://schemas.openxmlformats.org/drawingml/2006/main" w="9525">
            <a:solidFill>
              <a:srgbClr val="E3EBDD"/>
            </a:solidFill>
            <a:prstDash val="solid"/>
          </a:ln>
        </p:spPr>
      </p:sp>
      <p:sp>
        <p:nvSpPr>
          <p:cNvPr id="10" name="">
            <a:extLst xmlns:a="http://schemas.openxmlformats.org/drawingml/2006/main">
              <a:ext uri="{FF2B5EF4-FFF2-40B4-BE49-F238E27FC236}">
                <a16:creationId xmlns:a16="http://schemas.microsoft.com/office/drawing/2014/main" id="{91CC8D42-96DD-4F3A-A18E-2E08F75E61E6}"/>
              </a:ext>
            </a:extLst>
          </p:cNvPr>
          <p:cNvSpPr>
            <a:spLocks xmlns:a="http://schemas.openxmlformats.org/drawingml/2006/main" noGrp="1"/>
          </p:cNvSpPr>
          <p:nvPr/>
        </p:nvSpPr>
        <p:spPr>
          <a:xfrm xmlns:a="http://schemas.openxmlformats.org/drawingml/2006/main">
            <a:off x="590550" y="2286000"/>
            <a:ext cx="57150" cy="55245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11" name="">
            <a:extLst xmlns:a="http://schemas.openxmlformats.org/drawingml/2006/main">
              <a:ext uri="{FF2B5EF4-FFF2-40B4-BE49-F238E27FC236}">
                <a16:creationId xmlns:a16="http://schemas.microsoft.com/office/drawing/2014/main" id="{E59B1727-5220-4108-92FF-ADAA2F58F407}"/>
              </a:ext>
            </a:extLst>
          </p:cNvPr>
          <p:cNvSpPr>
            <a:spLocks xmlns:a="http://schemas.openxmlformats.org/drawingml/2006/main" noGrp="1"/>
          </p:cNvSpPr>
          <p:nvPr/>
        </p:nvSpPr>
        <p:spPr>
          <a:xfrm xmlns:a="http://schemas.openxmlformats.org/drawingml/2006/main">
            <a:off x="762000" y="23812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Fundamental</a:t>
            </a:r>
          </a:p>
        </p:txBody>
      </p:sp>
      <p:sp>
        <p:nvSpPr>
          <p:cNvPr id="12" name="">
            <a:extLst xmlns:a="http://schemas.openxmlformats.org/drawingml/2006/main">
              <a:ext uri="{FF2B5EF4-FFF2-40B4-BE49-F238E27FC236}">
                <a16:creationId xmlns:a16="http://schemas.microsoft.com/office/drawing/2014/main" id="{45267512-E110-4B00-96DC-A095889C66F1}"/>
              </a:ext>
            </a:extLst>
          </p:cNvPr>
          <p:cNvSpPr>
            <a:spLocks xmlns:a="http://schemas.openxmlformats.org/drawingml/2006/main" noGrp="1"/>
          </p:cNvSpPr>
          <p:nvPr/>
        </p:nvSpPr>
        <p:spPr>
          <a:xfrm xmlns:a="http://schemas.openxmlformats.org/drawingml/2006/main">
            <a:off x="762000" y="27622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quality, value, revisions</a:t>
            </a:r>
          </a:p>
        </p:txBody>
      </p:sp>
      <p:sp>
        <p:nvSpPr>
          <p:cNvPr id="13" name="">
            <a:extLst xmlns:a="http://schemas.openxmlformats.org/drawingml/2006/main">
              <a:ext uri="{FF2B5EF4-FFF2-40B4-BE49-F238E27FC236}">
                <a16:creationId xmlns:a16="http://schemas.microsoft.com/office/drawing/2014/main" id="{C173B211-3FFF-4ECF-BA78-D5B0FFBB247F}"/>
              </a:ext>
            </a:extLst>
          </p:cNvPr>
          <p:cNvSpPr>
            <a:spLocks xmlns:a="http://schemas.openxmlformats.org/drawingml/2006/main" noGrp="1"/>
          </p:cNvSpPr>
          <p:nvPr/>
        </p:nvSpPr>
        <p:spPr>
          <a:xfrm xmlns:a="http://schemas.openxmlformats.org/drawingml/2006/main">
            <a:off x="590550" y="2971800"/>
            <a:ext cx="2095500" cy="552450"/>
          </a:xfrm>
          <a:prstGeom xmlns:a="http://schemas.openxmlformats.org/drawingml/2006/main" prst="roundRect">
            <a:avLst>
              <a:gd name="adj" fmla="val 17241"/>
            </a:avLst>
          </a:prstGeom>
          <a:solidFill xmlns:a="http://schemas.openxmlformats.org/drawingml/2006/main">
            <a:srgbClr val="DCE9E2"/>
          </a:solidFill>
          <a:ln xmlns:a="http://schemas.openxmlformats.org/drawingml/2006/main" w="9525">
            <a:solidFill>
              <a:srgbClr val="DCE9E2"/>
            </a:solidFill>
            <a:prstDash val="solid"/>
          </a:ln>
        </p:spPr>
      </p:sp>
      <p:sp>
        <p:nvSpPr>
          <p:cNvPr id="14" name="">
            <a:extLst xmlns:a="http://schemas.openxmlformats.org/drawingml/2006/main">
              <a:ext uri="{FF2B5EF4-FFF2-40B4-BE49-F238E27FC236}">
                <a16:creationId xmlns:a16="http://schemas.microsoft.com/office/drawing/2014/main" id="{0C9C2C6A-833E-497B-BCF4-C01EA79E5117}"/>
              </a:ext>
            </a:extLst>
          </p:cNvPr>
          <p:cNvSpPr>
            <a:spLocks xmlns:a="http://schemas.openxmlformats.org/drawingml/2006/main" noGrp="1"/>
          </p:cNvSpPr>
          <p:nvPr/>
        </p:nvSpPr>
        <p:spPr>
          <a:xfrm xmlns:a="http://schemas.openxmlformats.org/drawingml/2006/main">
            <a:off x="590550" y="2971800"/>
            <a:ext cx="57150" cy="55245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15" name="">
            <a:extLst xmlns:a="http://schemas.openxmlformats.org/drawingml/2006/main">
              <a:ext uri="{FF2B5EF4-FFF2-40B4-BE49-F238E27FC236}">
                <a16:creationId xmlns:a16="http://schemas.microsoft.com/office/drawing/2014/main" id="{67F5AA25-D0A7-4D70-885A-BDE09BB84723}"/>
              </a:ext>
            </a:extLst>
          </p:cNvPr>
          <p:cNvSpPr>
            <a:spLocks xmlns:a="http://schemas.openxmlformats.org/drawingml/2006/main" noGrp="1"/>
          </p:cNvSpPr>
          <p:nvPr/>
        </p:nvSpPr>
        <p:spPr>
          <a:xfrm xmlns:a="http://schemas.openxmlformats.org/drawingml/2006/main">
            <a:off x="762000" y="30670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Sentiment</a:t>
            </a:r>
          </a:p>
        </p:txBody>
      </p:sp>
      <p:sp>
        <p:nvSpPr>
          <p:cNvPr id="16" name="">
            <a:extLst xmlns:a="http://schemas.openxmlformats.org/drawingml/2006/main">
              <a:ext uri="{FF2B5EF4-FFF2-40B4-BE49-F238E27FC236}">
                <a16:creationId xmlns:a16="http://schemas.microsoft.com/office/drawing/2014/main" id="{7C4751FF-50EA-4F6F-A439-E7B52F4F9BD4}"/>
              </a:ext>
            </a:extLst>
          </p:cNvPr>
          <p:cNvSpPr>
            <a:spLocks xmlns:a="http://schemas.openxmlformats.org/drawingml/2006/main" noGrp="1"/>
          </p:cNvSpPr>
          <p:nvPr/>
        </p:nvSpPr>
        <p:spPr>
          <a:xfrm xmlns:a="http://schemas.openxmlformats.org/drawingml/2006/main">
            <a:off x="762000" y="34480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news, investors, contradiction</a:t>
            </a:r>
          </a:p>
        </p:txBody>
      </p:sp>
      <p:sp>
        <p:nvSpPr>
          <p:cNvPr id="17" name="">
            <a:extLst xmlns:a="http://schemas.openxmlformats.org/drawingml/2006/main">
              <a:ext uri="{FF2B5EF4-FFF2-40B4-BE49-F238E27FC236}">
                <a16:creationId xmlns:a16="http://schemas.microsoft.com/office/drawing/2014/main" id="{F4CF07CE-D722-46A8-9C2A-42D2352178D6}"/>
              </a:ext>
            </a:extLst>
          </p:cNvPr>
          <p:cNvSpPr>
            <a:spLocks xmlns:a="http://schemas.openxmlformats.org/drawingml/2006/main" noGrp="1"/>
          </p:cNvSpPr>
          <p:nvPr/>
        </p:nvSpPr>
        <p:spPr>
          <a:xfrm xmlns:a="http://schemas.openxmlformats.org/drawingml/2006/main">
            <a:off x="590550" y="3657600"/>
            <a:ext cx="2095500" cy="552450"/>
          </a:xfrm>
          <a:prstGeom xmlns:a="http://schemas.openxmlformats.org/drawingml/2006/main" prst="roundRect">
            <a:avLst>
              <a:gd name="adj" fmla="val 17241"/>
            </a:avLst>
          </a:prstGeom>
          <a:solidFill xmlns:a="http://schemas.openxmlformats.org/drawingml/2006/main">
            <a:srgbClr val="F4E8D6"/>
          </a:solidFill>
          <a:ln xmlns:a="http://schemas.openxmlformats.org/drawingml/2006/main" w="9525">
            <a:solidFill>
              <a:srgbClr val="F4E8D6"/>
            </a:solidFill>
            <a:prstDash val="solid"/>
          </a:ln>
        </p:spPr>
      </p:sp>
      <p:sp>
        <p:nvSpPr>
          <p:cNvPr id="18" name="">
            <a:extLst xmlns:a="http://schemas.openxmlformats.org/drawingml/2006/main">
              <a:ext uri="{FF2B5EF4-FFF2-40B4-BE49-F238E27FC236}">
                <a16:creationId xmlns:a16="http://schemas.microsoft.com/office/drawing/2014/main" id="{CB5B9B13-EDBE-40FB-821B-D8EEC7A9AE18}"/>
              </a:ext>
            </a:extLst>
          </p:cNvPr>
          <p:cNvSpPr>
            <a:spLocks xmlns:a="http://schemas.openxmlformats.org/drawingml/2006/main" noGrp="1"/>
          </p:cNvSpPr>
          <p:nvPr/>
        </p:nvSpPr>
        <p:spPr>
          <a:xfrm xmlns:a="http://schemas.openxmlformats.org/drawingml/2006/main">
            <a:off x="590550" y="3657600"/>
            <a:ext cx="57150" cy="552450"/>
          </a:xfrm>
          <a:prstGeom xmlns:a="http://schemas.openxmlformats.org/drawingml/2006/main" prst="rect">
            <a:avLst/>
          </a:prstGeom>
          <a:solidFill xmlns:a="http://schemas.openxmlformats.org/drawingml/2006/main">
            <a:srgbClr val="C67C2E"/>
          </a:solidFill>
          <a:ln xmlns:a="http://schemas.openxmlformats.org/drawingml/2006/main" w="0">
            <a:solidFill>
              <a:srgbClr val="C67C2E"/>
            </a:solidFill>
            <a:prstDash val="solid"/>
          </a:ln>
        </p:spPr>
      </p:sp>
      <p:sp>
        <p:nvSpPr>
          <p:cNvPr id="19" name="">
            <a:extLst xmlns:a="http://schemas.openxmlformats.org/drawingml/2006/main">
              <a:ext uri="{FF2B5EF4-FFF2-40B4-BE49-F238E27FC236}">
                <a16:creationId xmlns:a16="http://schemas.microsoft.com/office/drawing/2014/main" id="{50C53125-FFEA-4842-81F2-587ADAA36C73}"/>
              </a:ext>
            </a:extLst>
          </p:cNvPr>
          <p:cNvSpPr>
            <a:spLocks xmlns:a="http://schemas.openxmlformats.org/drawingml/2006/main" noGrp="1"/>
          </p:cNvSpPr>
          <p:nvPr/>
        </p:nvSpPr>
        <p:spPr>
          <a:xfrm xmlns:a="http://schemas.openxmlformats.org/drawingml/2006/main">
            <a:off x="762000" y="37528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Volatility</a:t>
            </a:r>
          </a:p>
        </p:txBody>
      </p:sp>
      <p:sp>
        <p:nvSpPr>
          <p:cNvPr id="20" name="">
            <a:extLst xmlns:a="http://schemas.openxmlformats.org/drawingml/2006/main">
              <a:ext uri="{FF2B5EF4-FFF2-40B4-BE49-F238E27FC236}">
                <a16:creationId xmlns:a16="http://schemas.microsoft.com/office/drawing/2014/main" id="{ACE195C2-EFE7-440D-AD29-7D1E4AB8703E}"/>
              </a:ext>
            </a:extLst>
          </p:cNvPr>
          <p:cNvSpPr>
            <a:spLocks xmlns:a="http://schemas.openxmlformats.org/drawingml/2006/main" noGrp="1"/>
          </p:cNvSpPr>
          <p:nvPr/>
        </p:nvSpPr>
        <p:spPr>
          <a:xfrm xmlns:a="http://schemas.openxmlformats.org/drawingml/2006/main">
            <a:off x="762000" y="41338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VIX, regime, risk multiplier</a:t>
            </a:r>
          </a:p>
        </p:txBody>
      </p:sp>
      <p:sp>
        <p:nvSpPr>
          <p:cNvPr id="21" name="">
            <a:extLst xmlns:a="http://schemas.openxmlformats.org/drawingml/2006/main">
              <a:ext uri="{FF2B5EF4-FFF2-40B4-BE49-F238E27FC236}">
                <a16:creationId xmlns:a16="http://schemas.microsoft.com/office/drawing/2014/main" id="{E65DD013-D06F-4AE0-9403-B41D7372A8A1}"/>
              </a:ext>
            </a:extLst>
          </p:cNvPr>
          <p:cNvSpPr>
            <a:spLocks xmlns:a="http://schemas.openxmlformats.org/drawingml/2006/main" noGrp="1"/>
          </p:cNvSpPr>
          <p:nvPr/>
        </p:nvSpPr>
        <p:spPr>
          <a:xfrm xmlns:a="http://schemas.openxmlformats.org/drawingml/2006/main">
            <a:off x="590550" y="4343400"/>
            <a:ext cx="2095500" cy="552450"/>
          </a:xfrm>
          <a:prstGeom xmlns:a="http://schemas.openxmlformats.org/drawingml/2006/main" prst="roundRect">
            <a:avLst>
              <a:gd name="adj" fmla="val 17241"/>
            </a:avLst>
          </a:prstGeom>
          <a:solidFill xmlns:a="http://schemas.openxmlformats.org/drawingml/2006/main">
            <a:srgbClr val="E8E3EA"/>
          </a:solidFill>
          <a:ln xmlns:a="http://schemas.openxmlformats.org/drawingml/2006/main" w="9525">
            <a:solidFill>
              <a:srgbClr val="E8E3EA"/>
            </a:solidFill>
            <a:prstDash val="solid"/>
          </a:ln>
        </p:spPr>
      </p:sp>
      <p:sp>
        <p:nvSpPr>
          <p:cNvPr id="22" name="">
            <a:extLst xmlns:a="http://schemas.openxmlformats.org/drawingml/2006/main">
              <a:ext uri="{FF2B5EF4-FFF2-40B4-BE49-F238E27FC236}">
                <a16:creationId xmlns:a16="http://schemas.microsoft.com/office/drawing/2014/main" id="{08D5581A-A040-4A99-B5A5-2C90587F379C}"/>
              </a:ext>
            </a:extLst>
          </p:cNvPr>
          <p:cNvSpPr>
            <a:spLocks xmlns:a="http://schemas.openxmlformats.org/drawingml/2006/main" noGrp="1"/>
          </p:cNvSpPr>
          <p:nvPr/>
        </p:nvSpPr>
        <p:spPr>
          <a:xfrm xmlns:a="http://schemas.openxmlformats.org/drawingml/2006/main">
            <a:off x="590550" y="4343400"/>
            <a:ext cx="57150" cy="552450"/>
          </a:xfrm>
          <a:prstGeom xmlns:a="http://schemas.openxmlformats.org/drawingml/2006/main" prst="rect">
            <a:avLst/>
          </a:prstGeom>
          <a:solidFill xmlns:a="http://schemas.openxmlformats.org/drawingml/2006/main">
            <a:srgbClr val="6B5F7D"/>
          </a:solidFill>
          <a:ln xmlns:a="http://schemas.openxmlformats.org/drawingml/2006/main" w="0">
            <a:solidFill>
              <a:srgbClr val="6B5F7D"/>
            </a:solidFill>
            <a:prstDash val="solid"/>
          </a:ln>
        </p:spPr>
      </p:sp>
      <p:sp>
        <p:nvSpPr>
          <p:cNvPr id="23" name="">
            <a:extLst xmlns:a="http://schemas.openxmlformats.org/drawingml/2006/main">
              <a:ext uri="{FF2B5EF4-FFF2-40B4-BE49-F238E27FC236}">
                <a16:creationId xmlns:a16="http://schemas.microsoft.com/office/drawing/2014/main" id="{5B2FE3BF-2579-4418-84AE-7107689F5C2A}"/>
              </a:ext>
            </a:extLst>
          </p:cNvPr>
          <p:cNvSpPr>
            <a:spLocks xmlns:a="http://schemas.openxmlformats.org/drawingml/2006/main" noGrp="1"/>
          </p:cNvSpPr>
          <p:nvPr/>
        </p:nvSpPr>
        <p:spPr>
          <a:xfrm xmlns:a="http://schemas.openxmlformats.org/drawingml/2006/main">
            <a:off x="762000" y="44386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Macro</a:t>
            </a:r>
          </a:p>
        </p:txBody>
      </p:sp>
      <p:sp>
        <p:nvSpPr>
          <p:cNvPr id="24" name="">
            <a:extLst xmlns:a="http://schemas.openxmlformats.org/drawingml/2006/main">
              <a:ext uri="{FF2B5EF4-FFF2-40B4-BE49-F238E27FC236}">
                <a16:creationId xmlns:a16="http://schemas.microsoft.com/office/drawing/2014/main" id="{150CE093-290B-4F51-A91C-36E066332A84}"/>
              </a:ext>
            </a:extLst>
          </p:cNvPr>
          <p:cNvSpPr>
            <a:spLocks xmlns:a="http://schemas.openxmlformats.org/drawingml/2006/main" noGrp="1"/>
          </p:cNvSpPr>
          <p:nvPr/>
        </p:nvSpPr>
        <p:spPr>
          <a:xfrm xmlns:a="http://schemas.openxmlformats.org/drawingml/2006/main">
            <a:off x="762000" y="48196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breadth, rates, events, liquidity</a:t>
            </a:r>
          </a:p>
        </p:txBody>
      </p:sp>
      <p:sp>
        <p:nvSpPr>
          <p:cNvPr id="25" name="">
            <a:extLst xmlns:a="http://schemas.openxmlformats.org/drawingml/2006/main">
              <a:ext uri="{FF2B5EF4-FFF2-40B4-BE49-F238E27FC236}">
                <a16:creationId xmlns:a16="http://schemas.microsoft.com/office/drawing/2014/main" id="{7BC2AAFE-71B7-4E72-8A85-A545EBD8C6A7}"/>
              </a:ext>
            </a:extLst>
          </p:cNvPr>
          <p:cNvSpPr>
            <a:spLocks xmlns:a="http://schemas.openxmlformats.org/drawingml/2006/main" noGrp="1"/>
          </p:cNvSpPr>
          <p:nvPr/>
        </p:nvSpPr>
        <p:spPr>
          <a:xfrm xmlns:a="http://schemas.openxmlformats.org/drawingml/2006/main">
            <a:off x="590550" y="5029200"/>
            <a:ext cx="2095500" cy="552450"/>
          </a:xfrm>
          <a:prstGeom xmlns:a="http://schemas.openxmlformats.org/drawingml/2006/main" prst="roundRect">
            <a:avLst>
              <a:gd name="adj" fmla="val 17241"/>
            </a:avLst>
          </a:prstGeom>
          <a:solidFill xmlns:a="http://schemas.openxmlformats.org/drawingml/2006/main">
            <a:srgbClr val="F3DEDC"/>
          </a:solidFill>
          <a:ln xmlns:a="http://schemas.openxmlformats.org/drawingml/2006/main" w="9525">
            <a:solidFill>
              <a:srgbClr val="F3DEDC"/>
            </a:solidFill>
            <a:prstDash val="solid"/>
          </a:ln>
        </p:spPr>
      </p:sp>
      <p:sp>
        <p:nvSpPr>
          <p:cNvPr id="26" name="">
            <a:extLst xmlns:a="http://schemas.openxmlformats.org/drawingml/2006/main">
              <a:ext uri="{FF2B5EF4-FFF2-40B4-BE49-F238E27FC236}">
                <a16:creationId xmlns:a16="http://schemas.microsoft.com/office/drawing/2014/main" id="{8B6A9540-B016-4E81-975E-69E8484FCFE9}"/>
              </a:ext>
            </a:extLst>
          </p:cNvPr>
          <p:cNvSpPr>
            <a:spLocks xmlns:a="http://schemas.openxmlformats.org/drawingml/2006/main" noGrp="1"/>
          </p:cNvSpPr>
          <p:nvPr/>
        </p:nvSpPr>
        <p:spPr>
          <a:xfrm xmlns:a="http://schemas.openxmlformats.org/drawingml/2006/main">
            <a:off x="590550" y="5029200"/>
            <a:ext cx="57150" cy="552450"/>
          </a:xfrm>
          <a:prstGeom xmlns:a="http://schemas.openxmlformats.org/drawingml/2006/main" prst="rect">
            <a:avLst/>
          </a:prstGeom>
          <a:solidFill xmlns:a="http://schemas.openxmlformats.org/drawingml/2006/main">
            <a:srgbClr val="B84A4A"/>
          </a:solidFill>
          <a:ln xmlns:a="http://schemas.openxmlformats.org/drawingml/2006/main" w="0">
            <a:solidFill>
              <a:srgbClr val="B84A4A"/>
            </a:solidFill>
            <a:prstDash val="solid"/>
          </a:ln>
        </p:spPr>
      </p:sp>
      <p:sp>
        <p:nvSpPr>
          <p:cNvPr id="27" name="">
            <a:extLst xmlns:a="http://schemas.openxmlformats.org/drawingml/2006/main">
              <a:ext uri="{FF2B5EF4-FFF2-40B4-BE49-F238E27FC236}">
                <a16:creationId xmlns:a16="http://schemas.microsoft.com/office/drawing/2014/main" id="{AD8FB7F2-61DC-442F-94F8-9C7B6449F706}"/>
              </a:ext>
            </a:extLst>
          </p:cNvPr>
          <p:cNvSpPr>
            <a:spLocks xmlns:a="http://schemas.openxmlformats.org/drawingml/2006/main" noGrp="1"/>
          </p:cNvSpPr>
          <p:nvPr/>
        </p:nvSpPr>
        <p:spPr>
          <a:xfrm xmlns:a="http://schemas.openxmlformats.org/drawingml/2006/main">
            <a:off x="762000" y="51244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Portfolio fit</a:t>
            </a:r>
          </a:p>
        </p:txBody>
      </p:sp>
      <p:sp>
        <p:nvSpPr>
          <p:cNvPr id="28" name="">
            <a:extLst xmlns:a="http://schemas.openxmlformats.org/drawingml/2006/main">
              <a:ext uri="{FF2B5EF4-FFF2-40B4-BE49-F238E27FC236}">
                <a16:creationId xmlns:a16="http://schemas.microsoft.com/office/drawing/2014/main" id="{CCF128B5-50D6-41BF-8D49-2A8A8C1C96D7}"/>
              </a:ext>
            </a:extLst>
          </p:cNvPr>
          <p:cNvSpPr>
            <a:spLocks xmlns:a="http://schemas.openxmlformats.org/drawingml/2006/main" noGrp="1"/>
          </p:cNvSpPr>
          <p:nvPr/>
        </p:nvSpPr>
        <p:spPr>
          <a:xfrm xmlns:a="http://schemas.openxmlformats.org/drawingml/2006/main">
            <a:off x="762000" y="5505450"/>
            <a:ext cx="1828800" cy="1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exposure, concentration, risk</a:t>
            </a:r>
          </a:p>
        </p:txBody>
      </p:sp>
      <p:sp>
        <p:nvSpPr>
          <p:cNvPr id="29" name="">
            <a:extLst xmlns:a="http://schemas.openxmlformats.org/drawingml/2006/main">
              <a:ext uri="{FF2B5EF4-FFF2-40B4-BE49-F238E27FC236}">
                <a16:creationId xmlns:a16="http://schemas.microsoft.com/office/drawing/2014/main" id="{594AB06D-E845-4171-A1B3-8DBBBFAD30DF}"/>
              </a:ext>
            </a:extLst>
          </p:cNvPr>
          <p:cNvSpPr>
            <a:spLocks xmlns:a="http://schemas.openxmlformats.org/drawingml/2006/main" noGrp="1"/>
          </p:cNvSpPr>
          <p:nvPr/>
        </p:nvSpPr>
        <p:spPr>
          <a:xfrm xmlns:a="http://schemas.openxmlformats.org/drawingml/2006/main">
            <a:off x="3371850" y="2190750"/>
            <a:ext cx="21145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9525">
            <a:solidFill>
              <a:srgbClr val="D7D9D5"/>
            </a:solidFill>
            <a:prstDash val="solid"/>
          </a:ln>
        </p:spPr>
      </p:sp>
      <p:sp>
        <p:nvSpPr>
          <p:cNvPr id="30" name="">
            <a:extLst xmlns:a="http://schemas.openxmlformats.org/drawingml/2006/main">
              <a:ext uri="{FF2B5EF4-FFF2-40B4-BE49-F238E27FC236}">
                <a16:creationId xmlns:a16="http://schemas.microsoft.com/office/drawing/2014/main" id="{7EBB117C-CF9A-4FEA-AFE0-A6B5FF26A6BB}"/>
              </a:ext>
            </a:extLst>
          </p:cNvPr>
          <p:cNvSpPr>
            <a:spLocks xmlns:a="http://schemas.openxmlformats.org/drawingml/2006/main" noGrp="1"/>
          </p:cNvSpPr>
          <p:nvPr/>
        </p:nvSpPr>
        <p:spPr>
          <a:xfrm xmlns:a="http://schemas.openxmlformats.org/drawingml/2006/main">
            <a:off x="3371850" y="2190750"/>
            <a:ext cx="57150" cy="78105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31" name="">
            <a:extLst xmlns:a="http://schemas.openxmlformats.org/drawingml/2006/main">
              <a:ext uri="{FF2B5EF4-FFF2-40B4-BE49-F238E27FC236}">
                <a16:creationId xmlns:a16="http://schemas.microsoft.com/office/drawing/2014/main" id="{DBAC1D09-0301-45D1-9F17-0D29A386E37E}"/>
              </a:ext>
            </a:extLst>
          </p:cNvPr>
          <p:cNvSpPr>
            <a:spLocks xmlns:a="http://schemas.openxmlformats.org/drawingml/2006/main" noGrp="1"/>
          </p:cNvSpPr>
          <p:nvPr/>
        </p:nvSpPr>
        <p:spPr>
          <a:xfrm xmlns:a="http://schemas.openxmlformats.org/drawingml/2006/main">
            <a:off x="3543300" y="22860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Normalize + validate</a:t>
            </a:r>
          </a:p>
        </p:txBody>
      </p:sp>
      <p:sp>
        <p:nvSpPr>
          <p:cNvPr id="32" name="">
            <a:extLst xmlns:a="http://schemas.openxmlformats.org/drawingml/2006/main">
              <a:ext uri="{FF2B5EF4-FFF2-40B4-BE49-F238E27FC236}">
                <a16:creationId xmlns:a16="http://schemas.microsoft.com/office/drawing/2014/main" id="{7AA24128-ADBE-4C3C-AC9B-9BD3D92315FA}"/>
              </a:ext>
            </a:extLst>
          </p:cNvPr>
          <p:cNvSpPr>
            <a:spLocks xmlns:a="http://schemas.openxmlformats.org/drawingml/2006/main" noGrp="1"/>
          </p:cNvSpPr>
          <p:nvPr/>
        </p:nvSpPr>
        <p:spPr>
          <a:xfrm xmlns:a="http://schemas.openxmlformats.org/drawingml/2006/main">
            <a:off x="3543300" y="26670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Typed provider contracts and freshness checks</a:t>
            </a:r>
          </a:p>
        </p:txBody>
      </p:sp>
      <p:sp>
        <p:nvSpPr>
          <p:cNvPr id="33" name="">
            <a:extLst xmlns:a="http://schemas.openxmlformats.org/drawingml/2006/main">
              <a:ext uri="{FF2B5EF4-FFF2-40B4-BE49-F238E27FC236}">
                <a16:creationId xmlns:a16="http://schemas.microsoft.com/office/drawing/2014/main" id="{6146A47E-EB7E-48B2-B76B-E90FC65D2EA3}"/>
              </a:ext>
            </a:extLst>
          </p:cNvPr>
          <p:cNvSpPr>
            <a:spLocks xmlns:a="http://schemas.openxmlformats.org/drawingml/2006/main" noGrp="1"/>
          </p:cNvSpPr>
          <p:nvPr/>
        </p:nvSpPr>
        <p:spPr>
          <a:xfrm xmlns:a="http://schemas.openxmlformats.org/drawingml/2006/main">
            <a:off x="3371850" y="3676650"/>
            <a:ext cx="21145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9525">
            <a:solidFill>
              <a:srgbClr val="D7D9D5"/>
            </a:solidFill>
            <a:prstDash val="solid"/>
          </a:ln>
        </p:spPr>
      </p:sp>
      <p:sp>
        <p:nvSpPr>
          <p:cNvPr id="34" name="">
            <a:extLst xmlns:a="http://schemas.openxmlformats.org/drawingml/2006/main">
              <a:ext uri="{FF2B5EF4-FFF2-40B4-BE49-F238E27FC236}">
                <a16:creationId xmlns:a16="http://schemas.microsoft.com/office/drawing/2014/main" id="{EAA85752-000D-43F1-A769-9AC1AEF60979}"/>
              </a:ext>
            </a:extLst>
          </p:cNvPr>
          <p:cNvSpPr>
            <a:spLocks xmlns:a="http://schemas.openxmlformats.org/drawingml/2006/main" noGrp="1"/>
          </p:cNvSpPr>
          <p:nvPr/>
        </p:nvSpPr>
        <p:spPr>
          <a:xfrm xmlns:a="http://schemas.openxmlformats.org/drawingml/2006/main">
            <a:off x="3371850" y="3676650"/>
            <a:ext cx="57150" cy="781050"/>
          </a:xfrm>
          <a:prstGeom xmlns:a="http://schemas.openxmlformats.org/drawingml/2006/main" prst="rect">
            <a:avLst/>
          </a:prstGeom>
          <a:solidFill xmlns:a="http://schemas.openxmlformats.org/drawingml/2006/main">
            <a:srgbClr val="C67C2E"/>
          </a:solidFill>
          <a:ln xmlns:a="http://schemas.openxmlformats.org/drawingml/2006/main" w="0">
            <a:solidFill>
              <a:srgbClr val="C67C2E"/>
            </a:solidFill>
            <a:prstDash val="solid"/>
          </a:ln>
        </p:spPr>
      </p:sp>
      <p:sp>
        <p:nvSpPr>
          <p:cNvPr id="35" name="">
            <a:extLst xmlns:a="http://schemas.openxmlformats.org/drawingml/2006/main">
              <a:ext uri="{FF2B5EF4-FFF2-40B4-BE49-F238E27FC236}">
                <a16:creationId xmlns:a16="http://schemas.microsoft.com/office/drawing/2014/main" id="{2B1D0873-DA31-4BAF-A2C2-9BDA2F0F10D4}"/>
              </a:ext>
            </a:extLst>
          </p:cNvPr>
          <p:cNvSpPr>
            <a:spLocks xmlns:a="http://schemas.openxmlformats.org/drawingml/2006/main" noGrp="1"/>
          </p:cNvSpPr>
          <p:nvPr/>
        </p:nvSpPr>
        <p:spPr>
          <a:xfrm xmlns:a="http://schemas.openxmlformats.org/drawingml/2006/main">
            <a:off x="3543300" y="37719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Apply hard gates</a:t>
            </a:r>
          </a:p>
        </p:txBody>
      </p:sp>
      <p:sp>
        <p:nvSpPr>
          <p:cNvPr id="36" name="">
            <a:extLst xmlns:a="http://schemas.openxmlformats.org/drawingml/2006/main">
              <a:ext uri="{FF2B5EF4-FFF2-40B4-BE49-F238E27FC236}">
                <a16:creationId xmlns:a16="http://schemas.microsoft.com/office/drawing/2014/main" id="{FA2683A1-FBB8-4E89-B2F3-A95757A78A7D}"/>
              </a:ext>
            </a:extLst>
          </p:cNvPr>
          <p:cNvSpPr>
            <a:spLocks xmlns:a="http://schemas.openxmlformats.org/drawingml/2006/main" noGrp="1"/>
          </p:cNvSpPr>
          <p:nvPr/>
        </p:nvSpPr>
        <p:spPr>
          <a:xfrm xmlns:a="http://schemas.openxmlformats.org/drawingml/2006/main">
            <a:off x="3543300" y="41529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Import reconciliation, liquidity, risk, policy</a:t>
            </a:r>
          </a:p>
        </p:txBody>
      </p:sp>
      <p:sp>
        <p:nvSpPr>
          <p:cNvPr id="37" name="">
            <a:extLst xmlns:a="http://schemas.openxmlformats.org/drawingml/2006/main">
              <a:ext uri="{FF2B5EF4-FFF2-40B4-BE49-F238E27FC236}">
                <a16:creationId xmlns:a16="http://schemas.microsoft.com/office/drawing/2014/main" id="{96DF6F3F-E85B-4FEB-B1B6-69A63663E05A}"/>
              </a:ext>
            </a:extLst>
          </p:cNvPr>
          <p:cNvSpPr>
            <a:spLocks xmlns:a="http://schemas.openxmlformats.org/drawingml/2006/main" noGrp="1"/>
          </p:cNvSpPr>
          <p:nvPr/>
        </p:nvSpPr>
        <p:spPr>
          <a:xfrm xmlns:a="http://schemas.openxmlformats.org/drawingml/2006/main">
            <a:off x="6191250" y="2705100"/>
            <a:ext cx="2228850" cy="1009650"/>
          </a:xfrm>
          <a:prstGeom xmlns:a="http://schemas.openxmlformats.org/drawingml/2006/main" prst="roundRect">
            <a:avLst>
              <a:gd name="adj" fmla="val 9434"/>
            </a:avLst>
          </a:prstGeom>
          <a:solidFill xmlns:a="http://schemas.openxmlformats.org/drawingml/2006/main">
            <a:srgbClr val="FFFFFF"/>
          </a:solidFill>
          <a:ln xmlns:a="http://schemas.openxmlformats.org/drawingml/2006/main" w="9525">
            <a:solidFill>
              <a:srgbClr val="D7D9D5"/>
            </a:solidFill>
            <a:prstDash val="solid"/>
          </a:ln>
        </p:spPr>
      </p:sp>
      <p:sp>
        <p:nvSpPr>
          <p:cNvPr id="38" name="">
            <a:extLst xmlns:a="http://schemas.openxmlformats.org/drawingml/2006/main">
              <a:ext uri="{FF2B5EF4-FFF2-40B4-BE49-F238E27FC236}">
                <a16:creationId xmlns:a16="http://schemas.microsoft.com/office/drawing/2014/main" id="{5ED20531-36B1-4298-96C9-F0A83405B2FC}"/>
              </a:ext>
            </a:extLst>
          </p:cNvPr>
          <p:cNvSpPr>
            <a:spLocks xmlns:a="http://schemas.openxmlformats.org/drawingml/2006/main" noGrp="1"/>
          </p:cNvSpPr>
          <p:nvPr/>
        </p:nvSpPr>
        <p:spPr>
          <a:xfrm xmlns:a="http://schemas.openxmlformats.org/drawingml/2006/main">
            <a:off x="6191250" y="2705100"/>
            <a:ext cx="57150" cy="1009650"/>
          </a:xfrm>
          <a:prstGeom xmlns:a="http://schemas.openxmlformats.org/drawingml/2006/main" prst="rect">
            <a:avLst/>
          </a:prstGeom>
          <a:solidFill xmlns:a="http://schemas.openxmlformats.org/drawingml/2006/main">
            <a:srgbClr val="4F5D75"/>
          </a:solidFill>
          <a:ln xmlns:a="http://schemas.openxmlformats.org/drawingml/2006/main" w="0">
            <a:solidFill>
              <a:srgbClr val="4F5D75"/>
            </a:solidFill>
            <a:prstDash val="solid"/>
          </a:ln>
        </p:spPr>
      </p:sp>
      <p:sp>
        <p:nvSpPr>
          <p:cNvPr id="39" name="">
            <a:extLst xmlns:a="http://schemas.openxmlformats.org/drawingml/2006/main">
              <a:ext uri="{FF2B5EF4-FFF2-40B4-BE49-F238E27FC236}">
                <a16:creationId xmlns:a16="http://schemas.microsoft.com/office/drawing/2014/main" id="{D17A701A-24FC-415D-88EF-8232D477A7E9}"/>
              </a:ext>
            </a:extLst>
          </p:cNvPr>
          <p:cNvSpPr>
            <a:spLocks xmlns:a="http://schemas.openxmlformats.org/drawingml/2006/main" noGrp="1"/>
          </p:cNvSpPr>
          <p:nvPr/>
        </p:nvSpPr>
        <p:spPr>
          <a:xfrm xmlns:a="http://schemas.openxmlformats.org/drawingml/2006/main">
            <a:off x="6362700" y="280035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Score + counterevidence</a:t>
            </a:r>
          </a:p>
        </p:txBody>
      </p:sp>
      <p:sp>
        <p:nvSpPr>
          <p:cNvPr id="40" name="">
            <a:extLst xmlns:a="http://schemas.openxmlformats.org/drawingml/2006/main">
              <a:ext uri="{FF2B5EF4-FFF2-40B4-BE49-F238E27FC236}">
                <a16:creationId xmlns:a16="http://schemas.microsoft.com/office/drawing/2014/main" id="{639E0DBE-7678-4403-8DF8-2960AB318E3B}"/>
              </a:ext>
            </a:extLst>
          </p:cNvPr>
          <p:cNvSpPr>
            <a:spLocks xmlns:a="http://schemas.openxmlformats.org/drawingml/2006/main" noGrp="1"/>
          </p:cNvSpPr>
          <p:nvPr/>
        </p:nvSpPr>
        <p:spPr>
          <a:xfrm xmlns:a="http://schemas.openxmlformats.org/drawingml/2006/main">
            <a:off x="6362700" y="3181350"/>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Weighted factors, confidence, uncertainty</a:t>
            </a:r>
          </a:p>
        </p:txBody>
      </p:sp>
      <p:sp>
        <p:nvSpPr>
          <p:cNvPr id="41" name="">
            <a:extLst xmlns:a="http://schemas.openxmlformats.org/drawingml/2006/main">
              <a:ext uri="{FF2B5EF4-FFF2-40B4-BE49-F238E27FC236}">
                <a16:creationId xmlns:a16="http://schemas.microsoft.com/office/drawing/2014/main" id="{0A30ECB4-9D85-4792-91F7-7D907A491318}"/>
              </a:ext>
            </a:extLst>
          </p:cNvPr>
          <p:cNvSpPr>
            <a:spLocks xmlns:a="http://schemas.openxmlformats.org/drawingml/2006/main" noGrp="1"/>
          </p:cNvSpPr>
          <p:nvPr/>
        </p:nvSpPr>
        <p:spPr>
          <a:xfrm xmlns:a="http://schemas.openxmlformats.org/drawingml/2006/main">
            <a:off x="9124950" y="2190750"/>
            <a:ext cx="2476500" cy="1123950"/>
          </a:xfrm>
          <a:prstGeom xmlns:a="http://schemas.openxmlformats.org/drawingml/2006/main" prst="roundRect">
            <a:avLst>
              <a:gd name="adj" fmla="val 8475"/>
            </a:avLst>
          </a:prstGeom>
          <a:solidFill xmlns:a="http://schemas.openxmlformats.org/drawingml/2006/main">
            <a:srgbClr val="E3EBDD"/>
          </a:solidFill>
          <a:ln xmlns:a="http://schemas.openxmlformats.org/drawingml/2006/main" w="9525">
            <a:solidFill>
              <a:srgbClr val="B7C8AA"/>
            </a:solidFill>
            <a:prstDash val="solid"/>
          </a:ln>
        </p:spPr>
      </p:sp>
      <p:sp>
        <p:nvSpPr>
          <p:cNvPr id="42" name="">
            <a:extLst xmlns:a="http://schemas.openxmlformats.org/drawingml/2006/main">
              <a:ext uri="{FF2B5EF4-FFF2-40B4-BE49-F238E27FC236}">
                <a16:creationId xmlns:a16="http://schemas.microsoft.com/office/drawing/2014/main" id="{B63E5B35-14A1-4DA8-941B-0A0E22E058B2}"/>
              </a:ext>
            </a:extLst>
          </p:cNvPr>
          <p:cNvSpPr>
            <a:spLocks xmlns:a="http://schemas.openxmlformats.org/drawingml/2006/main" noGrp="1"/>
          </p:cNvSpPr>
          <p:nvPr/>
        </p:nvSpPr>
        <p:spPr>
          <a:xfrm xmlns:a="http://schemas.openxmlformats.org/drawingml/2006/main">
            <a:off x="9124950" y="2190750"/>
            <a:ext cx="57150" cy="112395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43" name="">
            <a:extLst xmlns:a="http://schemas.openxmlformats.org/drawingml/2006/main">
              <a:ext uri="{FF2B5EF4-FFF2-40B4-BE49-F238E27FC236}">
                <a16:creationId xmlns:a16="http://schemas.microsoft.com/office/drawing/2014/main" id="{1F46A377-69F8-4F72-A264-561E6A763FB6}"/>
              </a:ext>
            </a:extLst>
          </p:cNvPr>
          <p:cNvSpPr>
            <a:spLocks xmlns:a="http://schemas.openxmlformats.org/drawingml/2006/main" noGrp="1"/>
          </p:cNvSpPr>
          <p:nvPr/>
        </p:nvSpPr>
        <p:spPr>
          <a:xfrm xmlns:a="http://schemas.openxmlformats.org/drawingml/2006/main">
            <a:off x="9296400" y="2286000"/>
            <a:ext cx="220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Explainable recommendation</a:t>
            </a:r>
          </a:p>
        </p:txBody>
      </p:sp>
      <p:sp>
        <p:nvSpPr>
          <p:cNvPr id="44" name="">
            <a:extLst xmlns:a="http://schemas.openxmlformats.org/drawingml/2006/main">
              <a:ext uri="{FF2B5EF4-FFF2-40B4-BE49-F238E27FC236}">
                <a16:creationId xmlns:a16="http://schemas.microsoft.com/office/drawing/2014/main" id="{C8C25E3F-F5E2-4C9A-BCC7-4DE235B28F0E}"/>
              </a:ext>
            </a:extLst>
          </p:cNvPr>
          <p:cNvSpPr>
            <a:spLocks xmlns:a="http://schemas.openxmlformats.org/drawingml/2006/main" noGrp="1"/>
          </p:cNvSpPr>
          <p:nvPr/>
        </p:nvSpPr>
        <p:spPr>
          <a:xfrm xmlns:a="http://schemas.openxmlformats.org/drawingml/2006/main">
            <a:off x="9296400" y="266700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Setup, factor stack, citations, allowed next actions</a:t>
            </a:r>
          </a:p>
        </p:txBody>
      </p:sp>
      <p:sp>
        <p:nvSpPr>
          <p:cNvPr id="45" name="">
            <a:extLst xmlns:a="http://schemas.openxmlformats.org/drawingml/2006/main">
              <a:ext uri="{FF2B5EF4-FFF2-40B4-BE49-F238E27FC236}">
                <a16:creationId xmlns:a16="http://schemas.microsoft.com/office/drawing/2014/main" id="{1B9B90A3-3BA0-4939-AC5A-49904F42DCC2}"/>
              </a:ext>
            </a:extLst>
          </p:cNvPr>
          <p:cNvSpPr>
            <a:spLocks xmlns:a="http://schemas.openxmlformats.org/drawingml/2006/main" noGrp="1"/>
          </p:cNvSpPr>
          <p:nvPr/>
        </p:nvSpPr>
        <p:spPr>
          <a:xfrm xmlns:a="http://schemas.openxmlformats.org/drawingml/2006/main">
            <a:off x="9124950" y="3962400"/>
            <a:ext cx="2476500" cy="857250"/>
          </a:xfrm>
          <a:prstGeom xmlns:a="http://schemas.openxmlformats.org/drawingml/2006/main" prst="roundRect">
            <a:avLst>
              <a:gd name="adj" fmla="val 11111"/>
            </a:avLst>
          </a:prstGeom>
          <a:solidFill xmlns:a="http://schemas.openxmlformats.org/drawingml/2006/main">
            <a:srgbClr val="F4E8D6"/>
          </a:solidFill>
          <a:ln xmlns:a="http://schemas.openxmlformats.org/drawingml/2006/main" w="9525">
            <a:solidFill>
              <a:srgbClr val="D8B887"/>
            </a:solidFill>
            <a:prstDash val="solid"/>
          </a:ln>
        </p:spPr>
      </p:sp>
      <p:sp>
        <p:nvSpPr>
          <p:cNvPr id="46" name="">
            <a:extLst xmlns:a="http://schemas.openxmlformats.org/drawingml/2006/main">
              <a:ext uri="{FF2B5EF4-FFF2-40B4-BE49-F238E27FC236}">
                <a16:creationId xmlns:a16="http://schemas.microsoft.com/office/drawing/2014/main" id="{E4E7A6D4-F39F-4A43-BE54-7E5705C03D0D}"/>
              </a:ext>
            </a:extLst>
          </p:cNvPr>
          <p:cNvSpPr>
            <a:spLocks xmlns:a="http://schemas.openxmlformats.org/drawingml/2006/main" noGrp="1"/>
          </p:cNvSpPr>
          <p:nvPr/>
        </p:nvSpPr>
        <p:spPr>
          <a:xfrm xmlns:a="http://schemas.openxmlformats.org/drawingml/2006/main">
            <a:off x="9124950" y="3962400"/>
            <a:ext cx="57150" cy="857250"/>
          </a:xfrm>
          <a:prstGeom xmlns:a="http://schemas.openxmlformats.org/drawingml/2006/main" prst="rect">
            <a:avLst/>
          </a:prstGeom>
          <a:solidFill xmlns:a="http://schemas.openxmlformats.org/drawingml/2006/main">
            <a:srgbClr val="C67C2E"/>
          </a:solidFill>
          <a:ln xmlns:a="http://schemas.openxmlformats.org/drawingml/2006/main" w="0">
            <a:solidFill>
              <a:srgbClr val="C67C2E"/>
            </a:solidFill>
            <a:prstDash val="solid"/>
          </a:ln>
        </p:spPr>
      </p:sp>
      <p:sp>
        <p:nvSpPr>
          <p:cNvPr id="47" name="">
            <a:extLst xmlns:a="http://schemas.openxmlformats.org/drawingml/2006/main">
              <a:ext uri="{FF2B5EF4-FFF2-40B4-BE49-F238E27FC236}">
                <a16:creationId xmlns:a16="http://schemas.microsoft.com/office/drawing/2014/main" id="{5E2E5A02-436A-4CAA-B312-FCDBF5F93077}"/>
              </a:ext>
            </a:extLst>
          </p:cNvPr>
          <p:cNvSpPr>
            <a:spLocks xmlns:a="http://schemas.openxmlformats.org/drawingml/2006/main" noGrp="1"/>
          </p:cNvSpPr>
          <p:nvPr/>
        </p:nvSpPr>
        <p:spPr>
          <a:xfrm xmlns:a="http://schemas.openxmlformats.org/drawingml/2006/main">
            <a:off x="9296400" y="4057650"/>
            <a:ext cx="220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Strategy + simulated backtest</a:t>
            </a:r>
          </a:p>
        </p:txBody>
      </p:sp>
      <p:sp>
        <p:nvSpPr>
          <p:cNvPr id="48" name="">
            <a:extLst xmlns:a="http://schemas.openxmlformats.org/drawingml/2006/main">
              <a:ext uri="{FF2B5EF4-FFF2-40B4-BE49-F238E27FC236}">
                <a16:creationId xmlns:a16="http://schemas.microsoft.com/office/drawing/2014/main" id="{4965F27C-0855-4BEB-A370-155FDB5EB51B}"/>
              </a:ext>
            </a:extLst>
          </p:cNvPr>
          <p:cNvSpPr>
            <a:spLocks xmlns:a="http://schemas.openxmlformats.org/drawingml/2006/main" noGrp="1"/>
          </p:cNvSpPr>
          <p:nvPr/>
        </p:nvSpPr>
        <p:spPr>
          <a:xfrm xmlns:a="http://schemas.openxmlformats.org/drawingml/2006/main">
            <a:off x="9296400" y="44386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Draft-only until readiness is proven</a:t>
            </a:r>
          </a:p>
        </p:txBody>
      </p:sp>
      <p:cxnSp>
        <p:nvCxnSpPr>
          <p:cNvPr id="109" name=""/>
          <p:cNvCxnSpPr>
            <a:stCxn xmlns:a="http://schemas.openxmlformats.org/drawingml/2006/main" id="5" idx="3"/>
            <a:endCxn xmlns:a="http://schemas.openxmlformats.org/drawingml/2006/main" id="29" idx="1"/>
          </p:cNvCxnSpPr>
          <p:nvPr/>
        </p:nvCxnSpPr>
        <p:spPr>
          <a:xfrm xmlns:a="http://schemas.openxmlformats.org/drawingml/2006/main">
            <a:off x="2686050" y="1876425"/>
            <a:ext cx="685800" cy="7048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0" name=""/>
          <p:cNvCxnSpPr>
            <a:stCxn xmlns:a="http://schemas.openxmlformats.org/drawingml/2006/main" id="9" idx="3"/>
            <a:endCxn xmlns:a="http://schemas.openxmlformats.org/drawingml/2006/main" id="29" idx="1"/>
          </p:cNvCxnSpPr>
          <p:nvPr/>
        </p:nvCxnSpPr>
        <p:spPr>
          <a:xfrm xmlns:a="http://schemas.openxmlformats.org/drawingml/2006/main">
            <a:off x="2686050" y="2562225"/>
            <a:ext cx="685800" cy="190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1" name=""/>
          <p:cNvCxnSpPr>
            <a:stCxn xmlns:a="http://schemas.openxmlformats.org/drawingml/2006/main" id="13" idx="3"/>
            <a:endCxn xmlns:a="http://schemas.openxmlformats.org/drawingml/2006/main" id="29" idx="1"/>
          </p:cNvCxnSpPr>
          <p:nvPr/>
        </p:nvCxnSpPr>
        <p:spPr>
          <a:xfrm xmlns:a="http://schemas.openxmlformats.org/drawingml/2006/main" flipV="1">
            <a:off x="2686050" y="2581275"/>
            <a:ext cx="685800" cy="6667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2" name=""/>
          <p:cNvCxnSpPr>
            <a:stCxn xmlns:a="http://schemas.openxmlformats.org/drawingml/2006/main" id="17" idx="3"/>
            <a:endCxn xmlns:a="http://schemas.openxmlformats.org/drawingml/2006/main" id="33" idx="1"/>
          </p:cNvCxnSpPr>
          <p:nvPr/>
        </p:nvCxnSpPr>
        <p:spPr>
          <a:xfrm xmlns:a="http://schemas.openxmlformats.org/drawingml/2006/main">
            <a:off x="2686050" y="3933825"/>
            <a:ext cx="685800" cy="1333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3" name=""/>
          <p:cNvCxnSpPr>
            <a:stCxn xmlns:a="http://schemas.openxmlformats.org/drawingml/2006/main" id="21" idx="3"/>
            <a:endCxn xmlns:a="http://schemas.openxmlformats.org/drawingml/2006/main" id="33" idx="1"/>
          </p:cNvCxnSpPr>
          <p:nvPr/>
        </p:nvCxnSpPr>
        <p:spPr>
          <a:xfrm xmlns:a="http://schemas.openxmlformats.org/drawingml/2006/main" flipV="1">
            <a:off x="2686050" y="4067175"/>
            <a:ext cx="685800" cy="5524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4" name=""/>
          <p:cNvCxnSpPr>
            <a:stCxn xmlns:a="http://schemas.openxmlformats.org/drawingml/2006/main" id="25" idx="3"/>
            <a:endCxn xmlns:a="http://schemas.openxmlformats.org/drawingml/2006/main" id="33" idx="1"/>
          </p:cNvCxnSpPr>
          <p:nvPr/>
        </p:nvCxnSpPr>
        <p:spPr>
          <a:xfrm xmlns:a="http://schemas.openxmlformats.org/drawingml/2006/main" flipV="1">
            <a:off x="2686050" y="4067175"/>
            <a:ext cx="685800" cy="1238250"/>
          </a:xfrm>
          <a:prstGeom xmlns:a="http://schemas.openxmlformats.org/drawingml/2006/main" prst="straightConnector1">
            <a:avLst/>
          </a:prstGeom>
          <a:ln xmlns:a="http://schemas.openxmlformats.org/drawingml/2006/main" w="19050">
            <a:solidFill>
              <a:srgbClr val="D7D9D5"/>
            </a:solidFill>
            <a:prstDash val="solid"/>
            <a:tailEnd type="triangle" w="sm" len="sm"/>
          </a:ln>
        </p:spPr>
      </p:cxnSp>
      <p:cxnSp>
        <p:nvCxnSpPr>
          <p:cNvPr id="115" name=""/>
          <p:cNvCxnSpPr>
            <a:stCxn xmlns:a="http://schemas.openxmlformats.org/drawingml/2006/main" id="29" idx="3"/>
            <a:endCxn xmlns:a="http://schemas.openxmlformats.org/drawingml/2006/main" id="37" idx="1"/>
          </p:cNvCxnSpPr>
          <p:nvPr/>
        </p:nvCxnSpPr>
        <p:spPr>
          <a:xfrm xmlns:a="http://schemas.openxmlformats.org/drawingml/2006/main">
            <a:off x="5486400" y="2581275"/>
            <a:ext cx="704850" cy="628650"/>
          </a:xfrm>
          <a:prstGeom xmlns:a="http://schemas.openxmlformats.org/drawingml/2006/main" prst="straightConnector1">
            <a:avLst/>
          </a:prstGeom>
          <a:ln xmlns:a="http://schemas.openxmlformats.org/drawingml/2006/main" w="19050">
            <a:solidFill>
              <a:srgbClr val="2F6B4F"/>
            </a:solidFill>
            <a:prstDash val="solid"/>
            <a:tailEnd type="triangle" w="sm" len="sm"/>
          </a:ln>
        </p:spPr>
      </p:cxnSp>
      <p:cxnSp>
        <p:nvCxnSpPr>
          <p:cNvPr id="116" name=""/>
          <p:cNvCxnSpPr>
            <a:stCxn xmlns:a="http://schemas.openxmlformats.org/drawingml/2006/main" id="33" idx="3"/>
            <a:endCxn xmlns:a="http://schemas.openxmlformats.org/drawingml/2006/main" id="37" idx="1"/>
          </p:cNvCxnSpPr>
          <p:nvPr/>
        </p:nvCxnSpPr>
        <p:spPr>
          <a:xfrm xmlns:a="http://schemas.openxmlformats.org/drawingml/2006/main" flipV="1">
            <a:off x="5486400" y="3209925"/>
            <a:ext cx="704850" cy="857250"/>
          </a:xfrm>
          <a:prstGeom xmlns:a="http://schemas.openxmlformats.org/drawingml/2006/main" prst="straightConnector1">
            <a:avLst/>
          </a:prstGeom>
          <a:ln xmlns:a="http://schemas.openxmlformats.org/drawingml/2006/main" w="19050">
            <a:solidFill>
              <a:srgbClr val="C67C2E"/>
            </a:solidFill>
            <a:prstDash val="solid"/>
            <a:tailEnd type="triangle" w="sm" len="sm"/>
          </a:ln>
        </p:spPr>
      </p:cxnSp>
      <p:cxnSp>
        <p:nvCxnSpPr>
          <p:cNvPr id="117" name=""/>
          <p:cNvCxnSpPr>
            <a:stCxn xmlns:a="http://schemas.openxmlformats.org/drawingml/2006/main" id="37" idx="3"/>
            <a:endCxn xmlns:a="http://schemas.openxmlformats.org/drawingml/2006/main" id="41" idx="1"/>
          </p:cNvCxnSpPr>
          <p:nvPr/>
        </p:nvCxnSpPr>
        <p:spPr>
          <a:xfrm xmlns:a="http://schemas.openxmlformats.org/drawingml/2006/main" flipV="1">
            <a:off x="8420100" y="2752725"/>
            <a:ext cx="704850" cy="457200"/>
          </a:xfrm>
          <a:prstGeom xmlns:a="http://schemas.openxmlformats.org/drawingml/2006/main" prst="straightConnector1">
            <a:avLst/>
          </a:prstGeom>
          <a:ln xmlns:a="http://schemas.openxmlformats.org/drawingml/2006/main" w="19050">
            <a:solidFill>
              <a:srgbClr val="5B8C5A"/>
            </a:solidFill>
            <a:prstDash val="solid"/>
            <a:tailEnd type="triangle" w="sm" len="sm"/>
          </a:ln>
        </p:spPr>
      </p:cxnSp>
      <p:cxnSp>
        <p:nvCxnSpPr>
          <p:cNvPr id="118" name=""/>
          <p:cNvCxnSpPr>
            <a:stCxn xmlns:a="http://schemas.openxmlformats.org/drawingml/2006/main" id="41" idx="2"/>
            <a:endCxn xmlns:a="http://schemas.openxmlformats.org/drawingml/2006/main" id="45" idx="0"/>
          </p:cNvCxnSpPr>
          <p:nvPr/>
        </p:nvCxnSpPr>
        <p:spPr>
          <a:xfrm xmlns:a="http://schemas.openxmlformats.org/drawingml/2006/main">
            <a:off x="10363200" y="3314700"/>
            <a:ext cx="0" cy="647700"/>
          </a:xfrm>
          <a:prstGeom xmlns:a="http://schemas.openxmlformats.org/drawingml/2006/main" prst="straightConnector1">
            <a:avLst/>
          </a:prstGeom>
          <a:ln xmlns:a="http://schemas.openxmlformats.org/drawingml/2006/main" w="19050">
            <a:solidFill>
              <a:srgbClr val="C67C2E"/>
            </a:solidFill>
            <a:prstDash val="solid"/>
            <a:tailEnd type="triangle" w="sm" len="sm"/>
          </a:ln>
        </p:spPr>
      </p:cxnSp>
      <p:sp>
        <p:nvSpPr>
          <p:cNvPr id="59" name="">
            <a:extLst xmlns:a="http://schemas.openxmlformats.org/drawingml/2006/main">
              <a:ext uri="{FF2B5EF4-FFF2-40B4-BE49-F238E27FC236}">
                <a16:creationId xmlns:a16="http://schemas.microsoft.com/office/drawing/2014/main" id="{C266E6F5-593A-4A70-A7F9-B661D04F1D3C}"/>
              </a:ext>
            </a:extLst>
          </p:cNvPr>
          <p:cNvSpPr>
            <a:spLocks xmlns:a="http://schemas.openxmlformats.org/drawingml/2006/main" noGrp="1"/>
          </p:cNvSpPr>
          <p:nvPr/>
        </p:nvSpPr>
        <p:spPr>
          <a:xfrm xmlns:a="http://schemas.openxmlformats.org/drawingml/2006/main">
            <a:off x="3371850" y="5219700"/>
            <a:ext cx="5048250" cy="514350"/>
          </a:xfrm>
          <a:prstGeom xmlns:a="http://schemas.openxmlformats.org/drawingml/2006/main" prst="roundRect">
            <a:avLst>
              <a:gd name="adj" fmla="val 16667"/>
            </a:avLst>
          </a:prstGeom>
          <a:solidFill xmlns:a="http://schemas.openxmlformats.org/drawingml/2006/main">
            <a:srgbClr val="17191C"/>
          </a:solidFill>
          <a:ln xmlns:a="http://schemas.openxmlformats.org/drawingml/2006/main" w="9525">
            <a:solidFill>
              <a:srgbClr val="17191C"/>
            </a:solidFill>
            <a:prstDash val="solid"/>
          </a:ln>
        </p:spPr>
      </p:sp>
      <p:sp>
        <p:nvSpPr>
          <p:cNvPr id="60" name="">
            <a:extLst xmlns:a="http://schemas.openxmlformats.org/drawingml/2006/main">
              <a:ext uri="{FF2B5EF4-FFF2-40B4-BE49-F238E27FC236}">
                <a16:creationId xmlns:a16="http://schemas.microsoft.com/office/drawing/2014/main" id="{61C934D3-2160-4304-B38C-A962C676B321}"/>
              </a:ext>
            </a:extLst>
          </p:cNvPr>
          <p:cNvSpPr>
            <a:spLocks xmlns:a="http://schemas.openxmlformats.org/drawingml/2006/main" noGrp="1"/>
          </p:cNvSpPr>
          <p:nvPr/>
        </p:nvSpPr>
        <p:spPr>
          <a:xfrm xmlns:a="http://schemas.openxmlformats.org/drawingml/2006/main">
            <a:off x="3562350" y="53721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FFFFFF"/>
                </a:solidFill>
              </a:defRPr>
            </a:pPr>
            <a:r>
              <a:rPr sz="1125" b="0">
                <a:solidFill>
                  <a:srgbClr val="FFFFFF"/>
                </a:solidFill>
              </a:rPr>
              <a:t>Read-only pattern cards add strategy context and citations; structured facts remain authoritative.</a:t>
            </a:r>
          </a:p>
        </p:txBody>
      </p:sp>
    </p:spTree>
    <p:extLst>
      <p:ext uri="{BB962C8B-B14F-4D97-AF65-F5344CB8AC3E}">
        <p14:creationId xmlns:p14="http://schemas.microsoft.com/office/powerpoint/2010/main" val="253798905"/>
      </p:ext>
    </p:extLst>
  </p:cSld>
</p:sld>
</file>

<file path=ppt/slides/slide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9EC891-9C54-4611-B8E5-CF5D8C0FEA0F}"/>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7C9B5"/>
                </a:solidFill>
              </a:defRPr>
            </a:pPr>
            <a:r>
              <a:rPr sz="975" b="1">
                <a:solidFill>
                  <a:srgbClr val="B7C9B5"/>
                </a:solidFill>
              </a:rPr>
              <a:t>AGENTIC WORKFLOW</a:t>
            </a:r>
          </a:p>
        </p:txBody>
      </p:sp>
      <p:sp>
        <p:nvSpPr>
          <p:cNvPr id="2" name="">
            <a:extLst xmlns:a="http://schemas.openxmlformats.org/drawingml/2006/main">
              <a:ext uri="{FF2B5EF4-FFF2-40B4-BE49-F238E27FC236}">
                <a16:creationId xmlns:a16="http://schemas.microsoft.com/office/drawing/2014/main" id="{CC7D0D3B-2A1E-4EAA-9FB2-78F53405F4D4}"/>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One request becomes a traceable, approval-gated workflow</a:t>
            </a:r>
          </a:p>
        </p:txBody>
      </p:sp>
      <p:sp>
        <p:nvSpPr>
          <p:cNvPr id="3" name="">
            <a:extLst xmlns:a="http://schemas.openxmlformats.org/drawingml/2006/main">
              <a:ext uri="{FF2B5EF4-FFF2-40B4-BE49-F238E27FC236}">
                <a16:creationId xmlns:a16="http://schemas.microsoft.com/office/drawing/2014/main" id="{A47B0AFF-E35B-46E6-A4BC-E4083FFA6FB4}"/>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4A3B8"/>
                </a:solidFill>
              </a:defRPr>
            </a:pPr>
            <a:r>
              <a:rPr sz="900" b="1">
                <a:solidFill>
                  <a:srgbClr val="94A3B8"/>
                </a:solidFill>
              </a:rPr>
              <a:t>TRADEPILOT SENTINEL</a:t>
            </a:r>
          </a:p>
        </p:txBody>
      </p:sp>
      <p:sp>
        <p:nvSpPr>
          <p:cNvPr id="4" name="">
            <a:extLst xmlns:a="http://schemas.openxmlformats.org/drawingml/2006/main">
              <a:ext uri="{FF2B5EF4-FFF2-40B4-BE49-F238E27FC236}">
                <a16:creationId xmlns:a16="http://schemas.microsoft.com/office/drawing/2014/main" id="{48016A21-50E8-4DF0-BEF2-3B3F55C3EC99}"/>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94A3B8"/>
                </a:solidFill>
              </a:defRPr>
            </a:pPr>
            <a:r>
              <a:rPr sz="900" b="1">
                <a:solidFill>
                  <a:srgbClr val="94A3B8"/>
                </a:solidFill>
              </a:rPr>
              <a:t>05</a:t>
            </a:r>
          </a:p>
        </p:txBody>
      </p:sp>
      <p:sp>
        <p:nvSpPr>
          <p:cNvPr id="5" name="">
            <a:extLst xmlns:a="http://schemas.openxmlformats.org/drawingml/2006/main">
              <a:ext uri="{FF2B5EF4-FFF2-40B4-BE49-F238E27FC236}">
                <a16:creationId xmlns:a16="http://schemas.microsoft.com/office/drawing/2014/main" id="{73C3D64D-72B0-422D-A8CA-7CB92C6B7883}"/>
              </a:ext>
            </a:extLst>
          </p:cNvPr>
          <p:cNvSpPr>
            <a:spLocks xmlns:a="http://schemas.openxmlformats.org/drawingml/2006/main" noGrp="1"/>
          </p:cNvSpPr>
          <p:nvPr/>
        </p:nvSpPr>
        <p:spPr>
          <a:xfrm xmlns:a="http://schemas.openxmlformats.org/drawingml/2006/main">
            <a:off x="590550" y="13144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CBD5E1"/>
                </a:solidFill>
              </a:defRPr>
            </a:pPr>
            <a:r>
              <a:rPr sz="1425" b="0">
                <a:solidFill>
                  <a:srgbClr val="CBD5E1"/>
                </a:solidFill>
              </a:rPr>
              <a:t>Natural language starts the flow. Tools, policy, and people determine how far it can go.</a:t>
            </a:r>
          </a:p>
        </p:txBody>
      </p:sp>
      <p:sp>
        <p:nvSpPr>
          <p:cNvPr id="6" name="">
            <a:extLst xmlns:a="http://schemas.openxmlformats.org/drawingml/2006/main">
              <a:ext uri="{FF2B5EF4-FFF2-40B4-BE49-F238E27FC236}">
                <a16:creationId xmlns:a16="http://schemas.microsoft.com/office/drawing/2014/main" id="{8C918822-8E1D-4201-B544-0358290848DC}"/>
              </a:ext>
            </a:extLst>
          </p:cNvPr>
          <p:cNvSpPr>
            <a:spLocks xmlns:a="http://schemas.openxmlformats.org/drawingml/2006/main" noGrp="1"/>
          </p:cNvSpPr>
          <p:nvPr/>
        </p:nvSpPr>
        <p:spPr>
          <a:xfrm xmlns:a="http://schemas.openxmlformats.org/drawingml/2006/main">
            <a:off x="590550" y="213360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7" name="">
            <a:extLst xmlns:a="http://schemas.openxmlformats.org/drawingml/2006/main">
              <a:ext uri="{FF2B5EF4-FFF2-40B4-BE49-F238E27FC236}">
                <a16:creationId xmlns:a16="http://schemas.microsoft.com/office/drawing/2014/main" id="{E3AD66CB-13A1-4CB9-A300-33620D161397}"/>
              </a:ext>
            </a:extLst>
          </p:cNvPr>
          <p:cNvSpPr>
            <a:spLocks xmlns:a="http://schemas.openxmlformats.org/drawingml/2006/main" noGrp="1"/>
          </p:cNvSpPr>
          <p:nvPr/>
        </p:nvSpPr>
        <p:spPr>
          <a:xfrm xmlns:a="http://schemas.openxmlformats.org/drawingml/2006/main">
            <a:off x="723900" y="2266950"/>
            <a:ext cx="323850" cy="323850"/>
          </a:xfrm>
          <a:prstGeom xmlns:a="http://schemas.openxmlformats.org/drawingml/2006/main" prst="roundRect">
            <a:avLst>
              <a:gd name="adj" fmla="val 50000"/>
            </a:avLst>
          </a:prstGeom>
          <a:solidFill xmlns:a="http://schemas.openxmlformats.org/drawingml/2006/main">
            <a:srgbClr val="4F5D75"/>
          </a:solidFill>
          <a:ln xmlns:a="http://schemas.openxmlformats.org/drawingml/2006/main" w="9525">
            <a:solidFill>
              <a:srgbClr val="4F5D75"/>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8" name="">
            <a:extLst xmlns:a="http://schemas.openxmlformats.org/drawingml/2006/main">
              <a:ext uri="{FF2B5EF4-FFF2-40B4-BE49-F238E27FC236}">
                <a16:creationId xmlns:a16="http://schemas.microsoft.com/office/drawing/2014/main" id="{A16BAFD9-71D5-4DBF-9B91-BEC9C140A102}"/>
              </a:ext>
            </a:extLst>
          </p:cNvPr>
          <p:cNvSpPr>
            <a:spLocks xmlns:a="http://schemas.openxmlformats.org/drawingml/2006/main" noGrp="1"/>
          </p:cNvSpPr>
          <p:nvPr/>
        </p:nvSpPr>
        <p:spPr>
          <a:xfrm xmlns:a="http://schemas.openxmlformats.org/drawingml/2006/main">
            <a:off x="1143000" y="22860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Prompt</a:t>
            </a:r>
          </a:p>
        </p:txBody>
      </p:sp>
      <p:sp>
        <p:nvSpPr>
          <p:cNvPr id="9" name="">
            <a:extLst xmlns:a="http://schemas.openxmlformats.org/drawingml/2006/main">
              <a:ext uri="{FF2B5EF4-FFF2-40B4-BE49-F238E27FC236}">
                <a16:creationId xmlns:a16="http://schemas.microsoft.com/office/drawing/2014/main" id="{8351B486-0128-4FAE-8985-71512DC42801}"/>
              </a:ext>
            </a:extLst>
          </p:cNvPr>
          <p:cNvSpPr>
            <a:spLocks xmlns:a="http://schemas.openxmlformats.org/drawingml/2006/main" noGrp="1"/>
          </p:cNvSpPr>
          <p:nvPr/>
        </p:nvSpPr>
        <p:spPr>
          <a:xfrm xmlns:a="http://schemas.openxmlformats.org/drawingml/2006/main">
            <a:off x="76200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Review a candidate</a:t>
            </a:r>
          </a:p>
        </p:txBody>
      </p:sp>
      <p:sp>
        <p:nvSpPr>
          <p:cNvPr id="10" name="">
            <a:extLst xmlns:a="http://schemas.openxmlformats.org/drawingml/2006/main">
              <a:ext uri="{FF2B5EF4-FFF2-40B4-BE49-F238E27FC236}">
                <a16:creationId xmlns:a16="http://schemas.microsoft.com/office/drawing/2014/main" id="{13FF5C7C-C90E-4C15-84E7-3E6D048EBC4D}"/>
              </a:ext>
            </a:extLst>
          </p:cNvPr>
          <p:cNvSpPr>
            <a:spLocks xmlns:a="http://schemas.openxmlformats.org/drawingml/2006/main" noGrp="1"/>
          </p:cNvSpPr>
          <p:nvPr/>
        </p:nvSpPr>
        <p:spPr>
          <a:xfrm xmlns:a="http://schemas.openxmlformats.org/drawingml/2006/main">
            <a:off x="2781300" y="213360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11" name="">
            <a:extLst xmlns:a="http://schemas.openxmlformats.org/drawingml/2006/main">
              <a:ext uri="{FF2B5EF4-FFF2-40B4-BE49-F238E27FC236}">
                <a16:creationId xmlns:a16="http://schemas.microsoft.com/office/drawing/2014/main" id="{E8AD948B-1D5E-4DEB-BA8E-9ED68EB13C55}"/>
              </a:ext>
            </a:extLst>
          </p:cNvPr>
          <p:cNvSpPr>
            <a:spLocks xmlns:a="http://schemas.openxmlformats.org/drawingml/2006/main" noGrp="1"/>
          </p:cNvSpPr>
          <p:nvPr/>
        </p:nvSpPr>
        <p:spPr>
          <a:xfrm xmlns:a="http://schemas.openxmlformats.org/drawingml/2006/main">
            <a:off x="2914650" y="2266950"/>
            <a:ext cx="323850" cy="323850"/>
          </a:xfrm>
          <a:prstGeom xmlns:a="http://schemas.openxmlformats.org/drawingml/2006/main" prst="roundRect">
            <a:avLst>
              <a:gd name="adj" fmla="val 50000"/>
            </a:avLst>
          </a:prstGeom>
          <a:solidFill xmlns:a="http://schemas.openxmlformats.org/drawingml/2006/main">
            <a:srgbClr val="2F6B4F"/>
          </a:solidFill>
          <a:ln xmlns:a="http://schemas.openxmlformats.org/drawingml/2006/main" w="9525">
            <a:solidFill>
              <a:srgbClr val="2F6B4F"/>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2" name="">
            <a:extLst xmlns:a="http://schemas.openxmlformats.org/drawingml/2006/main">
              <a:ext uri="{FF2B5EF4-FFF2-40B4-BE49-F238E27FC236}">
                <a16:creationId xmlns:a16="http://schemas.microsoft.com/office/drawing/2014/main" id="{B52CFAAD-4B64-4B33-8FCF-9A7D80CACBB2}"/>
              </a:ext>
            </a:extLst>
          </p:cNvPr>
          <p:cNvSpPr>
            <a:spLocks xmlns:a="http://schemas.openxmlformats.org/drawingml/2006/main" noGrp="1"/>
          </p:cNvSpPr>
          <p:nvPr/>
        </p:nvSpPr>
        <p:spPr>
          <a:xfrm xmlns:a="http://schemas.openxmlformats.org/drawingml/2006/main">
            <a:off x="3333750" y="22860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Agent routes</a:t>
            </a:r>
          </a:p>
        </p:txBody>
      </p:sp>
      <p:sp>
        <p:nvSpPr>
          <p:cNvPr id="13" name="">
            <a:extLst xmlns:a="http://schemas.openxmlformats.org/drawingml/2006/main">
              <a:ext uri="{FF2B5EF4-FFF2-40B4-BE49-F238E27FC236}">
                <a16:creationId xmlns:a16="http://schemas.microsoft.com/office/drawing/2014/main" id="{5ED6136A-F0FB-4FFE-B2E0-BBE3A162695E}"/>
              </a:ext>
            </a:extLst>
          </p:cNvPr>
          <p:cNvSpPr>
            <a:spLocks xmlns:a="http://schemas.openxmlformats.org/drawingml/2006/main" noGrp="1"/>
          </p:cNvSpPr>
          <p:nvPr/>
        </p:nvSpPr>
        <p:spPr>
          <a:xfrm xmlns:a="http://schemas.openxmlformats.org/drawingml/2006/main">
            <a:off x="295275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Selects safe tools</a:t>
            </a:r>
          </a:p>
        </p:txBody>
      </p:sp>
      <p:sp>
        <p:nvSpPr>
          <p:cNvPr id="14" name="">
            <a:extLst xmlns:a="http://schemas.openxmlformats.org/drawingml/2006/main">
              <a:ext uri="{FF2B5EF4-FFF2-40B4-BE49-F238E27FC236}">
                <a16:creationId xmlns:a16="http://schemas.microsoft.com/office/drawing/2014/main" id="{D68B3048-A8C9-4D18-9845-B781C70F6B61}"/>
              </a:ext>
            </a:extLst>
          </p:cNvPr>
          <p:cNvSpPr>
            <a:spLocks xmlns:a="http://schemas.openxmlformats.org/drawingml/2006/main" noGrp="1"/>
          </p:cNvSpPr>
          <p:nvPr/>
        </p:nvSpPr>
        <p:spPr>
          <a:xfrm xmlns:a="http://schemas.openxmlformats.org/drawingml/2006/main">
            <a:off x="4972050" y="213360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15" name="">
            <a:extLst xmlns:a="http://schemas.openxmlformats.org/drawingml/2006/main">
              <a:ext uri="{FF2B5EF4-FFF2-40B4-BE49-F238E27FC236}">
                <a16:creationId xmlns:a16="http://schemas.microsoft.com/office/drawing/2014/main" id="{474E911B-DB0C-4B5A-978D-629D1B9B6FA0}"/>
              </a:ext>
            </a:extLst>
          </p:cNvPr>
          <p:cNvSpPr>
            <a:spLocks xmlns:a="http://schemas.openxmlformats.org/drawingml/2006/main" noGrp="1"/>
          </p:cNvSpPr>
          <p:nvPr/>
        </p:nvSpPr>
        <p:spPr>
          <a:xfrm xmlns:a="http://schemas.openxmlformats.org/drawingml/2006/main">
            <a:off x="5105400" y="2266950"/>
            <a:ext cx="323850" cy="323850"/>
          </a:xfrm>
          <a:prstGeom xmlns:a="http://schemas.openxmlformats.org/drawingml/2006/main" prst="roundRect">
            <a:avLst>
              <a:gd name="adj" fmla="val 50000"/>
            </a:avLst>
          </a:prstGeom>
          <a:solidFill xmlns:a="http://schemas.openxmlformats.org/drawingml/2006/main">
            <a:srgbClr val="5B8C5A"/>
          </a:solidFill>
          <a:ln xmlns:a="http://schemas.openxmlformats.org/drawingml/2006/main" w="9525">
            <a:solidFill>
              <a:srgbClr val="5B8C5A"/>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6" name="">
            <a:extLst xmlns:a="http://schemas.openxmlformats.org/drawingml/2006/main">
              <a:ext uri="{FF2B5EF4-FFF2-40B4-BE49-F238E27FC236}">
                <a16:creationId xmlns:a16="http://schemas.microsoft.com/office/drawing/2014/main" id="{3A2C507E-1AE1-491F-97B7-181A6AAD772D}"/>
              </a:ext>
            </a:extLst>
          </p:cNvPr>
          <p:cNvSpPr>
            <a:spLocks xmlns:a="http://schemas.openxmlformats.org/drawingml/2006/main" noGrp="1"/>
          </p:cNvSpPr>
          <p:nvPr/>
        </p:nvSpPr>
        <p:spPr>
          <a:xfrm xmlns:a="http://schemas.openxmlformats.org/drawingml/2006/main">
            <a:off x="5524500" y="22860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Gather evidence</a:t>
            </a:r>
          </a:p>
        </p:txBody>
      </p:sp>
      <p:sp>
        <p:nvSpPr>
          <p:cNvPr id="17" name="">
            <a:extLst xmlns:a="http://schemas.openxmlformats.org/drawingml/2006/main">
              <a:ext uri="{FF2B5EF4-FFF2-40B4-BE49-F238E27FC236}">
                <a16:creationId xmlns:a16="http://schemas.microsoft.com/office/drawing/2014/main" id="{FCB29784-01E5-4602-9630-755960E6C40E}"/>
              </a:ext>
            </a:extLst>
          </p:cNvPr>
          <p:cNvSpPr>
            <a:spLocks xmlns:a="http://schemas.openxmlformats.org/drawingml/2006/main" noGrp="1"/>
          </p:cNvSpPr>
          <p:nvPr/>
        </p:nvSpPr>
        <p:spPr>
          <a:xfrm xmlns:a="http://schemas.openxmlformats.org/drawingml/2006/main">
            <a:off x="514350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Factors + patterns</a:t>
            </a:r>
          </a:p>
        </p:txBody>
      </p:sp>
      <p:sp>
        <p:nvSpPr>
          <p:cNvPr id="18" name="">
            <a:extLst xmlns:a="http://schemas.openxmlformats.org/drawingml/2006/main">
              <a:ext uri="{FF2B5EF4-FFF2-40B4-BE49-F238E27FC236}">
                <a16:creationId xmlns:a16="http://schemas.microsoft.com/office/drawing/2014/main" id="{601D8E4D-DE09-4752-A98C-B5A675C2DDA0}"/>
              </a:ext>
            </a:extLst>
          </p:cNvPr>
          <p:cNvSpPr>
            <a:spLocks xmlns:a="http://schemas.openxmlformats.org/drawingml/2006/main" noGrp="1"/>
          </p:cNvSpPr>
          <p:nvPr/>
        </p:nvSpPr>
        <p:spPr>
          <a:xfrm xmlns:a="http://schemas.openxmlformats.org/drawingml/2006/main">
            <a:off x="7162800" y="213360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19" name="">
            <a:extLst xmlns:a="http://schemas.openxmlformats.org/drawingml/2006/main">
              <a:ext uri="{FF2B5EF4-FFF2-40B4-BE49-F238E27FC236}">
                <a16:creationId xmlns:a16="http://schemas.microsoft.com/office/drawing/2014/main" id="{DFA8F3DC-038B-4478-A2F2-EDBCF9A10608}"/>
              </a:ext>
            </a:extLst>
          </p:cNvPr>
          <p:cNvSpPr>
            <a:spLocks xmlns:a="http://schemas.openxmlformats.org/drawingml/2006/main" noGrp="1"/>
          </p:cNvSpPr>
          <p:nvPr/>
        </p:nvSpPr>
        <p:spPr>
          <a:xfrm xmlns:a="http://schemas.openxmlformats.org/drawingml/2006/main">
            <a:off x="7296150" y="2266950"/>
            <a:ext cx="323850" cy="323850"/>
          </a:xfrm>
          <a:prstGeom xmlns:a="http://schemas.openxmlformats.org/drawingml/2006/main" prst="roundRect">
            <a:avLst>
              <a:gd name="adj" fmla="val 50000"/>
            </a:avLst>
          </a:prstGeom>
          <a:solidFill xmlns:a="http://schemas.openxmlformats.org/drawingml/2006/main">
            <a:srgbClr val="4F5D75"/>
          </a:solidFill>
          <a:ln xmlns:a="http://schemas.openxmlformats.org/drawingml/2006/main" w="9525">
            <a:solidFill>
              <a:srgbClr val="4F5D75"/>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0" name="">
            <a:extLst xmlns:a="http://schemas.openxmlformats.org/drawingml/2006/main">
              <a:ext uri="{FF2B5EF4-FFF2-40B4-BE49-F238E27FC236}">
                <a16:creationId xmlns:a16="http://schemas.microsoft.com/office/drawing/2014/main" id="{5CE7ECAC-B4E2-4354-B63B-9E890A6310DE}"/>
              </a:ext>
            </a:extLst>
          </p:cNvPr>
          <p:cNvSpPr>
            <a:spLocks xmlns:a="http://schemas.openxmlformats.org/drawingml/2006/main" noGrp="1"/>
          </p:cNvSpPr>
          <p:nvPr/>
        </p:nvSpPr>
        <p:spPr>
          <a:xfrm xmlns:a="http://schemas.openxmlformats.org/drawingml/2006/main">
            <a:off x="7715250" y="22860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Explain</a:t>
            </a:r>
          </a:p>
        </p:txBody>
      </p:sp>
      <p:sp>
        <p:nvSpPr>
          <p:cNvPr id="21" name="">
            <a:extLst xmlns:a="http://schemas.openxmlformats.org/drawingml/2006/main">
              <a:ext uri="{FF2B5EF4-FFF2-40B4-BE49-F238E27FC236}">
                <a16:creationId xmlns:a16="http://schemas.microsoft.com/office/drawing/2014/main" id="{6F5F3E19-042A-422D-8C9E-BAA0C0375625}"/>
              </a:ext>
            </a:extLst>
          </p:cNvPr>
          <p:cNvSpPr>
            <a:spLocks xmlns:a="http://schemas.openxmlformats.org/drawingml/2006/main" noGrp="1"/>
          </p:cNvSpPr>
          <p:nvPr/>
        </p:nvSpPr>
        <p:spPr>
          <a:xfrm xmlns:a="http://schemas.openxmlformats.org/drawingml/2006/main">
            <a:off x="733425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Counterevidence + citations</a:t>
            </a:r>
          </a:p>
        </p:txBody>
      </p:sp>
      <p:sp>
        <p:nvSpPr>
          <p:cNvPr id="22" name="">
            <a:extLst xmlns:a="http://schemas.openxmlformats.org/drawingml/2006/main">
              <a:ext uri="{FF2B5EF4-FFF2-40B4-BE49-F238E27FC236}">
                <a16:creationId xmlns:a16="http://schemas.microsoft.com/office/drawing/2014/main" id="{756B8BB8-2A4C-472A-8400-6926C122271C}"/>
              </a:ext>
            </a:extLst>
          </p:cNvPr>
          <p:cNvSpPr>
            <a:spLocks xmlns:a="http://schemas.openxmlformats.org/drawingml/2006/main" noGrp="1"/>
          </p:cNvSpPr>
          <p:nvPr/>
        </p:nvSpPr>
        <p:spPr>
          <a:xfrm xmlns:a="http://schemas.openxmlformats.org/drawingml/2006/main">
            <a:off x="9353550" y="213360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23" name="">
            <a:extLst xmlns:a="http://schemas.openxmlformats.org/drawingml/2006/main">
              <a:ext uri="{FF2B5EF4-FFF2-40B4-BE49-F238E27FC236}">
                <a16:creationId xmlns:a16="http://schemas.microsoft.com/office/drawing/2014/main" id="{C40DAD3A-AFDD-412D-90D3-5456745EED88}"/>
              </a:ext>
            </a:extLst>
          </p:cNvPr>
          <p:cNvSpPr>
            <a:spLocks xmlns:a="http://schemas.openxmlformats.org/drawingml/2006/main" noGrp="1"/>
          </p:cNvSpPr>
          <p:nvPr/>
        </p:nvSpPr>
        <p:spPr>
          <a:xfrm xmlns:a="http://schemas.openxmlformats.org/drawingml/2006/main">
            <a:off x="9486900" y="2266950"/>
            <a:ext cx="323850" cy="323850"/>
          </a:xfrm>
          <a:prstGeom xmlns:a="http://schemas.openxmlformats.org/drawingml/2006/main" prst="roundRect">
            <a:avLst>
              <a:gd name="adj" fmla="val 50000"/>
            </a:avLst>
          </a:prstGeom>
          <a:solidFill xmlns:a="http://schemas.openxmlformats.org/drawingml/2006/main">
            <a:srgbClr val="2F6B4F"/>
          </a:solidFill>
          <a:ln xmlns:a="http://schemas.openxmlformats.org/drawingml/2006/main" w="9525">
            <a:solidFill>
              <a:srgbClr val="2F6B4F"/>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5</a:t>
            </a:r>
          </a:p>
        </p:txBody>
      </p:sp>
      <p:sp>
        <p:nvSpPr>
          <p:cNvPr id="24" name="">
            <a:extLst xmlns:a="http://schemas.openxmlformats.org/drawingml/2006/main">
              <a:ext uri="{FF2B5EF4-FFF2-40B4-BE49-F238E27FC236}">
                <a16:creationId xmlns:a16="http://schemas.microsoft.com/office/drawing/2014/main" id="{D1E37CFE-97CB-4DC6-8608-78461C10EDFD}"/>
              </a:ext>
            </a:extLst>
          </p:cNvPr>
          <p:cNvSpPr>
            <a:spLocks xmlns:a="http://schemas.openxmlformats.org/drawingml/2006/main" noGrp="1"/>
          </p:cNvSpPr>
          <p:nvPr/>
        </p:nvSpPr>
        <p:spPr>
          <a:xfrm xmlns:a="http://schemas.openxmlformats.org/drawingml/2006/main">
            <a:off x="9906000" y="228600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Draft strategy</a:t>
            </a:r>
          </a:p>
        </p:txBody>
      </p:sp>
      <p:sp>
        <p:nvSpPr>
          <p:cNvPr id="25" name="">
            <a:extLst xmlns:a="http://schemas.openxmlformats.org/drawingml/2006/main">
              <a:ext uri="{FF2B5EF4-FFF2-40B4-BE49-F238E27FC236}">
                <a16:creationId xmlns:a16="http://schemas.microsoft.com/office/drawing/2014/main" id="{4939C317-9D8C-4DCB-9F1D-768865CD3754}"/>
              </a:ext>
            </a:extLst>
          </p:cNvPr>
          <p:cNvSpPr>
            <a:spLocks xmlns:a="http://schemas.openxmlformats.org/drawingml/2006/main" noGrp="1"/>
          </p:cNvSpPr>
          <p:nvPr/>
        </p:nvSpPr>
        <p:spPr>
          <a:xfrm xmlns:a="http://schemas.openxmlformats.org/drawingml/2006/main">
            <a:off x="952500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No execution</a:t>
            </a:r>
          </a:p>
        </p:txBody>
      </p:sp>
      <p:sp>
        <p:nvSpPr>
          <p:cNvPr id="26" name="">
            <a:extLst xmlns:a="http://schemas.openxmlformats.org/drawingml/2006/main">
              <a:ext uri="{FF2B5EF4-FFF2-40B4-BE49-F238E27FC236}">
                <a16:creationId xmlns:a16="http://schemas.microsoft.com/office/drawing/2014/main" id="{D6622919-829B-43B5-92D1-C9698DF7DC48}"/>
              </a:ext>
            </a:extLst>
          </p:cNvPr>
          <p:cNvSpPr>
            <a:spLocks xmlns:a="http://schemas.openxmlformats.org/drawingml/2006/main" noGrp="1"/>
          </p:cNvSpPr>
          <p:nvPr/>
        </p:nvSpPr>
        <p:spPr>
          <a:xfrm xmlns:a="http://schemas.openxmlformats.org/drawingml/2006/main">
            <a:off x="590550" y="409575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27" name="">
            <a:extLst xmlns:a="http://schemas.openxmlformats.org/drawingml/2006/main">
              <a:ext uri="{FF2B5EF4-FFF2-40B4-BE49-F238E27FC236}">
                <a16:creationId xmlns:a16="http://schemas.microsoft.com/office/drawing/2014/main" id="{79041784-BD6C-488C-AEB8-70B6A6802C6F}"/>
              </a:ext>
            </a:extLst>
          </p:cNvPr>
          <p:cNvSpPr>
            <a:spLocks xmlns:a="http://schemas.openxmlformats.org/drawingml/2006/main" noGrp="1"/>
          </p:cNvSpPr>
          <p:nvPr/>
        </p:nvSpPr>
        <p:spPr>
          <a:xfrm xmlns:a="http://schemas.openxmlformats.org/drawingml/2006/main">
            <a:off x="723900" y="4229100"/>
            <a:ext cx="323850" cy="323850"/>
          </a:xfrm>
          <a:prstGeom xmlns:a="http://schemas.openxmlformats.org/drawingml/2006/main" prst="roundRect">
            <a:avLst>
              <a:gd name="adj" fmla="val 50000"/>
            </a:avLst>
          </a:prstGeom>
          <a:solidFill xmlns:a="http://schemas.openxmlformats.org/drawingml/2006/main">
            <a:srgbClr val="5B8C5A"/>
          </a:solidFill>
          <a:ln xmlns:a="http://schemas.openxmlformats.org/drawingml/2006/main" w="9525">
            <a:solidFill>
              <a:srgbClr val="5B8C5A"/>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6</a:t>
            </a:r>
          </a:p>
        </p:txBody>
      </p:sp>
      <p:sp>
        <p:nvSpPr>
          <p:cNvPr id="28" name="">
            <a:extLst xmlns:a="http://schemas.openxmlformats.org/drawingml/2006/main">
              <a:ext uri="{FF2B5EF4-FFF2-40B4-BE49-F238E27FC236}">
                <a16:creationId xmlns:a16="http://schemas.microsoft.com/office/drawing/2014/main" id="{DE6DAF97-9D25-4909-B049-963638F09387}"/>
              </a:ext>
            </a:extLst>
          </p:cNvPr>
          <p:cNvSpPr>
            <a:spLocks xmlns:a="http://schemas.openxmlformats.org/drawingml/2006/main" noGrp="1"/>
          </p:cNvSpPr>
          <p:nvPr/>
        </p:nvSpPr>
        <p:spPr>
          <a:xfrm xmlns:a="http://schemas.openxmlformats.org/drawingml/2006/main">
            <a:off x="1143000" y="42481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Backtest</a:t>
            </a:r>
          </a:p>
        </p:txBody>
      </p:sp>
      <p:sp>
        <p:nvSpPr>
          <p:cNvPr id="29" name="">
            <a:extLst xmlns:a="http://schemas.openxmlformats.org/drawingml/2006/main">
              <a:ext uri="{FF2B5EF4-FFF2-40B4-BE49-F238E27FC236}">
                <a16:creationId xmlns:a16="http://schemas.microsoft.com/office/drawing/2014/main" id="{16E58875-2B88-4836-B79B-E041931FB046}"/>
              </a:ext>
            </a:extLst>
          </p:cNvPr>
          <p:cNvSpPr>
            <a:spLocks xmlns:a="http://schemas.openxmlformats.org/drawingml/2006/main" noGrp="1"/>
          </p:cNvSpPr>
          <p:nvPr/>
        </p:nvSpPr>
        <p:spPr>
          <a:xfrm xmlns:a="http://schemas.openxmlformats.org/drawingml/2006/main">
            <a:off x="762000" y="4705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Simulated evidence</a:t>
            </a:r>
          </a:p>
        </p:txBody>
      </p:sp>
      <p:sp>
        <p:nvSpPr>
          <p:cNvPr id="30" name="">
            <a:extLst xmlns:a="http://schemas.openxmlformats.org/drawingml/2006/main">
              <a:ext uri="{FF2B5EF4-FFF2-40B4-BE49-F238E27FC236}">
                <a16:creationId xmlns:a16="http://schemas.microsoft.com/office/drawing/2014/main" id="{3CF7B401-3DB4-4AB5-A675-533EEA2C685C}"/>
              </a:ext>
            </a:extLst>
          </p:cNvPr>
          <p:cNvSpPr>
            <a:spLocks xmlns:a="http://schemas.openxmlformats.org/drawingml/2006/main" noGrp="1"/>
          </p:cNvSpPr>
          <p:nvPr/>
        </p:nvSpPr>
        <p:spPr>
          <a:xfrm xmlns:a="http://schemas.openxmlformats.org/drawingml/2006/main">
            <a:off x="2781300" y="409575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31" name="">
            <a:extLst xmlns:a="http://schemas.openxmlformats.org/drawingml/2006/main">
              <a:ext uri="{FF2B5EF4-FFF2-40B4-BE49-F238E27FC236}">
                <a16:creationId xmlns:a16="http://schemas.microsoft.com/office/drawing/2014/main" id="{46C31C5B-625C-4CE6-8197-351716829BAF}"/>
              </a:ext>
            </a:extLst>
          </p:cNvPr>
          <p:cNvSpPr>
            <a:spLocks xmlns:a="http://schemas.openxmlformats.org/drawingml/2006/main" noGrp="1"/>
          </p:cNvSpPr>
          <p:nvPr/>
        </p:nvSpPr>
        <p:spPr>
          <a:xfrm xmlns:a="http://schemas.openxmlformats.org/drawingml/2006/main">
            <a:off x="2914650" y="4229100"/>
            <a:ext cx="323850" cy="323850"/>
          </a:xfrm>
          <a:prstGeom xmlns:a="http://schemas.openxmlformats.org/drawingml/2006/main" prst="roundRect">
            <a:avLst>
              <a:gd name="adj" fmla="val 50000"/>
            </a:avLst>
          </a:prstGeom>
          <a:solidFill xmlns:a="http://schemas.openxmlformats.org/drawingml/2006/main">
            <a:srgbClr val="C67C2E"/>
          </a:solidFill>
          <a:ln xmlns:a="http://schemas.openxmlformats.org/drawingml/2006/main" w="9525">
            <a:solidFill>
              <a:srgbClr val="C67C2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7</a:t>
            </a:r>
          </a:p>
        </p:txBody>
      </p:sp>
      <p:sp>
        <p:nvSpPr>
          <p:cNvPr id="32" name="">
            <a:extLst xmlns:a="http://schemas.openxmlformats.org/drawingml/2006/main">
              <a:ext uri="{FF2B5EF4-FFF2-40B4-BE49-F238E27FC236}">
                <a16:creationId xmlns:a16="http://schemas.microsoft.com/office/drawing/2014/main" id="{14401674-0AF7-4F73-80AD-2D8229B43899}"/>
              </a:ext>
            </a:extLst>
          </p:cNvPr>
          <p:cNvSpPr>
            <a:spLocks xmlns:a="http://schemas.openxmlformats.org/drawingml/2006/main" noGrp="1"/>
          </p:cNvSpPr>
          <p:nvPr/>
        </p:nvSpPr>
        <p:spPr>
          <a:xfrm xmlns:a="http://schemas.openxmlformats.org/drawingml/2006/main">
            <a:off x="3333750" y="42481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Human approval</a:t>
            </a:r>
          </a:p>
        </p:txBody>
      </p:sp>
      <p:sp>
        <p:nvSpPr>
          <p:cNvPr id="33" name="">
            <a:extLst xmlns:a="http://schemas.openxmlformats.org/drawingml/2006/main">
              <a:ext uri="{FF2B5EF4-FFF2-40B4-BE49-F238E27FC236}">
                <a16:creationId xmlns:a16="http://schemas.microsoft.com/office/drawing/2014/main" id="{1E04386D-2898-4DB5-8900-6683F7CAD3A2}"/>
              </a:ext>
            </a:extLst>
          </p:cNvPr>
          <p:cNvSpPr>
            <a:spLocks xmlns:a="http://schemas.openxmlformats.org/drawingml/2006/main" noGrp="1"/>
          </p:cNvSpPr>
          <p:nvPr/>
        </p:nvSpPr>
        <p:spPr>
          <a:xfrm xmlns:a="http://schemas.openxmlformats.org/drawingml/2006/main">
            <a:off x="2952750" y="4705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Explicit decision</a:t>
            </a:r>
          </a:p>
        </p:txBody>
      </p:sp>
      <p:sp>
        <p:nvSpPr>
          <p:cNvPr id="34" name="">
            <a:extLst xmlns:a="http://schemas.openxmlformats.org/drawingml/2006/main">
              <a:ext uri="{FF2B5EF4-FFF2-40B4-BE49-F238E27FC236}">
                <a16:creationId xmlns:a16="http://schemas.microsoft.com/office/drawing/2014/main" id="{7FE51B14-AB34-4A0A-B9B9-96F5BCB949B5}"/>
              </a:ext>
            </a:extLst>
          </p:cNvPr>
          <p:cNvSpPr>
            <a:spLocks xmlns:a="http://schemas.openxmlformats.org/drawingml/2006/main" noGrp="1"/>
          </p:cNvSpPr>
          <p:nvPr/>
        </p:nvSpPr>
        <p:spPr>
          <a:xfrm xmlns:a="http://schemas.openxmlformats.org/drawingml/2006/main">
            <a:off x="4972050" y="409575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35" name="">
            <a:extLst xmlns:a="http://schemas.openxmlformats.org/drawingml/2006/main">
              <a:ext uri="{FF2B5EF4-FFF2-40B4-BE49-F238E27FC236}">
                <a16:creationId xmlns:a16="http://schemas.microsoft.com/office/drawing/2014/main" id="{0A483597-42D4-4E11-B021-8FC83581DC09}"/>
              </a:ext>
            </a:extLst>
          </p:cNvPr>
          <p:cNvSpPr>
            <a:spLocks xmlns:a="http://schemas.openxmlformats.org/drawingml/2006/main" noGrp="1"/>
          </p:cNvSpPr>
          <p:nvPr/>
        </p:nvSpPr>
        <p:spPr>
          <a:xfrm xmlns:a="http://schemas.openxmlformats.org/drawingml/2006/main">
            <a:off x="5105400" y="4229100"/>
            <a:ext cx="323850" cy="323850"/>
          </a:xfrm>
          <a:prstGeom xmlns:a="http://schemas.openxmlformats.org/drawingml/2006/main" prst="roundRect">
            <a:avLst>
              <a:gd name="adj" fmla="val 50000"/>
            </a:avLst>
          </a:prstGeom>
          <a:solidFill xmlns:a="http://schemas.openxmlformats.org/drawingml/2006/main">
            <a:srgbClr val="C67C2E"/>
          </a:solidFill>
          <a:ln xmlns:a="http://schemas.openxmlformats.org/drawingml/2006/main" w="9525">
            <a:solidFill>
              <a:srgbClr val="C67C2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8</a:t>
            </a:r>
          </a:p>
        </p:txBody>
      </p:sp>
      <p:sp>
        <p:nvSpPr>
          <p:cNvPr id="36" name="">
            <a:extLst xmlns:a="http://schemas.openxmlformats.org/drawingml/2006/main">
              <a:ext uri="{FF2B5EF4-FFF2-40B4-BE49-F238E27FC236}">
                <a16:creationId xmlns:a16="http://schemas.microsoft.com/office/drawing/2014/main" id="{CF3FDABE-7F17-4C8D-B55C-C066D0A0EF00}"/>
              </a:ext>
            </a:extLst>
          </p:cNvPr>
          <p:cNvSpPr>
            <a:spLocks xmlns:a="http://schemas.openxmlformats.org/drawingml/2006/main" noGrp="1"/>
          </p:cNvSpPr>
          <p:nvPr/>
        </p:nvSpPr>
        <p:spPr>
          <a:xfrm xmlns:a="http://schemas.openxmlformats.org/drawingml/2006/main">
            <a:off x="5524500" y="42481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Simulated fill</a:t>
            </a:r>
          </a:p>
        </p:txBody>
      </p:sp>
      <p:sp>
        <p:nvSpPr>
          <p:cNvPr id="37" name="">
            <a:extLst xmlns:a="http://schemas.openxmlformats.org/drawingml/2006/main">
              <a:ext uri="{FF2B5EF4-FFF2-40B4-BE49-F238E27FC236}">
                <a16:creationId xmlns:a16="http://schemas.microsoft.com/office/drawing/2014/main" id="{DBBC8D57-DC41-41CF-86BA-815DF7991A03}"/>
              </a:ext>
            </a:extLst>
          </p:cNvPr>
          <p:cNvSpPr>
            <a:spLocks xmlns:a="http://schemas.openxmlformats.org/drawingml/2006/main" noGrp="1"/>
          </p:cNvSpPr>
          <p:nvPr/>
        </p:nvSpPr>
        <p:spPr>
          <a:xfrm xmlns:a="http://schemas.openxmlformats.org/drawingml/2006/main">
            <a:off x="5143500" y="4705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Paper ledger only</a:t>
            </a:r>
          </a:p>
        </p:txBody>
      </p:sp>
      <p:sp>
        <p:nvSpPr>
          <p:cNvPr id="38" name="">
            <a:extLst xmlns:a="http://schemas.openxmlformats.org/drawingml/2006/main">
              <a:ext uri="{FF2B5EF4-FFF2-40B4-BE49-F238E27FC236}">
                <a16:creationId xmlns:a16="http://schemas.microsoft.com/office/drawing/2014/main" id="{2620B162-52CC-43E3-A8E2-9E8F4D8F23D1}"/>
              </a:ext>
            </a:extLst>
          </p:cNvPr>
          <p:cNvSpPr>
            <a:spLocks xmlns:a="http://schemas.openxmlformats.org/drawingml/2006/main" noGrp="1"/>
          </p:cNvSpPr>
          <p:nvPr/>
        </p:nvSpPr>
        <p:spPr>
          <a:xfrm xmlns:a="http://schemas.openxmlformats.org/drawingml/2006/main">
            <a:off x="7162800" y="4095750"/>
            <a:ext cx="1809750" cy="1104900"/>
          </a:xfrm>
          <a:prstGeom xmlns:a="http://schemas.openxmlformats.org/drawingml/2006/main" prst="roundRect">
            <a:avLst>
              <a:gd name="adj" fmla="val 8621"/>
            </a:avLst>
          </a:prstGeom>
          <a:solidFill xmlns:a="http://schemas.openxmlformats.org/drawingml/2006/main">
            <a:srgbClr val="24282D"/>
          </a:solidFill>
          <a:ln xmlns:a="http://schemas.openxmlformats.org/drawingml/2006/main" w="9525">
            <a:solidFill>
              <a:srgbClr val="334155"/>
            </a:solidFill>
            <a:prstDash val="solid"/>
          </a:ln>
        </p:spPr>
      </p:sp>
      <p:sp>
        <p:nvSpPr>
          <p:cNvPr id="39" name="">
            <a:extLst xmlns:a="http://schemas.openxmlformats.org/drawingml/2006/main">
              <a:ext uri="{FF2B5EF4-FFF2-40B4-BE49-F238E27FC236}">
                <a16:creationId xmlns:a16="http://schemas.microsoft.com/office/drawing/2014/main" id="{6B829696-46CC-4D9C-9EA1-26FB578E2C8E}"/>
              </a:ext>
            </a:extLst>
          </p:cNvPr>
          <p:cNvSpPr>
            <a:spLocks xmlns:a="http://schemas.openxmlformats.org/drawingml/2006/main" noGrp="1"/>
          </p:cNvSpPr>
          <p:nvPr/>
        </p:nvSpPr>
        <p:spPr>
          <a:xfrm xmlns:a="http://schemas.openxmlformats.org/drawingml/2006/main">
            <a:off x="7296150" y="4229100"/>
            <a:ext cx="323850" cy="323850"/>
          </a:xfrm>
          <a:prstGeom xmlns:a="http://schemas.openxmlformats.org/drawingml/2006/main" prst="roundRect">
            <a:avLst>
              <a:gd name="adj" fmla="val 50000"/>
            </a:avLst>
          </a:prstGeom>
          <a:solidFill xmlns:a="http://schemas.openxmlformats.org/drawingml/2006/main">
            <a:srgbClr val="5B8C5A"/>
          </a:solidFill>
          <a:ln xmlns:a="http://schemas.openxmlformats.org/drawingml/2006/main" w="9525">
            <a:solidFill>
              <a:srgbClr val="5B8C5A"/>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9</a:t>
            </a:r>
          </a:p>
        </p:txBody>
      </p:sp>
      <p:sp>
        <p:nvSpPr>
          <p:cNvPr id="40" name="">
            <a:extLst xmlns:a="http://schemas.openxmlformats.org/drawingml/2006/main">
              <a:ext uri="{FF2B5EF4-FFF2-40B4-BE49-F238E27FC236}">
                <a16:creationId xmlns:a16="http://schemas.microsoft.com/office/drawing/2014/main" id="{F522E6D7-9CFE-4F9D-B83A-C5C518286E74}"/>
              </a:ext>
            </a:extLst>
          </p:cNvPr>
          <p:cNvSpPr>
            <a:spLocks xmlns:a="http://schemas.openxmlformats.org/drawingml/2006/main" noGrp="1"/>
          </p:cNvSpPr>
          <p:nvPr/>
        </p:nvSpPr>
        <p:spPr>
          <a:xfrm xmlns:a="http://schemas.openxmlformats.org/drawingml/2006/main">
            <a:off x="7715250" y="42481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Report + audit</a:t>
            </a:r>
          </a:p>
        </p:txBody>
      </p:sp>
      <p:sp>
        <p:nvSpPr>
          <p:cNvPr id="41" name="">
            <a:extLst xmlns:a="http://schemas.openxmlformats.org/drawingml/2006/main">
              <a:ext uri="{FF2B5EF4-FFF2-40B4-BE49-F238E27FC236}">
                <a16:creationId xmlns:a16="http://schemas.microsoft.com/office/drawing/2014/main" id="{8DE9F504-1CD6-444D-BD0B-F1EE83E1C89F}"/>
              </a:ext>
            </a:extLst>
          </p:cNvPr>
          <p:cNvSpPr>
            <a:spLocks xmlns:a="http://schemas.openxmlformats.org/drawingml/2006/main" noGrp="1"/>
          </p:cNvSpPr>
          <p:nvPr/>
        </p:nvSpPr>
        <p:spPr>
          <a:xfrm xmlns:a="http://schemas.openxmlformats.org/drawingml/2006/main">
            <a:off x="7334250" y="4705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4A3B8"/>
                </a:solidFill>
              </a:defRPr>
            </a:pPr>
            <a:r>
              <a:rPr sz="1050" b="0">
                <a:solidFill>
                  <a:srgbClr val="94A3B8"/>
                </a:solidFill>
              </a:rPr>
              <a:t>Redacted trace</a:t>
            </a:r>
          </a:p>
        </p:txBody>
      </p:sp>
      <p:cxnSp>
        <p:nvCxnSpPr>
          <p:cNvPr id="96" name=""/>
          <p:cNvCxnSpPr>
            <a:stCxn xmlns:a="http://schemas.openxmlformats.org/drawingml/2006/main" id="6" idx="3"/>
            <a:endCxn xmlns:a="http://schemas.openxmlformats.org/drawingml/2006/main" id="10" idx="1"/>
          </p:cNvCxnSpPr>
          <p:nvPr/>
        </p:nvCxnSpPr>
        <p:spPr>
          <a:xfrm xmlns:a="http://schemas.openxmlformats.org/drawingml/2006/main">
            <a:off x="2400300" y="268605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97" name=""/>
          <p:cNvCxnSpPr>
            <a:stCxn xmlns:a="http://schemas.openxmlformats.org/drawingml/2006/main" id="10" idx="3"/>
            <a:endCxn xmlns:a="http://schemas.openxmlformats.org/drawingml/2006/main" id="14" idx="1"/>
          </p:cNvCxnSpPr>
          <p:nvPr/>
        </p:nvCxnSpPr>
        <p:spPr>
          <a:xfrm xmlns:a="http://schemas.openxmlformats.org/drawingml/2006/main">
            <a:off x="4591050" y="268605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98" name=""/>
          <p:cNvCxnSpPr>
            <a:stCxn xmlns:a="http://schemas.openxmlformats.org/drawingml/2006/main" id="14" idx="3"/>
            <a:endCxn xmlns:a="http://schemas.openxmlformats.org/drawingml/2006/main" id="18" idx="1"/>
          </p:cNvCxnSpPr>
          <p:nvPr/>
        </p:nvCxnSpPr>
        <p:spPr>
          <a:xfrm xmlns:a="http://schemas.openxmlformats.org/drawingml/2006/main">
            <a:off x="6781800" y="268605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99" name=""/>
          <p:cNvCxnSpPr>
            <a:stCxn xmlns:a="http://schemas.openxmlformats.org/drawingml/2006/main" id="18" idx="3"/>
            <a:endCxn xmlns:a="http://schemas.openxmlformats.org/drawingml/2006/main" id="22" idx="1"/>
          </p:cNvCxnSpPr>
          <p:nvPr/>
        </p:nvCxnSpPr>
        <p:spPr>
          <a:xfrm xmlns:a="http://schemas.openxmlformats.org/drawingml/2006/main">
            <a:off x="8972550" y="268605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100" name=""/>
          <p:cNvCxnSpPr>
            <a:stCxn xmlns:a="http://schemas.openxmlformats.org/drawingml/2006/main" id="22" idx="2"/>
            <a:endCxn xmlns:a="http://schemas.openxmlformats.org/drawingml/2006/main" id="26" idx="0"/>
          </p:cNvCxnSpPr>
          <p:nvPr/>
        </p:nvCxnSpPr>
        <p:spPr>
          <a:xfrm xmlns:a="http://schemas.openxmlformats.org/drawingml/2006/main" flipH="1">
            <a:off x="1495425" y="3238500"/>
            <a:ext cx="8763000" cy="857250"/>
          </a:xfrm>
          <a:prstGeom xmlns:a="http://schemas.openxmlformats.org/drawingml/2006/main" prst="bentConnector4">
            <a:avLst>
              <a:gd name="adj1" fmla="val 0"/>
              <a:gd name="adj2" fmla="val 50000"/>
            </a:avLst>
          </a:prstGeom>
          <a:ln xmlns:a="http://schemas.openxmlformats.org/drawingml/2006/main" w="19050">
            <a:solidFill>
              <a:srgbClr val="2F6B4F"/>
            </a:solidFill>
            <a:prstDash val="solid"/>
            <a:tailEnd type="triangle" w="sm" len="sm"/>
          </a:ln>
        </p:spPr>
      </p:cxnSp>
      <p:cxnSp>
        <p:nvCxnSpPr>
          <p:cNvPr id="101" name=""/>
          <p:cNvCxnSpPr>
            <a:stCxn xmlns:a="http://schemas.openxmlformats.org/drawingml/2006/main" id="26" idx="3"/>
            <a:endCxn xmlns:a="http://schemas.openxmlformats.org/drawingml/2006/main" id="30" idx="1"/>
          </p:cNvCxnSpPr>
          <p:nvPr/>
        </p:nvCxnSpPr>
        <p:spPr>
          <a:xfrm xmlns:a="http://schemas.openxmlformats.org/drawingml/2006/main">
            <a:off x="2400300" y="464820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102" name=""/>
          <p:cNvCxnSpPr>
            <a:stCxn xmlns:a="http://schemas.openxmlformats.org/drawingml/2006/main" id="30" idx="3"/>
            <a:endCxn xmlns:a="http://schemas.openxmlformats.org/drawingml/2006/main" id="34" idx="1"/>
          </p:cNvCxnSpPr>
          <p:nvPr/>
        </p:nvCxnSpPr>
        <p:spPr>
          <a:xfrm xmlns:a="http://schemas.openxmlformats.org/drawingml/2006/main">
            <a:off x="4591050" y="4648200"/>
            <a:ext cx="381000" cy="0"/>
          </a:xfrm>
          <a:prstGeom xmlns:a="http://schemas.openxmlformats.org/drawingml/2006/main" prst="straightConnector1">
            <a:avLst/>
          </a:prstGeom>
          <a:ln xmlns:a="http://schemas.openxmlformats.org/drawingml/2006/main" w="19050">
            <a:solidFill>
              <a:srgbClr val="C67C2E"/>
            </a:solidFill>
            <a:prstDash val="solid"/>
            <a:tailEnd type="triangle" w="sm" len="sm"/>
          </a:ln>
        </p:spPr>
      </p:cxnSp>
      <p:cxnSp>
        <p:nvCxnSpPr>
          <p:cNvPr id="103" name=""/>
          <p:cNvCxnSpPr>
            <a:stCxn xmlns:a="http://schemas.openxmlformats.org/drawingml/2006/main" id="34" idx="3"/>
            <a:endCxn xmlns:a="http://schemas.openxmlformats.org/drawingml/2006/main" id="38" idx="1"/>
          </p:cNvCxnSpPr>
          <p:nvPr/>
        </p:nvCxnSpPr>
        <p:spPr>
          <a:xfrm xmlns:a="http://schemas.openxmlformats.org/drawingml/2006/main">
            <a:off x="6781800" y="4648200"/>
            <a:ext cx="3810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sp>
        <p:nvSpPr>
          <p:cNvPr id="50" name="">
            <a:extLst xmlns:a="http://schemas.openxmlformats.org/drawingml/2006/main">
              <a:ext uri="{FF2B5EF4-FFF2-40B4-BE49-F238E27FC236}">
                <a16:creationId xmlns:a16="http://schemas.microsoft.com/office/drawing/2014/main" id="{8E2A9BED-2409-4A86-B543-4A2A6B4084F2}"/>
              </a:ext>
            </a:extLst>
          </p:cNvPr>
          <p:cNvSpPr>
            <a:spLocks xmlns:a="http://schemas.openxmlformats.org/drawingml/2006/main" noGrp="1"/>
          </p:cNvSpPr>
          <p:nvPr/>
        </p:nvSpPr>
        <p:spPr>
          <a:xfrm xmlns:a="http://schemas.openxmlformats.org/drawingml/2006/main">
            <a:off x="590550" y="5638800"/>
            <a:ext cx="1619250" cy="323850"/>
          </a:xfrm>
          <a:prstGeom xmlns:a="http://schemas.openxmlformats.org/drawingml/2006/main" prst="roundRect">
            <a:avLst>
              <a:gd name="adj" fmla="val 50000"/>
            </a:avLst>
          </a:prstGeom>
          <a:solidFill xmlns:a="http://schemas.openxmlformats.org/drawingml/2006/main">
            <a:srgbClr val="E4E7EC"/>
          </a:solidFill>
          <a:ln xmlns:a="http://schemas.openxmlformats.org/drawingml/2006/main" w="9525">
            <a:solidFill>
              <a:srgbClr val="E4E7E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4F5D75"/>
                </a:solidFill>
              </a:defRPr>
            </a:pPr>
            <a:r>
              <a:rPr sz="1050" b="1">
                <a:solidFill>
                  <a:srgbClr val="4F5D75"/>
                </a:solidFill>
              </a:rPr>
              <a:t>MODEL-ASSISTED</a:t>
            </a:r>
          </a:p>
        </p:txBody>
      </p:sp>
      <p:sp>
        <p:nvSpPr>
          <p:cNvPr id="51" name="">
            <a:extLst xmlns:a="http://schemas.openxmlformats.org/drawingml/2006/main">
              <a:ext uri="{FF2B5EF4-FFF2-40B4-BE49-F238E27FC236}">
                <a16:creationId xmlns:a16="http://schemas.microsoft.com/office/drawing/2014/main" id="{F1981600-F6B6-4123-9E7E-0EA9EFF7BC33}"/>
              </a:ext>
            </a:extLst>
          </p:cNvPr>
          <p:cNvSpPr>
            <a:spLocks xmlns:a="http://schemas.openxmlformats.org/drawingml/2006/main" noGrp="1"/>
          </p:cNvSpPr>
          <p:nvPr/>
        </p:nvSpPr>
        <p:spPr>
          <a:xfrm xmlns:a="http://schemas.openxmlformats.org/drawingml/2006/main">
            <a:off x="2381250" y="5638800"/>
            <a:ext cx="1905000" cy="323850"/>
          </a:xfrm>
          <a:prstGeom xmlns:a="http://schemas.openxmlformats.org/drawingml/2006/main" prst="roundRect">
            <a:avLst>
              <a:gd name="adj" fmla="val 50000"/>
            </a:avLst>
          </a:prstGeom>
          <a:solidFill xmlns:a="http://schemas.openxmlformats.org/drawingml/2006/main">
            <a:srgbClr val="E3EBDD"/>
          </a:solidFill>
          <a:ln xmlns:a="http://schemas.openxmlformats.org/drawingml/2006/main" w="9525">
            <a:solidFill>
              <a:srgbClr val="E3EBD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2F6B4F"/>
                </a:solidFill>
              </a:defRPr>
            </a:pPr>
            <a:r>
              <a:rPr sz="1050" b="1">
                <a:solidFill>
                  <a:srgbClr val="2F6B4F"/>
                </a:solidFill>
              </a:rPr>
              <a:t>DETERMINISTIC TOOLS</a:t>
            </a:r>
          </a:p>
        </p:txBody>
      </p:sp>
      <p:sp>
        <p:nvSpPr>
          <p:cNvPr id="52" name="">
            <a:extLst xmlns:a="http://schemas.openxmlformats.org/drawingml/2006/main">
              <a:ext uri="{FF2B5EF4-FFF2-40B4-BE49-F238E27FC236}">
                <a16:creationId xmlns:a16="http://schemas.microsoft.com/office/drawing/2014/main" id="{FFAE0C3D-F1D8-4B4F-ADD1-8A894CDE4425}"/>
              </a:ext>
            </a:extLst>
          </p:cNvPr>
          <p:cNvSpPr>
            <a:spLocks xmlns:a="http://schemas.openxmlformats.org/drawingml/2006/main" noGrp="1"/>
          </p:cNvSpPr>
          <p:nvPr/>
        </p:nvSpPr>
        <p:spPr>
          <a:xfrm xmlns:a="http://schemas.openxmlformats.org/drawingml/2006/main">
            <a:off x="4457700" y="5638800"/>
            <a:ext cx="1619250" cy="323850"/>
          </a:xfrm>
          <a:prstGeom xmlns:a="http://schemas.openxmlformats.org/drawingml/2006/main" prst="roundRect">
            <a:avLst>
              <a:gd name="adj" fmla="val 50000"/>
            </a:avLst>
          </a:prstGeom>
          <a:solidFill xmlns:a="http://schemas.openxmlformats.org/drawingml/2006/main">
            <a:srgbClr val="F4E8D6"/>
          </a:solidFill>
          <a:ln xmlns:a="http://schemas.openxmlformats.org/drawingml/2006/main" w="9525">
            <a:solidFill>
              <a:srgbClr val="F4E8D6"/>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C67C2E"/>
                </a:solidFill>
              </a:defRPr>
            </a:pPr>
            <a:r>
              <a:rPr sz="1050" b="1">
                <a:solidFill>
                  <a:srgbClr val="C67C2E"/>
                </a:solidFill>
              </a:rPr>
              <a:t>HUMAN CONTROL</a:t>
            </a:r>
          </a:p>
        </p:txBody>
      </p:sp>
      <p:sp>
        <p:nvSpPr>
          <p:cNvPr id="53" name="">
            <a:extLst xmlns:a="http://schemas.openxmlformats.org/drawingml/2006/main">
              <a:ext uri="{FF2B5EF4-FFF2-40B4-BE49-F238E27FC236}">
                <a16:creationId xmlns:a16="http://schemas.microsoft.com/office/drawing/2014/main" id="{95E7DAFD-4A92-4FAE-8BB1-A6F1C4714DA2}"/>
              </a:ext>
            </a:extLst>
          </p:cNvPr>
          <p:cNvSpPr>
            <a:spLocks xmlns:a="http://schemas.openxmlformats.org/drawingml/2006/main" noGrp="1"/>
          </p:cNvSpPr>
          <p:nvPr/>
        </p:nvSpPr>
        <p:spPr>
          <a:xfrm xmlns:a="http://schemas.openxmlformats.org/drawingml/2006/main">
            <a:off x="6248400" y="5638800"/>
            <a:ext cx="1619250" cy="323850"/>
          </a:xfrm>
          <a:prstGeom xmlns:a="http://schemas.openxmlformats.org/drawingml/2006/main" prst="roundRect">
            <a:avLst>
              <a:gd name="adj" fmla="val 50000"/>
            </a:avLst>
          </a:prstGeom>
          <a:solidFill xmlns:a="http://schemas.openxmlformats.org/drawingml/2006/main">
            <a:srgbClr val="E3EBDD"/>
          </a:solidFill>
          <a:ln xmlns:a="http://schemas.openxmlformats.org/drawingml/2006/main" w="9525">
            <a:solidFill>
              <a:srgbClr val="E3EBD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5B8C5A"/>
                </a:solidFill>
              </a:defRPr>
            </a:pPr>
            <a:r>
              <a:rPr sz="1050" b="1">
                <a:solidFill>
                  <a:srgbClr val="5B8C5A"/>
                </a:solidFill>
              </a:rPr>
              <a:t>AUDITABLE STATE</a:t>
            </a:r>
          </a:p>
        </p:txBody>
      </p:sp>
      <p:sp>
        <p:nvSpPr>
          <p:cNvPr id="54" name="">
            <a:extLst xmlns:a="http://schemas.openxmlformats.org/drawingml/2006/main">
              <a:ext uri="{FF2B5EF4-FFF2-40B4-BE49-F238E27FC236}">
                <a16:creationId xmlns:a16="http://schemas.microsoft.com/office/drawing/2014/main" id="{15F098AF-5A94-4F05-96FD-0FF03B4FB2BB}"/>
              </a:ext>
            </a:extLst>
          </p:cNvPr>
          <p:cNvSpPr>
            <a:spLocks xmlns:a="http://schemas.openxmlformats.org/drawingml/2006/main" noGrp="1"/>
          </p:cNvSpPr>
          <p:nvPr/>
        </p:nvSpPr>
        <p:spPr>
          <a:xfrm xmlns:a="http://schemas.openxmlformats.org/drawingml/2006/main">
            <a:off x="8572500" y="569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BBF24"/>
                </a:solidFill>
              </a:defRPr>
            </a:pPr>
            <a:r>
              <a:rPr sz="1350" b="1">
                <a:solidFill>
                  <a:srgbClr val="FBBF24"/>
                </a:solidFill>
              </a:rPr>
              <a:t>No approval, no simulated fill.</a:t>
            </a:r>
          </a:p>
        </p:txBody>
      </p:sp>
    </p:spTree>
    <p:extLst>
      <p:ext uri="{BB962C8B-B14F-4D97-AF65-F5344CB8AC3E}">
        <p14:creationId xmlns:p14="http://schemas.microsoft.com/office/powerpoint/2010/main" val="14860709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D195E2-59C1-4A49-928B-8D40E06F64B6}"/>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SAFETY MODEL</a:t>
            </a:r>
          </a:p>
        </p:txBody>
      </p:sp>
      <p:sp>
        <p:nvSpPr>
          <p:cNvPr id="2" name="">
            <a:extLst xmlns:a="http://schemas.openxmlformats.org/drawingml/2006/main">
              <a:ext uri="{FF2B5EF4-FFF2-40B4-BE49-F238E27FC236}">
                <a16:creationId xmlns:a16="http://schemas.microsoft.com/office/drawing/2014/main" id="{53415A45-6079-425F-8582-314F3FB26F5B}"/>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The policy boundary limits autonomy before the model can act</a:t>
            </a:r>
          </a:p>
        </p:txBody>
      </p:sp>
      <p:sp>
        <p:nvSpPr>
          <p:cNvPr id="3" name="">
            <a:extLst xmlns:a="http://schemas.openxmlformats.org/drawingml/2006/main">
              <a:ext uri="{FF2B5EF4-FFF2-40B4-BE49-F238E27FC236}">
                <a16:creationId xmlns:a16="http://schemas.microsoft.com/office/drawing/2014/main" id="{EFA81A0B-545D-4857-8171-25B88C50EEBC}"/>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27ECFC53-CCB6-4A8C-ADA1-27E23407C881}"/>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06</a:t>
            </a:r>
          </a:p>
        </p:txBody>
      </p:sp>
      <p:sp>
        <p:nvSpPr>
          <p:cNvPr id="5" name="">
            <a:extLst xmlns:a="http://schemas.openxmlformats.org/drawingml/2006/main">
              <a:ext uri="{FF2B5EF4-FFF2-40B4-BE49-F238E27FC236}">
                <a16:creationId xmlns:a16="http://schemas.microsoft.com/office/drawing/2014/main" id="{6B23A6F2-3E6D-4900-9CC4-2650DD054B13}"/>
              </a:ext>
            </a:extLst>
          </p:cNvPr>
          <p:cNvSpPr>
            <a:spLocks xmlns:a="http://schemas.openxmlformats.org/drawingml/2006/main" noGrp="1"/>
          </p:cNvSpPr>
          <p:nvPr/>
        </p:nvSpPr>
        <p:spPr>
          <a:xfrm xmlns:a="http://schemas.openxmlformats.org/drawingml/2006/main">
            <a:off x="590550" y="131445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65D65"/>
                </a:solidFill>
              </a:defRPr>
            </a:pPr>
            <a:r>
              <a:rPr sz="1425" b="0">
                <a:solidFill>
                  <a:srgbClr val="565D65"/>
                </a:solidFill>
              </a:rPr>
              <a:t>Tool registration and domain policy enforce the boundary outside the language model.</a:t>
            </a:r>
          </a:p>
        </p:txBody>
      </p:sp>
      <p:sp>
        <p:nvSpPr>
          <p:cNvPr id="6" name="">
            <a:extLst xmlns:a="http://schemas.openxmlformats.org/drawingml/2006/main">
              <a:ext uri="{FF2B5EF4-FFF2-40B4-BE49-F238E27FC236}">
                <a16:creationId xmlns:a16="http://schemas.microsoft.com/office/drawing/2014/main" id="{833A6487-2007-415E-87E7-77AF622F2448}"/>
              </a:ext>
            </a:extLst>
          </p:cNvPr>
          <p:cNvSpPr>
            <a:spLocks xmlns:a="http://schemas.openxmlformats.org/drawingml/2006/main" noGrp="1"/>
          </p:cNvSpPr>
          <p:nvPr/>
        </p:nvSpPr>
        <p:spPr>
          <a:xfrm xmlns:a="http://schemas.openxmlformats.org/drawingml/2006/main">
            <a:off x="590550" y="4095750"/>
            <a:ext cx="2266950" cy="1295400"/>
          </a:xfrm>
          <a:prstGeom xmlns:a="http://schemas.openxmlformats.org/drawingml/2006/main" prst="roundRect">
            <a:avLst>
              <a:gd name="adj" fmla="val 7353"/>
            </a:avLst>
          </a:prstGeom>
          <a:solidFill xmlns:a="http://schemas.openxmlformats.org/drawingml/2006/main">
            <a:srgbClr val="E4E7EC"/>
          </a:solidFill>
          <a:ln xmlns:a="http://schemas.openxmlformats.org/drawingml/2006/main" w="9525">
            <a:solidFill>
              <a:srgbClr val="E4E7EC"/>
            </a:solidFill>
            <a:prstDash val="solid"/>
          </a:ln>
        </p:spPr>
      </p:sp>
      <p:sp>
        <p:nvSpPr>
          <p:cNvPr id="7" name="">
            <a:extLst xmlns:a="http://schemas.openxmlformats.org/drawingml/2006/main">
              <a:ext uri="{FF2B5EF4-FFF2-40B4-BE49-F238E27FC236}">
                <a16:creationId xmlns:a16="http://schemas.microsoft.com/office/drawing/2014/main" id="{88B1C11B-59DC-4916-9D6D-434A85DB5FA6}"/>
              </a:ext>
            </a:extLst>
          </p:cNvPr>
          <p:cNvSpPr>
            <a:spLocks xmlns:a="http://schemas.openxmlformats.org/drawingml/2006/main" noGrp="1"/>
          </p:cNvSpPr>
          <p:nvPr/>
        </p:nvSpPr>
        <p:spPr>
          <a:xfrm xmlns:a="http://schemas.openxmlformats.org/drawingml/2006/main">
            <a:off x="781050" y="432435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4F5D75"/>
                </a:solidFill>
              </a:defRPr>
            </a:pPr>
            <a:r>
              <a:rPr sz="1275" b="1">
                <a:solidFill>
                  <a:srgbClr val="4F5D75"/>
                </a:solidFill>
              </a:rPr>
              <a:t>READ ONLY</a:t>
            </a:r>
          </a:p>
        </p:txBody>
      </p:sp>
      <p:sp>
        <p:nvSpPr>
          <p:cNvPr id="8" name="">
            <a:extLst xmlns:a="http://schemas.openxmlformats.org/drawingml/2006/main">
              <a:ext uri="{FF2B5EF4-FFF2-40B4-BE49-F238E27FC236}">
                <a16:creationId xmlns:a16="http://schemas.microsoft.com/office/drawing/2014/main" id="{B2161221-934C-47DF-9A62-3F1ECE5D34A2}"/>
              </a:ext>
            </a:extLst>
          </p:cNvPr>
          <p:cNvSpPr>
            <a:spLocks xmlns:a="http://schemas.openxmlformats.org/drawingml/2006/main" noGrp="1"/>
          </p:cNvSpPr>
          <p:nvPr/>
        </p:nvSpPr>
        <p:spPr>
          <a:xfrm xmlns:a="http://schemas.openxmlformats.org/drawingml/2006/main">
            <a:off x="781050" y="476250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Portfolio, screener, factors, reports</a:t>
            </a:r>
          </a:p>
        </p:txBody>
      </p:sp>
      <p:sp>
        <p:nvSpPr>
          <p:cNvPr id="9" name="">
            <a:extLst xmlns:a="http://schemas.openxmlformats.org/drawingml/2006/main">
              <a:ext uri="{FF2B5EF4-FFF2-40B4-BE49-F238E27FC236}">
                <a16:creationId xmlns:a16="http://schemas.microsoft.com/office/drawing/2014/main" id="{C93B3201-3F22-4C32-B587-C7C230D5FB23}"/>
              </a:ext>
            </a:extLst>
          </p:cNvPr>
          <p:cNvSpPr>
            <a:spLocks xmlns:a="http://schemas.openxmlformats.org/drawingml/2006/main" noGrp="1"/>
          </p:cNvSpPr>
          <p:nvPr/>
        </p:nvSpPr>
        <p:spPr>
          <a:xfrm xmlns:a="http://schemas.openxmlformats.org/drawingml/2006/main">
            <a:off x="781050" y="5029200"/>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4F5D75"/>
                </a:solidFill>
              </a:defRPr>
            </a:pPr>
            <a:r>
              <a:rPr sz="975" b="1">
                <a:solidFill>
                  <a:srgbClr val="4F5D75"/>
                </a:solidFill>
              </a:rPr>
              <a:t>Agent may proceed</a:t>
            </a:r>
          </a:p>
        </p:txBody>
      </p:sp>
      <p:sp>
        <p:nvSpPr>
          <p:cNvPr id="10" name="">
            <a:extLst xmlns:a="http://schemas.openxmlformats.org/drawingml/2006/main">
              <a:ext uri="{FF2B5EF4-FFF2-40B4-BE49-F238E27FC236}">
                <a16:creationId xmlns:a16="http://schemas.microsoft.com/office/drawing/2014/main" id="{1A5B8F16-3536-438F-B755-6DFFB9FEE443}"/>
              </a:ext>
            </a:extLst>
          </p:cNvPr>
          <p:cNvSpPr>
            <a:spLocks xmlns:a="http://schemas.openxmlformats.org/drawingml/2006/main" noGrp="1"/>
          </p:cNvSpPr>
          <p:nvPr/>
        </p:nvSpPr>
        <p:spPr>
          <a:xfrm xmlns:a="http://schemas.openxmlformats.org/drawingml/2006/main">
            <a:off x="3181350" y="3619500"/>
            <a:ext cx="2266950" cy="1771650"/>
          </a:xfrm>
          <a:prstGeom xmlns:a="http://schemas.openxmlformats.org/drawingml/2006/main" prst="roundRect">
            <a:avLst>
              <a:gd name="adj" fmla="val 5376"/>
            </a:avLst>
          </a:prstGeom>
          <a:solidFill xmlns:a="http://schemas.openxmlformats.org/drawingml/2006/main">
            <a:srgbClr val="DCE9E2"/>
          </a:solidFill>
          <a:ln xmlns:a="http://schemas.openxmlformats.org/drawingml/2006/main" w="9525">
            <a:solidFill>
              <a:srgbClr val="DCE9E2"/>
            </a:solidFill>
            <a:prstDash val="solid"/>
          </a:ln>
        </p:spPr>
      </p:sp>
      <p:sp>
        <p:nvSpPr>
          <p:cNvPr id="11" name="">
            <a:extLst xmlns:a="http://schemas.openxmlformats.org/drawingml/2006/main">
              <a:ext uri="{FF2B5EF4-FFF2-40B4-BE49-F238E27FC236}">
                <a16:creationId xmlns:a16="http://schemas.microsoft.com/office/drawing/2014/main" id="{CA3EDC8E-E407-4ACF-81C3-FA93FF4B24A2}"/>
              </a:ext>
            </a:extLst>
          </p:cNvPr>
          <p:cNvSpPr>
            <a:spLocks xmlns:a="http://schemas.openxmlformats.org/drawingml/2006/main" noGrp="1"/>
          </p:cNvSpPr>
          <p:nvPr/>
        </p:nvSpPr>
        <p:spPr>
          <a:xfrm xmlns:a="http://schemas.openxmlformats.org/drawingml/2006/main">
            <a:off x="3371850" y="384810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F6B4F"/>
                </a:solidFill>
              </a:defRPr>
            </a:pPr>
            <a:r>
              <a:rPr sz="1275" b="1">
                <a:solidFill>
                  <a:srgbClr val="2F6B4F"/>
                </a:solidFill>
              </a:rPr>
              <a:t>DRAFT ONLY</a:t>
            </a:r>
          </a:p>
        </p:txBody>
      </p:sp>
      <p:sp>
        <p:nvSpPr>
          <p:cNvPr id="12" name="">
            <a:extLst xmlns:a="http://schemas.openxmlformats.org/drawingml/2006/main">
              <a:ext uri="{FF2B5EF4-FFF2-40B4-BE49-F238E27FC236}">
                <a16:creationId xmlns:a16="http://schemas.microsoft.com/office/drawing/2014/main" id="{DF9D8B1A-3DDD-48ED-AB75-08FA6F72B65F}"/>
              </a:ext>
            </a:extLst>
          </p:cNvPr>
          <p:cNvSpPr>
            <a:spLocks xmlns:a="http://schemas.openxmlformats.org/drawingml/2006/main" noGrp="1"/>
          </p:cNvSpPr>
          <p:nvPr/>
        </p:nvSpPr>
        <p:spPr>
          <a:xfrm xmlns:a="http://schemas.openxmlformats.org/drawingml/2006/main">
            <a:off x="3371850" y="428625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Strategies, backtest requests, order proposals</a:t>
            </a:r>
          </a:p>
        </p:txBody>
      </p:sp>
      <p:sp>
        <p:nvSpPr>
          <p:cNvPr id="13" name="">
            <a:extLst xmlns:a="http://schemas.openxmlformats.org/drawingml/2006/main">
              <a:ext uri="{FF2B5EF4-FFF2-40B4-BE49-F238E27FC236}">
                <a16:creationId xmlns:a16="http://schemas.microsoft.com/office/drawing/2014/main" id="{CDBE936F-1187-4C2D-9DA4-F8FF9F9CC85B}"/>
              </a:ext>
            </a:extLst>
          </p:cNvPr>
          <p:cNvSpPr>
            <a:spLocks xmlns:a="http://schemas.openxmlformats.org/drawingml/2006/main" noGrp="1"/>
          </p:cNvSpPr>
          <p:nvPr/>
        </p:nvSpPr>
        <p:spPr>
          <a:xfrm xmlns:a="http://schemas.openxmlformats.org/drawingml/2006/main">
            <a:off x="3371850" y="5029200"/>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Agent may proceed</a:t>
            </a:r>
          </a:p>
        </p:txBody>
      </p:sp>
      <p:sp>
        <p:nvSpPr>
          <p:cNvPr id="14" name="">
            <a:extLst xmlns:a="http://schemas.openxmlformats.org/drawingml/2006/main">
              <a:ext uri="{FF2B5EF4-FFF2-40B4-BE49-F238E27FC236}">
                <a16:creationId xmlns:a16="http://schemas.microsoft.com/office/drawing/2014/main" id="{7813DFAC-8A48-4511-B027-DB33006ED733}"/>
              </a:ext>
            </a:extLst>
          </p:cNvPr>
          <p:cNvSpPr>
            <a:spLocks xmlns:a="http://schemas.openxmlformats.org/drawingml/2006/main" noGrp="1"/>
          </p:cNvSpPr>
          <p:nvPr/>
        </p:nvSpPr>
        <p:spPr>
          <a:xfrm xmlns:a="http://schemas.openxmlformats.org/drawingml/2006/main">
            <a:off x="5772150" y="3143250"/>
            <a:ext cx="2266950" cy="2247900"/>
          </a:xfrm>
          <a:prstGeom xmlns:a="http://schemas.openxmlformats.org/drawingml/2006/main" prst="roundRect">
            <a:avLst>
              <a:gd name="adj" fmla="val 4237"/>
            </a:avLst>
          </a:prstGeom>
          <a:solidFill xmlns:a="http://schemas.openxmlformats.org/drawingml/2006/main">
            <a:srgbClr val="F4E8D6"/>
          </a:solidFill>
          <a:ln xmlns:a="http://schemas.openxmlformats.org/drawingml/2006/main" w="9525">
            <a:solidFill>
              <a:srgbClr val="F4E8D6"/>
            </a:solidFill>
            <a:prstDash val="solid"/>
          </a:ln>
        </p:spPr>
      </p:sp>
      <p:sp>
        <p:nvSpPr>
          <p:cNvPr id="15" name="">
            <a:extLst xmlns:a="http://schemas.openxmlformats.org/drawingml/2006/main">
              <a:ext uri="{FF2B5EF4-FFF2-40B4-BE49-F238E27FC236}">
                <a16:creationId xmlns:a16="http://schemas.microsoft.com/office/drawing/2014/main" id="{C6CA2002-1659-4E97-A141-49916F7C8B57}"/>
              </a:ext>
            </a:extLst>
          </p:cNvPr>
          <p:cNvSpPr>
            <a:spLocks xmlns:a="http://schemas.openxmlformats.org/drawingml/2006/main" noGrp="1"/>
          </p:cNvSpPr>
          <p:nvPr/>
        </p:nvSpPr>
        <p:spPr>
          <a:xfrm xmlns:a="http://schemas.openxmlformats.org/drawingml/2006/main">
            <a:off x="5962650" y="337185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C67C2E"/>
                </a:solidFill>
              </a:defRPr>
            </a:pPr>
            <a:r>
              <a:rPr sz="1275" b="1">
                <a:solidFill>
                  <a:srgbClr val="C67C2E"/>
                </a:solidFill>
              </a:rPr>
              <a:t>APPROVAL REQUIRED</a:t>
            </a:r>
          </a:p>
        </p:txBody>
      </p:sp>
      <p:sp>
        <p:nvSpPr>
          <p:cNvPr id="16" name="">
            <a:extLst xmlns:a="http://schemas.openxmlformats.org/drawingml/2006/main">
              <a:ext uri="{FF2B5EF4-FFF2-40B4-BE49-F238E27FC236}">
                <a16:creationId xmlns:a16="http://schemas.microsoft.com/office/drawing/2014/main" id="{E7316973-72FD-4B25-8530-4F9EAC194264}"/>
              </a:ext>
            </a:extLst>
          </p:cNvPr>
          <p:cNvSpPr>
            <a:spLocks xmlns:a="http://schemas.openxmlformats.org/drawingml/2006/main" noGrp="1"/>
          </p:cNvSpPr>
          <p:nvPr/>
        </p:nvSpPr>
        <p:spPr>
          <a:xfrm xmlns:a="http://schemas.openxmlformats.org/drawingml/2006/main">
            <a:off x="5962650" y="381000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Paper simulation and selected risk changes</a:t>
            </a:r>
          </a:p>
        </p:txBody>
      </p:sp>
      <p:sp>
        <p:nvSpPr>
          <p:cNvPr id="17" name="">
            <a:extLst xmlns:a="http://schemas.openxmlformats.org/drawingml/2006/main">
              <a:ext uri="{FF2B5EF4-FFF2-40B4-BE49-F238E27FC236}">
                <a16:creationId xmlns:a16="http://schemas.microsoft.com/office/drawing/2014/main" id="{CA59D8A8-318A-4AB5-9464-42CBE1D4B96B}"/>
              </a:ext>
            </a:extLst>
          </p:cNvPr>
          <p:cNvSpPr>
            <a:spLocks xmlns:a="http://schemas.openxmlformats.org/drawingml/2006/main" noGrp="1"/>
          </p:cNvSpPr>
          <p:nvPr/>
        </p:nvSpPr>
        <p:spPr>
          <a:xfrm xmlns:a="http://schemas.openxmlformats.org/drawingml/2006/main">
            <a:off x="5962650" y="5029200"/>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67C2E"/>
                </a:solidFill>
              </a:defRPr>
            </a:pPr>
            <a:r>
              <a:rPr sz="975" b="1">
                <a:solidFill>
                  <a:srgbClr val="C67C2E"/>
                </a:solidFill>
              </a:rPr>
              <a:t>Human must decide</a:t>
            </a:r>
          </a:p>
        </p:txBody>
      </p:sp>
      <p:sp>
        <p:nvSpPr>
          <p:cNvPr id="18" name="">
            <a:extLst xmlns:a="http://schemas.openxmlformats.org/drawingml/2006/main">
              <a:ext uri="{FF2B5EF4-FFF2-40B4-BE49-F238E27FC236}">
                <a16:creationId xmlns:a16="http://schemas.microsoft.com/office/drawing/2014/main" id="{99233B62-BB9B-4663-936B-A4B21DD9E64B}"/>
              </a:ext>
            </a:extLst>
          </p:cNvPr>
          <p:cNvSpPr>
            <a:spLocks xmlns:a="http://schemas.openxmlformats.org/drawingml/2006/main" noGrp="1"/>
          </p:cNvSpPr>
          <p:nvPr/>
        </p:nvSpPr>
        <p:spPr>
          <a:xfrm xmlns:a="http://schemas.openxmlformats.org/drawingml/2006/main">
            <a:off x="8305800" y="1847850"/>
            <a:ext cx="0" cy="3752850"/>
          </a:xfrm>
          <a:prstGeom xmlns:a="http://schemas.openxmlformats.org/drawingml/2006/main" prst="line">
            <a:avLst/>
          </a:prstGeom>
          <a:noFill xmlns:a="http://schemas.openxmlformats.org/drawingml/2006/main"/>
          <a:ln xmlns:a="http://schemas.openxmlformats.org/drawingml/2006/main" w="19050">
            <a:solidFill>
              <a:srgbClr val="B84A4A"/>
            </a:solidFill>
            <a:prstDash val="dash"/>
          </a:ln>
        </p:spPr>
      </p:sp>
      <p:sp>
        <p:nvSpPr>
          <p:cNvPr id="19" name="">
            <a:extLst xmlns:a="http://schemas.openxmlformats.org/drawingml/2006/main">
              <a:ext uri="{FF2B5EF4-FFF2-40B4-BE49-F238E27FC236}">
                <a16:creationId xmlns:a16="http://schemas.microsoft.com/office/drawing/2014/main" id="{9F9E21C0-DE50-4E1F-BE50-36B19B4CE30E}"/>
              </a:ext>
            </a:extLst>
          </p:cNvPr>
          <p:cNvSpPr>
            <a:spLocks xmlns:a="http://schemas.openxmlformats.org/drawingml/2006/main" noGrp="1"/>
          </p:cNvSpPr>
          <p:nvPr/>
        </p:nvSpPr>
        <p:spPr>
          <a:xfrm xmlns:a="http://schemas.openxmlformats.org/drawingml/2006/main">
            <a:off x="8610600" y="1866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A4A"/>
                </a:solidFill>
              </a:defRPr>
            </a:pPr>
            <a:r>
              <a:rPr sz="1050" b="1">
                <a:solidFill>
                  <a:srgbClr val="B84A4A"/>
                </a:solidFill>
              </a:rPr>
              <a:t>CURRENT RELEASE BOUNDARY</a:t>
            </a:r>
          </a:p>
        </p:txBody>
      </p:sp>
      <p:sp>
        <p:nvSpPr>
          <p:cNvPr id="20" name="">
            <a:extLst xmlns:a="http://schemas.openxmlformats.org/drawingml/2006/main">
              <a:ext uri="{FF2B5EF4-FFF2-40B4-BE49-F238E27FC236}">
                <a16:creationId xmlns:a16="http://schemas.microsoft.com/office/drawing/2014/main" id="{06DF9EFC-7205-4272-AA10-EBFB9F29FE7E}"/>
              </a:ext>
            </a:extLst>
          </p:cNvPr>
          <p:cNvSpPr>
            <a:spLocks xmlns:a="http://schemas.openxmlformats.org/drawingml/2006/main" noGrp="1"/>
          </p:cNvSpPr>
          <p:nvPr/>
        </p:nvSpPr>
        <p:spPr>
          <a:xfrm xmlns:a="http://schemas.openxmlformats.org/drawingml/2006/main">
            <a:off x="8610600" y="2266950"/>
            <a:ext cx="2819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191C"/>
                </a:solidFill>
              </a:defRPr>
            </a:pPr>
            <a:r>
              <a:rPr sz="1800" b="1">
                <a:solidFill>
                  <a:srgbClr val="17191C"/>
                </a:solidFill>
              </a:rPr>
              <a:t>Forbidden actions are absent from the MCP tool catalog.</a:t>
            </a:r>
          </a:p>
        </p:txBody>
      </p:sp>
      <p:sp>
        <p:nvSpPr>
          <p:cNvPr id="21" name="">
            <a:extLst xmlns:a="http://schemas.openxmlformats.org/drawingml/2006/main">
              <a:ext uri="{FF2B5EF4-FFF2-40B4-BE49-F238E27FC236}">
                <a16:creationId xmlns:a16="http://schemas.microsoft.com/office/drawing/2014/main" id="{ECEBE0E3-232B-4145-83E5-15BEDBE25114}"/>
              </a:ext>
            </a:extLst>
          </p:cNvPr>
          <p:cNvSpPr>
            <a:spLocks xmlns:a="http://schemas.openxmlformats.org/drawingml/2006/main" noGrp="1"/>
          </p:cNvSpPr>
          <p:nvPr/>
        </p:nvSpPr>
        <p:spPr>
          <a:xfrm xmlns:a="http://schemas.openxmlformats.org/drawingml/2006/main">
            <a:off x="8610600" y="3200400"/>
            <a:ext cx="2857500" cy="2190750"/>
          </a:xfrm>
          <a:prstGeom xmlns:a="http://schemas.openxmlformats.org/drawingml/2006/main" prst="roundRect">
            <a:avLst>
              <a:gd name="adj" fmla="val 4348"/>
            </a:avLst>
          </a:prstGeom>
          <a:solidFill xmlns:a="http://schemas.openxmlformats.org/drawingml/2006/main">
            <a:srgbClr val="F3DEDC"/>
          </a:solidFill>
          <a:ln xmlns:a="http://schemas.openxmlformats.org/drawingml/2006/main" w="9525">
            <a:solidFill>
              <a:srgbClr val="D6A2A0"/>
            </a:solidFill>
            <a:prstDash val="solid"/>
          </a:ln>
        </p:spPr>
      </p:sp>
      <p:sp>
        <p:nvSpPr>
          <p:cNvPr id="22" name="">
            <a:extLst xmlns:a="http://schemas.openxmlformats.org/drawingml/2006/main">
              <a:ext uri="{FF2B5EF4-FFF2-40B4-BE49-F238E27FC236}">
                <a16:creationId xmlns:a16="http://schemas.microsoft.com/office/drawing/2014/main" id="{4B103782-4F9C-4A83-BCC6-E4B8DC2D53F4}"/>
              </a:ext>
            </a:extLst>
          </p:cNvPr>
          <p:cNvSpPr>
            <a:spLocks xmlns:a="http://schemas.openxmlformats.org/drawingml/2006/main" noGrp="1"/>
          </p:cNvSpPr>
          <p:nvPr/>
        </p:nvSpPr>
        <p:spPr>
          <a:xfrm xmlns:a="http://schemas.openxmlformats.org/drawingml/2006/main">
            <a:off x="8839200" y="342900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4A4A"/>
                </a:solidFill>
              </a:defRPr>
            </a:pPr>
            <a:r>
              <a:rPr sz="1350" b="1">
                <a:solidFill>
                  <a:srgbClr val="B84A4A"/>
                </a:solidFill>
              </a:rPr>
              <a:t>FORBIDDEN</a:t>
            </a:r>
          </a:p>
        </p:txBody>
      </p:sp>
      <p:sp>
        <p:nvSpPr>
          <p:cNvPr id="23" name="">
            <a:extLst xmlns:a="http://schemas.openxmlformats.org/drawingml/2006/main">
              <a:ext uri="{FF2B5EF4-FFF2-40B4-BE49-F238E27FC236}">
                <a16:creationId xmlns:a16="http://schemas.microsoft.com/office/drawing/2014/main" id="{1F957906-8E9B-49AB-8C64-B2972A8925E0}"/>
              </a:ext>
            </a:extLst>
          </p:cNvPr>
          <p:cNvSpPr>
            <a:spLocks xmlns:a="http://schemas.openxmlformats.org/drawingml/2006/main" noGrp="1"/>
          </p:cNvSpPr>
          <p:nvPr/>
        </p:nvSpPr>
        <p:spPr>
          <a:xfrm xmlns:a="http://schemas.openxmlformats.org/drawingml/2006/main">
            <a:off x="8839200" y="3886200"/>
            <a:ext cx="2400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65D65"/>
                </a:solidFill>
              </a:defRPr>
            </a:pPr>
            <a:r>
              <a:rPr sz="1275" b="0">
                <a:solidFill>
                  <a:srgbClr val="565D65"/>
                </a:solidFill>
              </a:rPr>
              <a:t>Live orders</a:t>
            </a:r>
          </a:p>
          <a:p xmlns:a="http://schemas.openxmlformats.org/drawingml/2006/main">
            <a:pPr algn="l">
              <a:defRPr sz="1275" b="0">
                <a:solidFill>
                  <a:srgbClr val="565D65"/>
                </a:solidFill>
              </a:defRPr>
            </a:pPr>
            <a:r>
              <a:rPr sz="1275" b="0">
                <a:solidFill>
                  <a:srgbClr val="565D65"/>
                </a:solidFill>
              </a:rPr>
              <a:t>Broker trading tokens</a:t>
            </a:r>
          </a:p>
          <a:p xmlns:a="http://schemas.openxmlformats.org/drawingml/2006/main">
            <a:pPr algn="l">
              <a:defRPr sz="1275" b="0">
                <a:solidFill>
                  <a:srgbClr val="565D65"/>
                </a:solidFill>
              </a:defRPr>
            </a:pPr>
            <a:r>
              <a:rPr sz="1275" b="0">
                <a:solidFill>
                  <a:srgbClr val="565D65"/>
                </a:solidFill>
              </a:rPr>
              <a:t>Credential disclosure</a:t>
            </a:r>
          </a:p>
          <a:p xmlns:a="http://schemas.openxmlformats.org/drawingml/2006/main">
            <a:pPr algn="l">
              <a:defRPr sz="1275" b="0">
                <a:solidFill>
                  <a:srgbClr val="565D65"/>
                </a:solidFill>
              </a:defRPr>
            </a:pPr>
            <a:r>
              <a:rPr sz="1275" b="0">
                <a:solidFill>
                  <a:srgbClr val="565D65"/>
                </a:solidFill>
              </a:rPr>
              <a:t>Approval bypass</a:t>
            </a:r>
          </a:p>
        </p:txBody>
      </p:sp>
      <p:sp>
        <p:nvSpPr>
          <p:cNvPr id="24" name="">
            <a:extLst xmlns:a="http://schemas.openxmlformats.org/drawingml/2006/main">
              <a:ext uri="{FF2B5EF4-FFF2-40B4-BE49-F238E27FC236}">
                <a16:creationId xmlns:a16="http://schemas.microsoft.com/office/drawing/2014/main" id="{CE0833C1-7581-47C1-906E-EA2DFF67D01F}"/>
              </a:ext>
            </a:extLst>
          </p:cNvPr>
          <p:cNvSpPr>
            <a:spLocks xmlns:a="http://schemas.openxmlformats.org/drawingml/2006/main" noGrp="1"/>
          </p:cNvSpPr>
          <p:nvPr/>
        </p:nvSpPr>
        <p:spPr>
          <a:xfrm xmlns:a="http://schemas.openxmlformats.org/drawingml/2006/main">
            <a:off x="8839200" y="49720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A4A"/>
                </a:solidFill>
              </a:defRPr>
            </a:pPr>
            <a:r>
              <a:rPr sz="1050" b="1">
                <a:solidFill>
                  <a:srgbClr val="B84A4A"/>
                </a:solidFill>
              </a:rPr>
              <a:t>Tool is not exposed</a:t>
            </a:r>
          </a:p>
        </p:txBody>
      </p:sp>
      <p:sp>
        <p:nvSpPr>
          <p:cNvPr id="25" name="">
            <a:extLst xmlns:a="http://schemas.openxmlformats.org/drawingml/2006/main">
              <a:ext uri="{FF2B5EF4-FFF2-40B4-BE49-F238E27FC236}">
                <a16:creationId xmlns:a16="http://schemas.microsoft.com/office/drawing/2014/main" id="{84E853D7-DA73-49DC-97C2-DC95AAECFD13}"/>
              </a:ext>
            </a:extLst>
          </p:cNvPr>
          <p:cNvSpPr>
            <a:spLocks xmlns:a="http://schemas.openxmlformats.org/drawingml/2006/main" noGrp="1"/>
          </p:cNvSpPr>
          <p:nvPr/>
        </p:nvSpPr>
        <p:spPr>
          <a:xfrm xmlns:a="http://schemas.openxmlformats.org/drawingml/2006/main">
            <a:off x="590550" y="5657850"/>
            <a:ext cx="2266950" cy="323850"/>
          </a:xfrm>
          <a:prstGeom xmlns:a="http://schemas.openxmlformats.org/drawingml/2006/main" prst="roundRect">
            <a:avLst>
              <a:gd name="adj" fmla="val 50000"/>
            </a:avLst>
          </a:prstGeom>
          <a:solidFill xmlns:a="http://schemas.openxmlformats.org/drawingml/2006/main">
            <a:srgbClr val="F3DEDC"/>
          </a:solidFill>
          <a:ln xmlns:a="http://schemas.openxmlformats.org/drawingml/2006/main" w="9525">
            <a:solidFill>
              <a:srgbClr val="F3DED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B84A4A"/>
                </a:solidFill>
              </a:defRPr>
            </a:pPr>
            <a:r>
              <a:rPr sz="1050" b="1">
                <a:solidFill>
                  <a:srgbClr val="B84A4A"/>
                </a:solidFill>
              </a:rPr>
              <a:t>LIVE TRADING BLOCKED</a:t>
            </a:r>
          </a:p>
        </p:txBody>
      </p:sp>
      <p:sp>
        <p:nvSpPr>
          <p:cNvPr id="26" name="">
            <a:extLst xmlns:a="http://schemas.openxmlformats.org/drawingml/2006/main">
              <a:ext uri="{FF2B5EF4-FFF2-40B4-BE49-F238E27FC236}">
                <a16:creationId xmlns:a16="http://schemas.microsoft.com/office/drawing/2014/main" id="{50765414-10E3-42DD-9C94-EF1AD679DB8E}"/>
              </a:ext>
            </a:extLst>
          </p:cNvPr>
          <p:cNvSpPr>
            <a:spLocks xmlns:a="http://schemas.openxmlformats.org/drawingml/2006/main" noGrp="1"/>
          </p:cNvSpPr>
          <p:nvPr/>
        </p:nvSpPr>
        <p:spPr>
          <a:xfrm xmlns:a="http://schemas.openxmlformats.org/drawingml/2006/main">
            <a:off x="3143250" y="5695950"/>
            <a:ext cx="5162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65D65"/>
                </a:solidFill>
              </a:defRPr>
            </a:pPr>
            <a:r>
              <a:rPr sz="1200" b="1">
                <a:solidFill>
                  <a:srgbClr val="565D65"/>
                </a:solidFill>
              </a:rPr>
              <a:t>A weaker or compromised model still cannot invoke a capability that was never registered.</a:t>
            </a:r>
          </a:p>
        </p:txBody>
      </p:sp>
    </p:spTree>
    <p:extLst>
      <p:ext uri="{BB962C8B-B14F-4D97-AF65-F5344CB8AC3E}">
        <p14:creationId xmlns:p14="http://schemas.microsoft.com/office/powerpoint/2010/main" val="1316094002"/>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62CDF4-03B8-4F20-B7CA-F7097E00B367}"/>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WORKING PRODUCT EVIDENCE</a:t>
            </a:r>
          </a:p>
        </p:txBody>
      </p:sp>
      <p:sp>
        <p:nvSpPr>
          <p:cNvPr id="2" name="">
            <a:extLst xmlns:a="http://schemas.openxmlformats.org/drawingml/2006/main">
              <a:ext uri="{FF2B5EF4-FFF2-40B4-BE49-F238E27FC236}">
                <a16:creationId xmlns:a16="http://schemas.microsoft.com/office/drawing/2014/main" id="{F218BEB2-790D-42B4-941A-7CF5525EC8EA}"/>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The governed workflow is implemented end to end</a:t>
            </a:r>
          </a:p>
        </p:txBody>
      </p:sp>
      <p:sp>
        <p:nvSpPr>
          <p:cNvPr id="3" name="">
            <a:extLst xmlns:a="http://schemas.openxmlformats.org/drawingml/2006/main">
              <a:ext uri="{FF2B5EF4-FFF2-40B4-BE49-F238E27FC236}">
                <a16:creationId xmlns:a16="http://schemas.microsoft.com/office/drawing/2014/main" id="{ED99B05C-9207-4BE6-9873-D36491269E8E}"/>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A6C84FCF-A43A-4594-8844-60EAE949DCAA}"/>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07</a:t>
            </a:r>
          </a:p>
        </p:txBody>
      </p:sp>
      <p:sp>
        <p:nvSpPr>
          <p:cNvPr id="5" name="">
            <a:extLst xmlns:a="http://schemas.openxmlformats.org/drawingml/2006/main">
              <a:ext uri="{FF2B5EF4-FFF2-40B4-BE49-F238E27FC236}">
                <a16:creationId xmlns:a16="http://schemas.microsoft.com/office/drawing/2014/main" id="{D4BD3171-B00C-4F39-8587-A327E1AE4C7C}"/>
              </a:ext>
            </a:extLst>
          </p:cNvPr>
          <p:cNvSpPr>
            <a:spLocks xmlns:a="http://schemas.openxmlformats.org/drawingml/2006/main" noGrp="1"/>
          </p:cNvSpPr>
          <p:nvPr/>
        </p:nvSpPr>
        <p:spPr>
          <a:xfrm xmlns:a="http://schemas.openxmlformats.org/drawingml/2006/main">
            <a:off x="590550" y="1752600"/>
            <a:ext cx="3333750" cy="33528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7D9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4ba06aad2144ad0"/>
          <a:srcRect xmlns:a="http://schemas.openxmlformats.org/drawingml/2006/main" l="0" t="86" r="0" b="86"/>
          <a:stretch xmlns:a="http://schemas.openxmlformats.org/drawingml/2006/main">
            <a:fillRect l="0" t="0" r="0" b="0"/>
          </a:stretch>
        </p:blipFill>
        <p:spPr>
          <a:xfrm xmlns:a="http://schemas.openxmlformats.org/drawingml/2006/main">
            <a:off x="704850" y="1866900"/>
            <a:ext cx="3105150" cy="2152650"/>
          </a:xfrm>
          <a:prstGeom xmlns:a="http://schemas.openxmlformats.org/drawingml/2006/main" prst="roundRect">
            <a:avLst>
              <a:gd name="adj" fmla="val 3540"/>
            </a:avLst>
          </a:prstGeom>
        </p:spPr>
      </p:pic>
      <p:sp>
        <p:nvSpPr>
          <p:cNvPr id="7" name="">
            <a:extLst xmlns:a="http://schemas.openxmlformats.org/drawingml/2006/main">
              <a:ext uri="{FF2B5EF4-FFF2-40B4-BE49-F238E27FC236}">
                <a16:creationId xmlns:a16="http://schemas.microsoft.com/office/drawing/2014/main" id="{8E537BF3-3E5B-49DF-B5B6-3C246EFB83B0}"/>
              </a:ext>
            </a:extLst>
          </p:cNvPr>
          <p:cNvSpPr>
            <a:spLocks xmlns:a="http://schemas.openxmlformats.org/drawingml/2006/main" noGrp="1"/>
          </p:cNvSpPr>
          <p:nvPr/>
        </p:nvSpPr>
        <p:spPr>
          <a:xfrm xmlns:a="http://schemas.openxmlformats.org/drawingml/2006/main">
            <a:off x="742950" y="42481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191C"/>
                </a:solidFill>
              </a:defRPr>
            </a:pPr>
            <a:r>
              <a:rPr sz="1500" b="1">
                <a:solidFill>
                  <a:srgbClr val="17191C"/>
                </a:solidFill>
              </a:rPr>
              <a:t>Evidence-backed candidate</a:t>
            </a:r>
          </a:p>
        </p:txBody>
      </p:sp>
      <p:sp>
        <p:nvSpPr>
          <p:cNvPr id="8" name="">
            <a:extLst xmlns:a="http://schemas.openxmlformats.org/drawingml/2006/main">
              <a:ext uri="{FF2B5EF4-FFF2-40B4-BE49-F238E27FC236}">
                <a16:creationId xmlns:a16="http://schemas.microsoft.com/office/drawing/2014/main" id="{DEE8A100-1E49-419F-B631-D092A7FF2BF1}"/>
              </a:ext>
            </a:extLst>
          </p:cNvPr>
          <p:cNvSpPr>
            <a:spLocks xmlns:a="http://schemas.openxmlformats.org/drawingml/2006/main" noGrp="1"/>
          </p:cNvSpPr>
          <p:nvPr/>
        </p:nvSpPr>
        <p:spPr>
          <a:xfrm xmlns:a="http://schemas.openxmlformats.org/drawingml/2006/main">
            <a:off x="742950" y="461010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Deterministic ranking + pattern context</a:t>
            </a:r>
          </a:p>
        </p:txBody>
      </p:sp>
      <p:sp>
        <p:nvSpPr>
          <p:cNvPr id="9" name="">
            <a:extLst xmlns:a="http://schemas.openxmlformats.org/drawingml/2006/main">
              <a:ext uri="{FF2B5EF4-FFF2-40B4-BE49-F238E27FC236}">
                <a16:creationId xmlns:a16="http://schemas.microsoft.com/office/drawing/2014/main" id="{7719AA29-860B-42AD-8117-D933FEF79D3B}"/>
              </a:ext>
            </a:extLst>
          </p:cNvPr>
          <p:cNvSpPr>
            <a:spLocks xmlns:a="http://schemas.openxmlformats.org/drawingml/2006/main" noGrp="1"/>
          </p:cNvSpPr>
          <p:nvPr/>
        </p:nvSpPr>
        <p:spPr>
          <a:xfrm xmlns:a="http://schemas.openxmlformats.org/drawingml/2006/main">
            <a:off x="4286250" y="1752600"/>
            <a:ext cx="3333750" cy="33528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7D9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88b1eb9e31c4b02"/>
          <a:srcRect xmlns:a="http://schemas.openxmlformats.org/drawingml/2006/main" l="0" t="86" r="0" b="86"/>
          <a:stretch xmlns:a="http://schemas.openxmlformats.org/drawingml/2006/main">
            <a:fillRect l="0" t="0" r="0" b="0"/>
          </a:stretch>
        </p:blipFill>
        <p:spPr>
          <a:xfrm xmlns:a="http://schemas.openxmlformats.org/drawingml/2006/main">
            <a:off x="4400550" y="1866900"/>
            <a:ext cx="3105150" cy="2152650"/>
          </a:xfrm>
          <a:prstGeom xmlns:a="http://schemas.openxmlformats.org/drawingml/2006/main" prst="roundRect">
            <a:avLst>
              <a:gd name="adj" fmla="val 3540"/>
            </a:avLst>
          </a:prstGeom>
        </p:spPr>
      </p:pic>
      <p:sp>
        <p:nvSpPr>
          <p:cNvPr id="11" name="">
            <a:extLst xmlns:a="http://schemas.openxmlformats.org/drawingml/2006/main">
              <a:ext uri="{FF2B5EF4-FFF2-40B4-BE49-F238E27FC236}">
                <a16:creationId xmlns:a16="http://schemas.microsoft.com/office/drawing/2014/main" id="{6A8DDAB8-1AAF-44F8-A32A-F5045EF51E51}"/>
              </a:ext>
            </a:extLst>
          </p:cNvPr>
          <p:cNvSpPr>
            <a:spLocks xmlns:a="http://schemas.openxmlformats.org/drawingml/2006/main" noGrp="1"/>
          </p:cNvSpPr>
          <p:nvPr/>
        </p:nvSpPr>
        <p:spPr>
          <a:xfrm xmlns:a="http://schemas.openxmlformats.org/drawingml/2006/main">
            <a:off x="4438650" y="42481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191C"/>
                </a:solidFill>
              </a:defRPr>
            </a:pPr>
            <a:r>
              <a:rPr sz="1500" b="1">
                <a:solidFill>
                  <a:srgbClr val="17191C"/>
                </a:solidFill>
              </a:rPr>
              <a:t>Approval gate</a:t>
            </a:r>
          </a:p>
        </p:txBody>
      </p:sp>
      <p:sp>
        <p:nvSpPr>
          <p:cNvPr id="12" name="">
            <a:extLst xmlns:a="http://schemas.openxmlformats.org/drawingml/2006/main">
              <a:ext uri="{FF2B5EF4-FFF2-40B4-BE49-F238E27FC236}">
                <a16:creationId xmlns:a16="http://schemas.microsoft.com/office/drawing/2014/main" id="{9B5C0422-0510-47E5-9F23-A5EA3396CE35}"/>
              </a:ext>
            </a:extLst>
          </p:cNvPr>
          <p:cNvSpPr>
            <a:spLocks xmlns:a="http://schemas.openxmlformats.org/drawingml/2006/main" noGrp="1"/>
          </p:cNvSpPr>
          <p:nvPr/>
        </p:nvSpPr>
        <p:spPr>
          <a:xfrm xmlns:a="http://schemas.openxmlformats.org/drawingml/2006/main">
            <a:off x="4438650" y="461010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Readiness checks + explicit human action</a:t>
            </a:r>
          </a:p>
        </p:txBody>
      </p:sp>
      <p:sp>
        <p:nvSpPr>
          <p:cNvPr id="13" name="">
            <a:extLst xmlns:a="http://schemas.openxmlformats.org/drawingml/2006/main">
              <a:ext uri="{FF2B5EF4-FFF2-40B4-BE49-F238E27FC236}">
                <a16:creationId xmlns:a16="http://schemas.microsoft.com/office/drawing/2014/main" id="{62D77D44-ECCB-42E5-B728-4E3C62254412}"/>
              </a:ext>
            </a:extLst>
          </p:cNvPr>
          <p:cNvSpPr>
            <a:spLocks xmlns:a="http://schemas.openxmlformats.org/drawingml/2006/main" noGrp="1"/>
          </p:cNvSpPr>
          <p:nvPr/>
        </p:nvSpPr>
        <p:spPr>
          <a:xfrm xmlns:a="http://schemas.openxmlformats.org/drawingml/2006/main">
            <a:off x="7981950" y="1752600"/>
            <a:ext cx="3333750" cy="33528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7D9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5a9bdd81b5743ae"/>
          <a:srcRect xmlns:a="http://schemas.openxmlformats.org/drawingml/2006/main" l="0" t="726" r="0" b="726"/>
          <a:stretch xmlns:a="http://schemas.openxmlformats.org/drawingml/2006/main">
            <a:fillRect l="0" t="0" r="0" b="0"/>
          </a:stretch>
        </p:blipFill>
        <p:spPr>
          <a:xfrm xmlns:a="http://schemas.openxmlformats.org/drawingml/2006/main">
            <a:off x="8096250" y="1866900"/>
            <a:ext cx="3105150" cy="2152650"/>
          </a:xfrm>
          <a:prstGeom xmlns:a="http://schemas.openxmlformats.org/drawingml/2006/main" prst="roundRect">
            <a:avLst>
              <a:gd name="adj" fmla="val 3540"/>
            </a:avLst>
          </a:prstGeom>
        </p:spPr>
      </p:pic>
      <p:sp>
        <p:nvSpPr>
          <p:cNvPr id="15" name="">
            <a:extLst xmlns:a="http://schemas.openxmlformats.org/drawingml/2006/main">
              <a:ext uri="{FF2B5EF4-FFF2-40B4-BE49-F238E27FC236}">
                <a16:creationId xmlns:a16="http://schemas.microsoft.com/office/drawing/2014/main" id="{C1BA8C5B-CEB1-46D5-AAB9-4B57BD7EF04C}"/>
              </a:ext>
            </a:extLst>
          </p:cNvPr>
          <p:cNvSpPr>
            <a:spLocks xmlns:a="http://schemas.openxmlformats.org/drawingml/2006/main" noGrp="1"/>
          </p:cNvSpPr>
          <p:nvPr/>
        </p:nvSpPr>
        <p:spPr>
          <a:xfrm xmlns:a="http://schemas.openxmlformats.org/drawingml/2006/main">
            <a:off x="8134350" y="42481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191C"/>
                </a:solidFill>
              </a:defRPr>
            </a:pPr>
            <a:r>
              <a:rPr sz="1500" b="1">
                <a:solidFill>
                  <a:srgbClr val="17191C"/>
                </a:solidFill>
              </a:rPr>
              <a:t>Auditable result</a:t>
            </a:r>
          </a:p>
        </p:txBody>
      </p:sp>
      <p:sp>
        <p:nvSpPr>
          <p:cNvPr id="16" name="">
            <a:extLst xmlns:a="http://schemas.openxmlformats.org/drawingml/2006/main">
              <a:ext uri="{FF2B5EF4-FFF2-40B4-BE49-F238E27FC236}">
                <a16:creationId xmlns:a16="http://schemas.microsoft.com/office/drawing/2014/main" id="{CE04074D-0971-4437-81B1-0DD1B4AD7670}"/>
              </a:ext>
            </a:extLst>
          </p:cNvPr>
          <p:cNvSpPr>
            <a:spLocks xmlns:a="http://schemas.openxmlformats.org/drawingml/2006/main" noGrp="1"/>
          </p:cNvSpPr>
          <p:nvPr/>
        </p:nvSpPr>
        <p:spPr>
          <a:xfrm xmlns:a="http://schemas.openxmlformats.org/drawingml/2006/main">
            <a:off x="8134350" y="4610100"/>
            <a:ext cx="302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65D65"/>
                </a:solidFill>
              </a:defRPr>
            </a:pPr>
            <a:r>
              <a:rPr sz="1125" b="0">
                <a:solidFill>
                  <a:srgbClr val="565D65"/>
                </a:solidFill>
              </a:rPr>
              <a:t>Simulated fill + redacted audit rows</a:t>
            </a:r>
          </a:p>
        </p:txBody>
      </p:sp>
      <p:sp>
        <p:nvSpPr>
          <p:cNvPr id="17" name="">
            <a:extLst xmlns:a="http://schemas.openxmlformats.org/drawingml/2006/main">
              <a:ext uri="{FF2B5EF4-FFF2-40B4-BE49-F238E27FC236}">
                <a16:creationId xmlns:a16="http://schemas.microsoft.com/office/drawing/2014/main" id="{A31AF54A-E126-4A89-BFE1-8B025819786F}"/>
              </a:ext>
            </a:extLst>
          </p:cNvPr>
          <p:cNvSpPr>
            <a:spLocks xmlns:a="http://schemas.openxmlformats.org/drawingml/2006/main" noGrp="1"/>
          </p:cNvSpPr>
          <p:nvPr/>
        </p:nvSpPr>
        <p:spPr>
          <a:xfrm xmlns:a="http://schemas.openxmlformats.org/drawingml/2006/main">
            <a:off x="590550" y="5467350"/>
            <a:ext cx="10725150" cy="476250"/>
          </a:xfrm>
          <a:prstGeom xmlns:a="http://schemas.openxmlformats.org/drawingml/2006/main" prst="roundRect">
            <a:avLst>
              <a:gd name="adj" fmla="val 16000"/>
            </a:avLst>
          </a:prstGeom>
          <a:solidFill xmlns:a="http://schemas.openxmlformats.org/drawingml/2006/main">
            <a:srgbClr val="17191C"/>
          </a:solidFill>
          <a:ln xmlns:a="http://schemas.openxmlformats.org/drawingml/2006/main" w="9525">
            <a:solidFill>
              <a:srgbClr val="17191C"/>
            </a:solidFill>
            <a:prstDash val="solid"/>
          </a:ln>
        </p:spPr>
      </p:sp>
      <p:sp>
        <p:nvSpPr>
          <p:cNvPr id="18" name="">
            <a:extLst xmlns:a="http://schemas.openxmlformats.org/drawingml/2006/main">
              <a:ext uri="{FF2B5EF4-FFF2-40B4-BE49-F238E27FC236}">
                <a16:creationId xmlns:a16="http://schemas.microsoft.com/office/drawing/2014/main" id="{69D5C69A-4570-4F4F-8FCC-29B2B1BB626D}"/>
              </a:ext>
            </a:extLst>
          </p:cNvPr>
          <p:cNvSpPr>
            <a:spLocks xmlns:a="http://schemas.openxmlformats.org/drawingml/2006/main" noGrp="1"/>
          </p:cNvSpPr>
          <p:nvPr/>
        </p:nvSpPr>
        <p:spPr>
          <a:xfrm xmlns:a="http://schemas.openxmlformats.org/drawingml/2006/main">
            <a:off x="781050" y="5619750"/>
            <a:ext cx="1034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Screener → strategy/backtest → paper proposal → human approval → simulated fill → report and audit</a:t>
            </a:r>
          </a:p>
        </p:txBody>
      </p:sp>
    </p:spTree>
    <p:extLst>
      <p:ext uri="{BB962C8B-B14F-4D97-AF65-F5344CB8AC3E}">
        <p14:creationId xmlns:p14="http://schemas.microsoft.com/office/powerpoint/2010/main" val="2584819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A35020-6F9D-4858-89F4-32D443E3804F}"/>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F6B4F"/>
                </a:solidFill>
              </a:defRPr>
            </a:pPr>
            <a:r>
              <a:rPr sz="975" b="1">
                <a:solidFill>
                  <a:srgbClr val="2F6B4F"/>
                </a:solidFill>
              </a:rPr>
              <a:t>EVALUATION AND DEPLOYABILITY</a:t>
            </a:r>
          </a:p>
        </p:txBody>
      </p:sp>
      <p:sp>
        <p:nvSpPr>
          <p:cNvPr id="2" name="">
            <a:extLst xmlns:a="http://schemas.openxmlformats.org/drawingml/2006/main">
              <a:ext uri="{FF2B5EF4-FFF2-40B4-BE49-F238E27FC236}">
                <a16:creationId xmlns:a16="http://schemas.microsoft.com/office/drawing/2014/main" id="{3806D725-40CB-4D3D-896C-2E1F613C0E21}"/>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191C"/>
                </a:solidFill>
              </a:defRPr>
            </a:pPr>
            <a:r>
              <a:rPr sz="2700" b="1">
                <a:solidFill>
                  <a:srgbClr val="17191C"/>
                </a:solidFill>
              </a:rPr>
              <a:t>The system is tested as behavior, not only code</a:t>
            </a:r>
          </a:p>
        </p:txBody>
      </p:sp>
      <p:sp>
        <p:nvSpPr>
          <p:cNvPr id="3" name="">
            <a:extLst xmlns:a="http://schemas.openxmlformats.org/drawingml/2006/main">
              <a:ext uri="{FF2B5EF4-FFF2-40B4-BE49-F238E27FC236}">
                <a16:creationId xmlns:a16="http://schemas.microsoft.com/office/drawing/2014/main" id="{AD7D8CEB-0436-4219-9014-4B1F8864073B}"/>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B706F"/>
                </a:solidFill>
              </a:defRPr>
            </a:pPr>
            <a:r>
              <a:rPr sz="900" b="1">
                <a:solidFill>
                  <a:srgbClr val="6B706F"/>
                </a:solidFill>
              </a:rPr>
              <a:t>TRADEPILOT SENTINEL</a:t>
            </a:r>
          </a:p>
        </p:txBody>
      </p:sp>
      <p:sp>
        <p:nvSpPr>
          <p:cNvPr id="4" name="">
            <a:extLst xmlns:a="http://schemas.openxmlformats.org/drawingml/2006/main">
              <a:ext uri="{FF2B5EF4-FFF2-40B4-BE49-F238E27FC236}">
                <a16:creationId xmlns:a16="http://schemas.microsoft.com/office/drawing/2014/main" id="{98D4C72B-441B-45FF-9DFE-2C63412762E9}"/>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06F"/>
                </a:solidFill>
              </a:defRPr>
            </a:pPr>
            <a:r>
              <a:rPr sz="900" b="1">
                <a:solidFill>
                  <a:srgbClr val="6B706F"/>
                </a:solidFill>
              </a:rPr>
              <a:t>08</a:t>
            </a:r>
          </a:p>
        </p:txBody>
      </p:sp>
      <p:sp>
        <p:nvSpPr>
          <p:cNvPr id="5" name="">
            <a:extLst xmlns:a="http://schemas.openxmlformats.org/drawingml/2006/main">
              <a:ext uri="{FF2B5EF4-FFF2-40B4-BE49-F238E27FC236}">
                <a16:creationId xmlns:a16="http://schemas.microsoft.com/office/drawing/2014/main" id="{B3C96DE8-9BF6-471A-BC0E-1CD8D3E9D416}"/>
              </a:ext>
            </a:extLst>
          </p:cNvPr>
          <p:cNvSpPr>
            <a:spLocks xmlns:a="http://schemas.openxmlformats.org/drawingml/2006/main" noGrp="1"/>
          </p:cNvSpPr>
          <p:nvPr/>
        </p:nvSpPr>
        <p:spPr>
          <a:xfrm xmlns:a="http://schemas.openxmlformats.org/drawingml/2006/main">
            <a:off x="590550" y="1790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4F5D75"/>
                </a:solidFill>
              </a:defRPr>
            </a:pPr>
            <a:r>
              <a:rPr sz="4050" b="1">
                <a:solidFill>
                  <a:srgbClr val="4F5D75"/>
                </a:solidFill>
              </a:rPr>
              <a:t>4.92</a:t>
            </a:r>
          </a:p>
        </p:txBody>
      </p:sp>
      <p:sp>
        <p:nvSpPr>
          <p:cNvPr id="6" name="">
            <a:extLst xmlns:a="http://schemas.openxmlformats.org/drawingml/2006/main">
              <a:ext uri="{FF2B5EF4-FFF2-40B4-BE49-F238E27FC236}">
                <a16:creationId xmlns:a16="http://schemas.microsoft.com/office/drawing/2014/main" id="{ED9F52D2-2715-4B47-83EE-D40C0C8C5797}"/>
              </a:ext>
            </a:extLst>
          </p:cNvPr>
          <p:cNvSpPr>
            <a:spLocks xmlns:a="http://schemas.openxmlformats.org/drawingml/2006/main" noGrp="1"/>
          </p:cNvSpPr>
          <p:nvPr/>
        </p:nvSpPr>
        <p:spPr>
          <a:xfrm xmlns:a="http://schemas.openxmlformats.org/drawingml/2006/main">
            <a:off x="590550" y="2419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65D65"/>
                </a:solidFill>
              </a:defRPr>
            </a:pPr>
            <a:r>
              <a:rPr sz="1200" b="1">
                <a:solidFill>
                  <a:srgbClr val="565D65"/>
                </a:solidFill>
              </a:rPr>
              <a:t>/ 5 response quality</a:t>
            </a:r>
          </a:p>
        </p:txBody>
      </p:sp>
      <p:sp>
        <p:nvSpPr>
          <p:cNvPr id="7" name="">
            <a:extLst xmlns:a="http://schemas.openxmlformats.org/drawingml/2006/main">
              <a:ext uri="{FF2B5EF4-FFF2-40B4-BE49-F238E27FC236}">
                <a16:creationId xmlns:a16="http://schemas.microsoft.com/office/drawing/2014/main" id="{80FF45BD-93CA-4323-8AE7-A127D669619C}"/>
              </a:ext>
            </a:extLst>
          </p:cNvPr>
          <p:cNvSpPr>
            <a:spLocks xmlns:a="http://schemas.openxmlformats.org/drawingml/2006/main" noGrp="1"/>
          </p:cNvSpPr>
          <p:nvPr/>
        </p:nvSpPr>
        <p:spPr>
          <a:xfrm xmlns:a="http://schemas.openxmlformats.org/drawingml/2006/main">
            <a:off x="590550" y="30099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5B8C5A"/>
                </a:solidFill>
              </a:defRPr>
            </a:pPr>
            <a:r>
              <a:rPr sz="4050" b="1">
                <a:solidFill>
                  <a:srgbClr val="5B8C5A"/>
                </a:solidFill>
              </a:rPr>
              <a:t>1.00</a:t>
            </a:r>
          </a:p>
        </p:txBody>
      </p:sp>
      <p:sp>
        <p:nvSpPr>
          <p:cNvPr id="8" name="">
            <a:extLst xmlns:a="http://schemas.openxmlformats.org/drawingml/2006/main">
              <a:ext uri="{FF2B5EF4-FFF2-40B4-BE49-F238E27FC236}">
                <a16:creationId xmlns:a16="http://schemas.microsoft.com/office/drawing/2014/main" id="{9F222FF9-9CA8-4A0A-ACEA-835872A709A5}"/>
              </a:ext>
            </a:extLst>
          </p:cNvPr>
          <p:cNvSpPr>
            <a:spLocks xmlns:a="http://schemas.openxmlformats.org/drawingml/2006/main" noGrp="1"/>
          </p:cNvSpPr>
          <p:nvPr/>
        </p:nvSpPr>
        <p:spPr>
          <a:xfrm xmlns:a="http://schemas.openxmlformats.org/drawingml/2006/main">
            <a:off x="590550" y="3638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65D65"/>
                </a:solidFill>
              </a:defRPr>
            </a:pPr>
            <a:r>
              <a:rPr sz="1200" b="1">
                <a:solidFill>
                  <a:srgbClr val="565D65"/>
                </a:solidFill>
              </a:rPr>
              <a:t>forbidden-action policy</a:t>
            </a:r>
          </a:p>
        </p:txBody>
      </p:sp>
      <p:sp>
        <p:nvSpPr>
          <p:cNvPr id="9" name="">
            <a:extLst xmlns:a="http://schemas.openxmlformats.org/drawingml/2006/main">
              <a:ext uri="{FF2B5EF4-FFF2-40B4-BE49-F238E27FC236}">
                <a16:creationId xmlns:a16="http://schemas.microsoft.com/office/drawing/2014/main" id="{09DDC588-FC19-4E2D-A43C-0EA3B8DE4EDF}"/>
              </a:ext>
            </a:extLst>
          </p:cNvPr>
          <p:cNvSpPr>
            <a:spLocks xmlns:a="http://schemas.openxmlformats.org/drawingml/2006/main" noGrp="1"/>
          </p:cNvSpPr>
          <p:nvPr/>
        </p:nvSpPr>
        <p:spPr>
          <a:xfrm xmlns:a="http://schemas.openxmlformats.org/drawingml/2006/main">
            <a:off x="590550" y="42291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C67C2E"/>
                </a:solidFill>
              </a:defRPr>
            </a:pPr>
            <a:r>
              <a:rPr sz="4050" b="1">
                <a:solidFill>
                  <a:srgbClr val="C67C2E"/>
                </a:solidFill>
              </a:rPr>
              <a:t>0.80</a:t>
            </a:r>
          </a:p>
        </p:txBody>
      </p:sp>
      <p:sp>
        <p:nvSpPr>
          <p:cNvPr id="10" name="">
            <a:extLst xmlns:a="http://schemas.openxmlformats.org/drawingml/2006/main">
              <a:ext uri="{FF2B5EF4-FFF2-40B4-BE49-F238E27FC236}">
                <a16:creationId xmlns:a16="http://schemas.microsoft.com/office/drawing/2014/main" id="{6EB85F25-D864-4384-A87B-BD753C70CEF0}"/>
              </a:ext>
            </a:extLst>
          </p:cNvPr>
          <p:cNvSpPr>
            <a:spLocks xmlns:a="http://schemas.openxmlformats.org/drawingml/2006/main" noGrp="1"/>
          </p:cNvSpPr>
          <p:nvPr/>
        </p:nvSpPr>
        <p:spPr>
          <a:xfrm xmlns:a="http://schemas.openxmlformats.org/drawingml/2006/main">
            <a:off x="590550" y="48577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65D65"/>
                </a:solidFill>
              </a:defRPr>
            </a:pPr>
            <a:r>
              <a:rPr sz="1200" b="1">
                <a:solidFill>
                  <a:srgbClr val="565D65"/>
                </a:solidFill>
              </a:rPr>
              <a:t>workflow trajectory</a:t>
            </a:r>
          </a:p>
        </p:txBody>
      </p:sp>
      <p:sp>
        <p:nvSpPr>
          <p:cNvPr id="11" name="">
            <a:extLst xmlns:a="http://schemas.openxmlformats.org/drawingml/2006/main">
              <a:ext uri="{FF2B5EF4-FFF2-40B4-BE49-F238E27FC236}">
                <a16:creationId xmlns:a16="http://schemas.microsoft.com/office/drawing/2014/main" id="{63A0544A-D4DD-4763-B08D-4E573F22E2D6}"/>
              </a:ext>
            </a:extLst>
          </p:cNvPr>
          <p:cNvSpPr>
            <a:spLocks xmlns:a="http://schemas.openxmlformats.org/drawingml/2006/main" noGrp="1"/>
          </p:cNvSpPr>
          <p:nvPr/>
        </p:nvSpPr>
        <p:spPr>
          <a:xfrm xmlns:a="http://schemas.openxmlformats.org/drawingml/2006/main">
            <a:off x="3048000" y="1847850"/>
            <a:ext cx="2038350" cy="723900"/>
          </a:xfrm>
          <a:prstGeom xmlns:a="http://schemas.openxmlformats.org/drawingml/2006/main" prst="roundRect">
            <a:avLst>
              <a:gd name="adj" fmla="val 13158"/>
            </a:avLst>
          </a:prstGeom>
          <a:solidFill xmlns:a="http://schemas.openxmlformats.org/drawingml/2006/main">
            <a:srgbClr val="F7F7F2"/>
          </a:solidFill>
          <a:ln xmlns:a="http://schemas.openxmlformats.org/drawingml/2006/main" w="9525">
            <a:solidFill>
              <a:srgbClr val="D7D9D5"/>
            </a:solidFill>
            <a:prstDash val="solid"/>
          </a:ln>
        </p:spPr>
      </p:sp>
      <p:sp>
        <p:nvSpPr>
          <p:cNvPr id="12" name="">
            <a:extLst xmlns:a="http://schemas.openxmlformats.org/drawingml/2006/main">
              <a:ext uri="{FF2B5EF4-FFF2-40B4-BE49-F238E27FC236}">
                <a16:creationId xmlns:a16="http://schemas.microsoft.com/office/drawing/2014/main" id="{64640D75-ACEA-45F4-B315-72FA3C89D52A}"/>
              </a:ext>
            </a:extLst>
          </p:cNvPr>
          <p:cNvSpPr>
            <a:spLocks xmlns:a="http://schemas.openxmlformats.org/drawingml/2006/main" noGrp="1"/>
          </p:cNvSpPr>
          <p:nvPr/>
        </p:nvSpPr>
        <p:spPr>
          <a:xfrm xmlns:a="http://schemas.openxmlformats.org/drawingml/2006/main">
            <a:off x="3048000" y="1847850"/>
            <a:ext cx="57150" cy="723900"/>
          </a:xfrm>
          <a:prstGeom xmlns:a="http://schemas.openxmlformats.org/drawingml/2006/main" prst="rect">
            <a:avLst/>
          </a:prstGeom>
          <a:solidFill xmlns:a="http://schemas.openxmlformats.org/drawingml/2006/main">
            <a:srgbClr val="4F5D75"/>
          </a:solidFill>
          <a:ln xmlns:a="http://schemas.openxmlformats.org/drawingml/2006/main" w="0">
            <a:solidFill>
              <a:srgbClr val="4F5D75"/>
            </a:solidFill>
            <a:prstDash val="solid"/>
          </a:ln>
        </p:spPr>
      </p:sp>
      <p:sp>
        <p:nvSpPr>
          <p:cNvPr id="13" name="">
            <a:extLst xmlns:a="http://schemas.openxmlformats.org/drawingml/2006/main">
              <a:ext uri="{FF2B5EF4-FFF2-40B4-BE49-F238E27FC236}">
                <a16:creationId xmlns:a16="http://schemas.microsoft.com/office/drawing/2014/main" id="{EAF99041-7187-4749-83BD-74C164A704D6}"/>
              </a:ext>
            </a:extLst>
          </p:cNvPr>
          <p:cNvSpPr>
            <a:spLocks xmlns:a="http://schemas.openxmlformats.org/drawingml/2006/main" noGrp="1"/>
          </p:cNvSpPr>
          <p:nvPr/>
        </p:nvSpPr>
        <p:spPr>
          <a:xfrm xmlns:a="http://schemas.openxmlformats.org/drawingml/2006/main">
            <a:off x="3219450" y="19431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Eval datasets</a:t>
            </a:r>
          </a:p>
        </p:txBody>
      </p:sp>
      <p:sp>
        <p:nvSpPr>
          <p:cNvPr id="14" name="">
            <a:extLst xmlns:a="http://schemas.openxmlformats.org/drawingml/2006/main">
              <a:ext uri="{FF2B5EF4-FFF2-40B4-BE49-F238E27FC236}">
                <a16:creationId xmlns:a16="http://schemas.microsoft.com/office/drawing/2014/main" id="{CA926A1D-3973-4393-880D-468B912110F5}"/>
              </a:ext>
            </a:extLst>
          </p:cNvPr>
          <p:cNvSpPr>
            <a:spLocks xmlns:a="http://schemas.openxmlformats.org/drawingml/2006/main" noGrp="1"/>
          </p:cNvSpPr>
          <p:nvPr/>
        </p:nvSpPr>
        <p:spPr>
          <a:xfrm xmlns:a="http://schemas.openxmlformats.org/drawingml/2006/main">
            <a:off x="3219450" y="23241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Positive workflows + forbidden cases</a:t>
            </a:r>
          </a:p>
        </p:txBody>
      </p:sp>
      <p:sp>
        <p:nvSpPr>
          <p:cNvPr id="15" name="">
            <a:extLst xmlns:a="http://schemas.openxmlformats.org/drawingml/2006/main">
              <a:ext uri="{FF2B5EF4-FFF2-40B4-BE49-F238E27FC236}">
                <a16:creationId xmlns:a16="http://schemas.microsoft.com/office/drawing/2014/main" id="{75FDB8FA-F44C-40E8-9A7C-6F38CB4DC731}"/>
              </a:ext>
            </a:extLst>
          </p:cNvPr>
          <p:cNvSpPr>
            <a:spLocks xmlns:a="http://schemas.openxmlformats.org/drawingml/2006/main" noGrp="1"/>
          </p:cNvSpPr>
          <p:nvPr/>
        </p:nvSpPr>
        <p:spPr>
          <a:xfrm xmlns:a="http://schemas.openxmlformats.org/drawingml/2006/main">
            <a:off x="3048000" y="2990850"/>
            <a:ext cx="2038350" cy="723900"/>
          </a:xfrm>
          <a:prstGeom xmlns:a="http://schemas.openxmlformats.org/drawingml/2006/main" prst="roundRect">
            <a:avLst>
              <a:gd name="adj" fmla="val 13158"/>
            </a:avLst>
          </a:prstGeom>
          <a:solidFill xmlns:a="http://schemas.openxmlformats.org/drawingml/2006/main">
            <a:srgbClr val="F7F7F2"/>
          </a:solidFill>
          <a:ln xmlns:a="http://schemas.openxmlformats.org/drawingml/2006/main" w="9525">
            <a:solidFill>
              <a:srgbClr val="D7D9D5"/>
            </a:solidFill>
            <a:prstDash val="solid"/>
          </a:ln>
        </p:spPr>
      </p:sp>
      <p:sp>
        <p:nvSpPr>
          <p:cNvPr id="16" name="">
            <a:extLst xmlns:a="http://schemas.openxmlformats.org/drawingml/2006/main">
              <a:ext uri="{FF2B5EF4-FFF2-40B4-BE49-F238E27FC236}">
                <a16:creationId xmlns:a16="http://schemas.microsoft.com/office/drawing/2014/main" id="{3927B36B-70A5-42E1-8E25-8945B2FF9827}"/>
              </a:ext>
            </a:extLst>
          </p:cNvPr>
          <p:cNvSpPr>
            <a:spLocks xmlns:a="http://schemas.openxmlformats.org/drawingml/2006/main" noGrp="1"/>
          </p:cNvSpPr>
          <p:nvPr/>
        </p:nvSpPr>
        <p:spPr>
          <a:xfrm xmlns:a="http://schemas.openxmlformats.org/drawingml/2006/main">
            <a:off x="3048000" y="2990850"/>
            <a:ext cx="57150" cy="72390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17" name="">
            <a:extLst xmlns:a="http://schemas.openxmlformats.org/drawingml/2006/main">
              <a:ext uri="{FF2B5EF4-FFF2-40B4-BE49-F238E27FC236}">
                <a16:creationId xmlns:a16="http://schemas.microsoft.com/office/drawing/2014/main" id="{6661E915-DC77-4B61-BA0C-DEDA418565FA}"/>
              </a:ext>
            </a:extLst>
          </p:cNvPr>
          <p:cNvSpPr>
            <a:spLocks xmlns:a="http://schemas.openxmlformats.org/drawingml/2006/main" noGrp="1"/>
          </p:cNvSpPr>
          <p:nvPr/>
        </p:nvSpPr>
        <p:spPr>
          <a:xfrm xmlns:a="http://schemas.openxmlformats.org/drawingml/2006/main">
            <a:off x="3219450" y="30861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ADK traces</a:t>
            </a:r>
          </a:p>
        </p:txBody>
      </p:sp>
      <p:sp>
        <p:nvSpPr>
          <p:cNvPr id="18" name="">
            <a:extLst xmlns:a="http://schemas.openxmlformats.org/drawingml/2006/main">
              <a:ext uri="{FF2B5EF4-FFF2-40B4-BE49-F238E27FC236}">
                <a16:creationId xmlns:a16="http://schemas.microsoft.com/office/drawing/2014/main" id="{59F10431-CD91-441A-BB81-2EF006BBE06D}"/>
              </a:ext>
            </a:extLst>
          </p:cNvPr>
          <p:cNvSpPr>
            <a:spLocks xmlns:a="http://schemas.openxmlformats.org/drawingml/2006/main" noGrp="1"/>
          </p:cNvSpPr>
          <p:nvPr/>
        </p:nvSpPr>
        <p:spPr>
          <a:xfrm xmlns:a="http://schemas.openxmlformats.org/drawingml/2006/main">
            <a:off x="3219450" y="34671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Tool calls and ordering</a:t>
            </a:r>
          </a:p>
        </p:txBody>
      </p:sp>
      <p:sp>
        <p:nvSpPr>
          <p:cNvPr id="19" name="">
            <a:extLst xmlns:a="http://schemas.openxmlformats.org/drawingml/2006/main">
              <a:ext uri="{FF2B5EF4-FFF2-40B4-BE49-F238E27FC236}">
                <a16:creationId xmlns:a16="http://schemas.microsoft.com/office/drawing/2014/main" id="{C8E17544-A54E-4A67-B544-C04E5FAB54AA}"/>
              </a:ext>
            </a:extLst>
          </p:cNvPr>
          <p:cNvSpPr>
            <a:spLocks xmlns:a="http://schemas.openxmlformats.org/drawingml/2006/main" noGrp="1"/>
          </p:cNvSpPr>
          <p:nvPr/>
        </p:nvSpPr>
        <p:spPr>
          <a:xfrm xmlns:a="http://schemas.openxmlformats.org/drawingml/2006/main">
            <a:off x="3048000" y="4133850"/>
            <a:ext cx="2038350" cy="723900"/>
          </a:xfrm>
          <a:prstGeom xmlns:a="http://schemas.openxmlformats.org/drawingml/2006/main" prst="roundRect">
            <a:avLst>
              <a:gd name="adj" fmla="val 13158"/>
            </a:avLst>
          </a:prstGeom>
          <a:solidFill xmlns:a="http://schemas.openxmlformats.org/drawingml/2006/main">
            <a:srgbClr val="F7F7F2"/>
          </a:solidFill>
          <a:ln xmlns:a="http://schemas.openxmlformats.org/drawingml/2006/main" w="9525">
            <a:solidFill>
              <a:srgbClr val="D7D9D5"/>
            </a:solidFill>
            <a:prstDash val="solid"/>
          </a:ln>
        </p:spPr>
      </p:sp>
      <p:sp>
        <p:nvSpPr>
          <p:cNvPr id="20" name="">
            <a:extLst xmlns:a="http://schemas.openxmlformats.org/drawingml/2006/main">
              <a:ext uri="{FF2B5EF4-FFF2-40B4-BE49-F238E27FC236}">
                <a16:creationId xmlns:a16="http://schemas.microsoft.com/office/drawing/2014/main" id="{7899D975-BA64-4B25-BF19-63AE78A3EFC1}"/>
              </a:ext>
            </a:extLst>
          </p:cNvPr>
          <p:cNvSpPr>
            <a:spLocks xmlns:a="http://schemas.openxmlformats.org/drawingml/2006/main" noGrp="1"/>
          </p:cNvSpPr>
          <p:nvPr/>
        </p:nvSpPr>
        <p:spPr>
          <a:xfrm xmlns:a="http://schemas.openxmlformats.org/drawingml/2006/main">
            <a:off x="3048000" y="4133850"/>
            <a:ext cx="57150" cy="72390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21" name="">
            <a:extLst xmlns:a="http://schemas.openxmlformats.org/drawingml/2006/main">
              <a:ext uri="{FF2B5EF4-FFF2-40B4-BE49-F238E27FC236}">
                <a16:creationId xmlns:a16="http://schemas.microsoft.com/office/drawing/2014/main" id="{C9D01C74-AD01-4D73-96F1-25FDDE849E38}"/>
              </a:ext>
            </a:extLst>
          </p:cNvPr>
          <p:cNvSpPr>
            <a:spLocks xmlns:a="http://schemas.openxmlformats.org/drawingml/2006/main" noGrp="1"/>
          </p:cNvSpPr>
          <p:nvPr/>
        </p:nvSpPr>
        <p:spPr>
          <a:xfrm xmlns:a="http://schemas.openxmlformats.org/drawingml/2006/main">
            <a:off x="3219450" y="42291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Hybrid grading</a:t>
            </a:r>
          </a:p>
        </p:txBody>
      </p:sp>
      <p:sp>
        <p:nvSpPr>
          <p:cNvPr id="22" name="">
            <a:extLst xmlns:a="http://schemas.openxmlformats.org/drawingml/2006/main">
              <a:ext uri="{FF2B5EF4-FFF2-40B4-BE49-F238E27FC236}">
                <a16:creationId xmlns:a16="http://schemas.microsoft.com/office/drawing/2014/main" id="{BC55D990-4F55-4F7B-9D6D-01886303B5F3}"/>
              </a:ext>
            </a:extLst>
          </p:cNvPr>
          <p:cNvSpPr>
            <a:spLocks xmlns:a="http://schemas.openxmlformats.org/drawingml/2006/main" noGrp="1"/>
          </p:cNvSpPr>
          <p:nvPr/>
        </p:nvSpPr>
        <p:spPr>
          <a:xfrm xmlns:a="http://schemas.openxmlformats.org/drawingml/2006/main">
            <a:off x="3219450" y="46101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LLM judge + deterministic metrics</a:t>
            </a:r>
          </a:p>
        </p:txBody>
      </p:sp>
      <p:sp>
        <p:nvSpPr>
          <p:cNvPr id="23" name="">
            <a:extLst xmlns:a="http://schemas.openxmlformats.org/drawingml/2006/main">
              <a:ext uri="{FF2B5EF4-FFF2-40B4-BE49-F238E27FC236}">
                <a16:creationId xmlns:a16="http://schemas.microsoft.com/office/drawing/2014/main" id="{80702815-96A9-4A89-9CF5-FCD08130821B}"/>
              </a:ext>
            </a:extLst>
          </p:cNvPr>
          <p:cNvSpPr>
            <a:spLocks xmlns:a="http://schemas.openxmlformats.org/drawingml/2006/main" noGrp="1"/>
          </p:cNvSpPr>
          <p:nvPr/>
        </p:nvSpPr>
        <p:spPr>
          <a:xfrm xmlns:a="http://schemas.openxmlformats.org/drawingml/2006/main">
            <a:off x="3048000" y="5276850"/>
            <a:ext cx="2038350" cy="647700"/>
          </a:xfrm>
          <a:prstGeom xmlns:a="http://schemas.openxmlformats.org/drawingml/2006/main" prst="roundRect">
            <a:avLst>
              <a:gd name="adj" fmla="val 14706"/>
            </a:avLst>
          </a:prstGeom>
          <a:solidFill xmlns:a="http://schemas.openxmlformats.org/drawingml/2006/main">
            <a:srgbClr val="E3EBDD"/>
          </a:solidFill>
          <a:ln xmlns:a="http://schemas.openxmlformats.org/drawingml/2006/main" w="9525">
            <a:solidFill>
              <a:srgbClr val="B7C8AA"/>
            </a:solidFill>
            <a:prstDash val="solid"/>
          </a:ln>
        </p:spPr>
      </p:sp>
      <p:sp>
        <p:nvSpPr>
          <p:cNvPr id="24" name="">
            <a:extLst xmlns:a="http://schemas.openxmlformats.org/drawingml/2006/main">
              <a:ext uri="{FF2B5EF4-FFF2-40B4-BE49-F238E27FC236}">
                <a16:creationId xmlns:a16="http://schemas.microsoft.com/office/drawing/2014/main" id="{E5966CD8-1401-4710-A1C5-3A94CAA6738D}"/>
              </a:ext>
            </a:extLst>
          </p:cNvPr>
          <p:cNvSpPr>
            <a:spLocks xmlns:a="http://schemas.openxmlformats.org/drawingml/2006/main" noGrp="1"/>
          </p:cNvSpPr>
          <p:nvPr/>
        </p:nvSpPr>
        <p:spPr>
          <a:xfrm xmlns:a="http://schemas.openxmlformats.org/drawingml/2006/main">
            <a:off x="3048000" y="5276850"/>
            <a:ext cx="57150" cy="64770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25" name="">
            <a:extLst xmlns:a="http://schemas.openxmlformats.org/drawingml/2006/main">
              <a:ext uri="{FF2B5EF4-FFF2-40B4-BE49-F238E27FC236}">
                <a16:creationId xmlns:a16="http://schemas.microsoft.com/office/drawing/2014/main" id="{373E95E8-5EA0-4419-8086-1F292DA25D5F}"/>
              </a:ext>
            </a:extLst>
          </p:cNvPr>
          <p:cNvSpPr>
            <a:spLocks xmlns:a="http://schemas.openxmlformats.org/drawingml/2006/main" noGrp="1"/>
          </p:cNvSpPr>
          <p:nvPr/>
        </p:nvSpPr>
        <p:spPr>
          <a:xfrm xmlns:a="http://schemas.openxmlformats.org/drawingml/2006/main">
            <a:off x="3219450" y="53721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191C"/>
                </a:solidFill>
              </a:defRPr>
            </a:pPr>
            <a:r>
              <a:rPr sz="1200" b="1">
                <a:solidFill>
                  <a:srgbClr val="17191C"/>
                </a:solidFill>
              </a:rPr>
              <a:t>Deterministic triage</a:t>
            </a:r>
          </a:p>
        </p:txBody>
      </p:sp>
      <p:sp>
        <p:nvSpPr>
          <p:cNvPr id="26" name="">
            <a:extLst xmlns:a="http://schemas.openxmlformats.org/drawingml/2006/main">
              <a:ext uri="{FF2B5EF4-FFF2-40B4-BE49-F238E27FC236}">
                <a16:creationId xmlns:a16="http://schemas.microsoft.com/office/drawing/2014/main" id="{23C9E253-1C09-4703-9B95-C013CA816F9C}"/>
              </a:ext>
            </a:extLst>
          </p:cNvPr>
          <p:cNvSpPr>
            <a:spLocks xmlns:a="http://schemas.openxmlformats.org/drawingml/2006/main" noGrp="1"/>
          </p:cNvSpPr>
          <p:nvPr/>
        </p:nvSpPr>
        <p:spPr>
          <a:xfrm xmlns:a="http://schemas.openxmlformats.org/drawingml/2006/main">
            <a:off x="3219450" y="5753100"/>
            <a:ext cx="1771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65D65"/>
                </a:solidFill>
              </a:defRPr>
            </a:pPr>
            <a:r>
              <a:rPr sz="900" b="0">
                <a:solidFill>
                  <a:srgbClr val="565D65"/>
                </a:solidFill>
              </a:rPr>
              <a:t>0 failures; 0 critical failures</a:t>
            </a:r>
          </a:p>
        </p:txBody>
      </p:sp>
      <p:cxnSp>
        <p:nvCxnSpPr>
          <p:cNvPr id="72" name=""/>
          <p:cNvCxnSpPr>
            <a:stCxn xmlns:a="http://schemas.openxmlformats.org/drawingml/2006/main" id="11" idx="2"/>
            <a:endCxn xmlns:a="http://schemas.openxmlformats.org/drawingml/2006/main" id="15" idx="0"/>
          </p:cNvCxnSpPr>
          <p:nvPr/>
        </p:nvCxnSpPr>
        <p:spPr>
          <a:xfrm xmlns:a="http://schemas.openxmlformats.org/drawingml/2006/main">
            <a:off x="4067175" y="2571750"/>
            <a:ext cx="0" cy="419100"/>
          </a:xfrm>
          <a:prstGeom xmlns:a="http://schemas.openxmlformats.org/drawingml/2006/main" prst="straightConnector1">
            <a:avLst/>
          </a:prstGeom>
          <a:ln xmlns:a="http://schemas.openxmlformats.org/drawingml/2006/main" w="19050">
            <a:solidFill>
              <a:srgbClr val="4F5D75"/>
            </a:solidFill>
            <a:prstDash val="solid"/>
            <a:tailEnd type="triangle" w="sm" len="sm"/>
          </a:ln>
        </p:spPr>
      </p:cxnSp>
      <p:cxnSp>
        <p:nvCxnSpPr>
          <p:cNvPr id="73" name=""/>
          <p:cNvCxnSpPr>
            <a:stCxn xmlns:a="http://schemas.openxmlformats.org/drawingml/2006/main" id="15" idx="2"/>
            <a:endCxn xmlns:a="http://schemas.openxmlformats.org/drawingml/2006/main" id="19" idx="0"/>
          </p:cNvCxnSpPr>
          <p:nvPr/>
        </p:nvCxnSpPr>
        <p:spPr>
          <a:xfrm xmlns:a="http://schemas.openxmlformats.org/drawingml/2006/main">
            <a:off x="4067175" y="3714750"/>
            <a:ext cx="0" cy="419100"/>
          </a:xfrm>
          <a:prstGeom xmlns:a="http://schemas.openxmlformats.org/drawingml/2006/main" prst="straightConnector1">
            <a:avLst/>
          </a:prstGeom>
          <a:ln xmlns:a="http://schemas.openxmlformats.org/drawingml/2006/main" w="19050">
            <a:solidFill>
              <a:srgbClr val="2F6B4F"/>
            </a:solidFill>
            <a:prstDash val="solid"/>
            <a:tailEnd type="triangle" w="sm" len="sm"/>
          </a:ln>
        </p:spPr>
      </p:cxnSp>
      <p:cxnSp>
        <p:nvCxnSpPr>
          <p:cNvPr id="74" name=""/>
          <p:cNvCxnSpPr>
            <a:stCxn xmlns:a="http://schemas.openxmlformats.org/drawingml/2006/main" id="19" idx="2"/>
            <a:endCxn xmlns:a="http://schemas.openxmlformats.org/drawingml/2006/main" id="23" idx="0"/>
          </p:cNvCxnSpPr>
          <p:nvPr/>
        </p:nvCxnSpPr>
        <p:spPr>
          <a:xfrm xmlns:a="http://schemas.openxmlformats.org/drawingml/2006/main">
            <a:off x="4067175" y="4857750"/>
            <a:ext cx="0" cy="419100"/>
          </a:xfrm>
          <a:prstGeom xmlns:a="http://schemas.openxmlformats.org/drawingml/2006/main" prst="straightConnector1">
            <a:avLst/>
          </a:prstGeom>
          <a:ln xmlns:a="http://schemas.openxmlformats.org/drawingml/2006/main" w="19050">
            <a:solidFill>
              <a:srgbClr val="5B8C5A"/>
            </a:solidFill>
            <a:prstDash val="solid"/>
            <a:tailEnd type="triangle" w="sm" len="sm"/>
          </a:ln>
        </p:spPr>
      </p:cxnSp>
      <p:sp>
        <p:nvSpPr>
          <p:cNvPr id="30" name="">
            <a:extLst xmlns:a="http://schemas.openxmlformats.org/drawingml/2006/main">
              <a:ext uri="{FF2B5EF4-FFF2-40B4-BE49-F238E27FC236}">
                <a16:creationId xmlns:a16="http://schemas.microsoft.com/office/drawing/2014/main" id="{21DD1351-E7C3-494C-88AE-9EB926E760C1}"/>
              </a:ext>
            </a:extLst>
          </p:cNvPr>
          <p:cNvSpPr>
            <a:spLocks xmlns:a="http://schemas.openxmlformats.org/drawingml/2006/main" noGrp="1"/>
          </p:cNvSpPr>
          <p:nvPr/>
        </p:nvSpPr>
        <p:spPr>
          <a:xfrm xmlns:a="http://schemas.openxmlformats.org/drawingml/2006/main">
            <a:off x="5905500" y="1733550"/>
            <a:ext cx="5410200" cy="3543300"/>
          </a:xfrm>
          <a:prstGeom xmlns:a="http://schemas.openxmlformats.org/drawingml/2006/main" prst="roundRect">
            <a:avLst>
              <a:gd name="adj" fmla="val 3226"/>
            </a:avLst>
          </a:prstGeom>
          <a:solidFill xmlns:a="http://schemas.openxmlformats.org/drawingml/2006/main">
            <a:srgbClr val="17191C"/>
          </a:solidFill>
          <a:ln xmlns:a="http://schemas.openxmlformats.org/drawingml/2006/main" w="9525">
            <a:solidFill>
              <a:srgbClr val="17191C"/>
            </a:solidFill>
            <a:prstDash val="solid"/>
          </a:ln>
        </p:spPr>
      </p:sp>
      <p:sp>
        <p:nvSpPr>
          <p:cNvPr id="31" name="">
            <a:extLst xmlns:a="http://schemas.openxmlformats.org/drawingml/2006/main">
              <a:ext uri="{FF2B5EF4-FFF2-40B4-BE49-F238E27FC236}">
                <a16:creationId xmlns:a16="http://schemas.microsoft.com/office/drawing/2014/main" id="{BEECE5B6-FFCC-4EEA-B2D1-5E20237453AF}"/>
              </a:ext>
            </a:extLst>
          </p:cNvPr>
          <p:cNvSpPr>
            <a:spLocks xmlns:a="http://schemas.openxmlformats.org/drawingml/2006/main" noGrp="1"/>
          </p:cNvSpPr>
          <p:nvPr/>
        </p:nvSpPr>
        <p:spPr>
          <a:xfrm xmlns:a="http://schemas.openxmlformats.org/drawingml/2006/main">
            <a:off x="6191250" y="1981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Portable runtime</a:t>
            </a:r>
          </a:p>
        </p:txBody>
      </p:sp>
      <p:sp>
        <p:nvSpPr>
          <p:cNvPr id="32" name="">
            <a:extLst xmlns:a="http://schemas.openxmlformats.org/drawingml/2006/main">
              <a:ext uri="{FF2B5EF4-FFF2-40B4-BE49-F238E27FC236}">
                <a16:creationId xmlns:a16="http://schemas.microsoft.com/office/drawing/2014/main" id="{93C3BCF6-FE91-41A6-8294-B6D79029BD38}"/>
              </a:ext>
            </a:extLst>
          </p:cNvPr>
          <p:cNvSpPr>
            <a:spLocks xmlns:a="http://schemas.openxmlformats.org/drawingml/2006/main" noGrp="1"/>
          </p:cNvSpPr>
          <p:nvPr/>
        </p:nvSpPr>
        <p:spPr>
          <a:xfrm xmlns:a="http://schemas.openxmlformats.org/drawingml/2006/main">
            <a:off x="6191250" y="2533650"/>
            <a:ext cx="2952750" cy="495300"/>
          </a:xfrm>
          <a:prstGeom xmlns:a="http://schemas.openxmlformats.org/drawingml/2006/main" prst="roundRect">
            <a:avLst>
              <a:gd name="adj" fmla="val 15385"/>
            </a:avLst>
          </a:prstGeom>
          <a:solidFill xmlns:a="http://schemas.openxmlformats.org/drawingml/2006/main">
            <a:srgbClr val="24282D"/>
          </a:solidFill>
          <a:ln xmlns:a="http://schemas.openxmlformats.org/drawingml/2006/main" w="9525">
            <a:solidFill>
              <a:srgbClr val="334155"/>
            </a:solidFill>
            <a:prstDash val="solid"/>
          </a:ln>
        </p:spPr>
      </p:sp>
      <p:sp>
        <p:nvSpPr>
          <p:cNvPr id="33" name="">
            <a:extLst xmlns:a="http://schemas.openxmlformats.org/drawingml/2006/main">
              <a:ext uri="{FF2B5EF4-FFF2-40B4-BE49-F238E27FC236}">
                <a16:creationId xmlns:a16="http://schemas.microsoft.com/office/drawing/2014/main" id="{667C0D43-89CF-4FA6-9686-7246F334772F}"/>
              </a:ext>
            </a:extLst>
          </p:cNvPr>
          <p:cNvSpPr>
            <a:spLocks xmlns:a="http://schemas.openxmlformats.org/drawingml/2006/main" noGrp="1"/>
          </p:cNvSpPr>
          <p:nvPr/>
        </p:nvSpPr>
        <p:spPr>
          <a:xfrm xmlns:a="http://schemas.openxmlformats.org/drawingml/2006/main">
            <a:off x="6381750" y="26765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Web console</a:t>
            </a:r>
          </a:p>
        </p:txBody>
      </p:sp>
      <p:sp>
        <p:nvSpPr>
          <p:cNvPr id="34" name="">
            <a:extLst xmlns:a="http://schemas.openxmlformats.org/drawingml/2006/main">
              <a:ext uri="{FF2B5EF4-FFF2-40B4-BE49-F238E27FC236}">
                <a16:creationId xmlns:a16="http://schemas.microsoft.com/office/drawing/2014/main" id="{4CDC494A-C952-4DB1-8511-E6C0DB777EB4}"/>
              </a:ext>
            </a:extLst>
          </p:cNvPr>
          <p:cNvSpPr>
            <a:spLocks xmlns:a="http://schemas.openxmlformats.org/drawingml/2006/main" noGrp="1"/>
          </p:cNvSpPr>
          <p:nvPr/>
        </p:nvSpPr>
        <p:spPr>
          <a:xfrm xmlns:a="http://schemas.openxmlformats.org/drawingml/2006/main">
            <a:off x="8343900" y="2619375"/>
            <a:ext cx="647700" cy="323850"/>
          </a:xfrm>
          <a:prstGeom xmlns:a="http://schemas.openxmlformats.org/drawingml/2006/main" prst="roundRect">
            <a:avLst>
              <a:gd name="adj" fmla="val 50000"/>
            </a:avLst>
          </a:prstGeom>
          <a:solidFill xmlns:a="http://schemas.openxmlformats.org/drawingml/2006/main">
            <a:srgbClr val="F7F7F2"/>
          </a:solidFill>
          <a:ln xmlns:a="http://schemas.openxmlformats.org/drawingml/2006/main" w="9525">
            <a:solidFill>
              <a:srgbClr val="F7F7F2"/>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17191C"/>
                </a:solidFill>
              </a:defRPr>
            </a:pPr>
            <a:r>
              <a:rPr sz="1050" b="1">
                <a:solidFill>
                  <a:srgbClr val="17191C"/>
                </a:solidFill>
              </a:rPr>
              <a:t>3000</a:t>
            </a:r>
          </a:p>
        </p:txBody>
      </p:sp>
      <p:sp>
        <p:nvSpPr>
          <p:cNvPr id="35" name="">
            <a:extLst xmlns:a="http://schemas.openxmlformats.org/drawingml/2006/main">
              <a:ext uri="{FF2B5EF4-FFF2-40B4-BE49-F238E27FC236}">
                <a16:creationId xmlns:a16="http://schemas.microsoft.com/office/drawing/2014/main" id="{7D0263A1-141C-4063-90B8-73B392BD6806}"/>
              </a:ext>
            </a:extLst>
          </p:cNvPr>
          <p:cNvSpPr>
            <a:spLocks xmlns:a="http://schemas.openxmlformats.org/drawingml/2006/main" noGrp="1"/>
          </p:cNvSpPr>
          <p:nvPr/>
        </p:nvSpPr>
        <p:spPr>
          <a:xfrm xmlns:a="http://schemas.openxmlformats.org/drawingml/2006/main">
            <a:off x="6191250" y="3238500"/>
            <a:ext cx="2952750" cy="495300"/>
          </a:xfrm>
          <a:prstGeom xmlns:a="http://schemas.openxmlformats.org/drawingml/2006/main" prst="roundRect">
            <a:avLst>
              <a:gd name="adj" fmla="val 15385"/>
            </a:avLst>
          </a:prstGeom>
          <a:solidFill xmlns:a="http://schemas.openxmlformats.org/drawingml/2006/main">
            <a:srgbClr val="24282D"/>
          </a:solidFill>
          <a:ln xmlns:a="http://schemas.openxmlformats.org/drawingml/2006/main" w="9525">
            <a:solidFill>
              <a:srgbClr val="334155"/>
            </a:solidFill>
            <a:prstDash val="solid"/>
          </a:ln>
        </p:spPr>
      </p:sp>
      <p:sp>
        <p:nvSpPr>
          <p:cNvPr id="36" name="">
            <a:extLst xmlns:a="http://schemas.openxmlformats.org/drawingml/2006/main">
              <a:ext uri="{FF2B5EF4-FFF2-40B4-BE49-F238E27FC236}">
                <a16:creationId xmlns:a16="http://schemas.microsoft.com/office/drawing/2014/main" id="{DBB73BA0-335F-41DE-B135-643E631FC4BB}"/>
              </a:ext>
            </a:extLst>
          </p:cNvPr>
          <p:cNvSpPr>
            <a:spLocks xmlns:a="http://schemas.openxmlformats.org/drawingml/2006/main" noGrp="1"/>
          </p:cNvSpPr>
          <p:nvPr/>
        </p:nvSpPr>
        <p:spPr>
          <a:xfrm xmlns:a="http://schemas.openxmlformats.org/drawingml/2006/main">
            <a:off x="6381750" y="33813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FastAPI + ADK</a:t>
            </a:r>
          </a:p>
        </p:txBody>
      </p:sp>
      <p:sp>
        <p:nvSpPr>
          <p:cNvPr id="37" name="">
            <a:extLst xmlns:a="http://schemas.openxmlformats.org/drawingml/2006/main">
              <a:ext uri="{FF2B5EF4-FFF2-40B4-BE49-F238E27FC236}">
                <a16:creationId xmlns:a16="http://schemas.microsoft.com/office/drawing/2014/main" id="{7844FCE5-DC0E-4404-99A4-73FAD9136111}"/>
              </a:ext>
            </a:extLst>
          </p:cNvPr>
          <p:cNvSpPr>
            <a:spLocks xmlns:a="http://schemas.openxmlformats.org/drawingml/2006/main" noGrp="1"/>
          </p:cNvSpPr>
          <p:nvPr/>
        </p:nvSpPr>
        <p:spPr>
          <a:xfrm xmlns:a="http://schemas.openxmlformats.org/drawingml/2006/main">
            <a:off x="8343900" y="3324225"/>
            <a:ext cx="647700" cy="323850"/>
          </a:xfrm>
          <a:prstGeom xmlns:a="http://schemas.openxmlformats.org/drawingml/2006/main" prst="roundRect">
            <a:avLst>
              <a:gd name="adj" fmla="val 50000"/>
            </a:avLst>
          </a:prstGeom>
          <a:solidFill xmlns:a="http://schemas.openxmlformats.org/drawingml/2006/main">
            <a:srgbClr val="F7F7F2"/>
          </a:solidFill>
          <a:ln xmlns:a="http://schemas.openxmlformats.org/drawingml/2006/main" w="9525">
            <a:solidFill>
              <a:srgbClr val="F7F7F2"/>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17191C"/>
                </a:solidFill>
              </a:defRPr>
            </a:pPr>
            <a:r>
              <a:rPr sz="1050" b="1">
                <a:solidFill>
                  <a:srgbClr val="17191C"/>
                </a:solidFill>
              </a:rPr>
              <a:t>8000</a:t>
            </a:r>
          </a:p>
        </p:txBody>
      </p:sp>
      <p:sp>
        <p:nvSpPr>
          <p:cNvPr id="38" name="">
            <a:extLst xmlns:a="http://schemas.openxmlformats.org/drawingml/2006/main">
              <a:ext uri="{FF2B5EF4-FFF2-40B4-BE49-F238E27FC236}">
                <a16:creationId xmlns:a16="http://schemas.microsoft.com/office/drawing/2014/main" id="{490DA92A-D62E-4546-A713-9626C8DC3C0F}"/>
              </a:ext>
            </a:extLst>
          </p:cNvPr>
          <p:cNvSpPr>
            <a:spLocks xmlns:a="http://schemas.openxmlformats.org/drawingml/2006/main" noGrp="1"/>
          </p:cNvSpPr>
          <p:nvPr/>
        </p:nvSpPr>
        <p:spPr>
          <a:xfrm xmlns:a="http://schemas.openxmlformats.org/drawingml/2006/main">
            <a:off x="6191250" y="3943350"/>
            <a:ext cx="2952750" cy="495300"/>
          </a:xfrm>
          <a:prstGeom xmlns:a="http://schemas.openxmlformats.org/drawingml/2006/main" prst="roundRect">
            <a:avLst>
              <a:gd name="adj" fmla="val 15385"/>
            </a:avLst>
          </a:prstGeom>
          <a:solidFill xmlns:a="http://schemas.openxmlformats.org/drawingml/2006/main">
            <a:srgbClr val="24282D"/>
          </a:solidFill>
          <a:ln xmlns:a="http://schemas.openxmlformats.org/drawingml/2006/main" w="9525">
            <a:solidFill>
              <a:srgbClr val="334155"/>
            </a:solidFill>
            <a:prstDash val="solid"/>
          </a:ln>
        </p:spPr>
      </p:sp>
      <p:sp>
        <p:nvSpPr>
          <p:cNvPr id="39" name="">
            <a:extLst xmlns:a="http://schemas.openxmlformats.org/drawingml/2006/main">
              <a:ext uri="{FF2B5EF4-FFF2-40B4-BE49-F238E27FC236}">
                <a16:creationId xmlns:a16="http://schemas.microsoft.com/office/drawing/2014/main" id="{783E318D-43A3-48F0-BA04-3B98885F4709}"/>
              </a:ext>
            </a:extLst>
          </p:cNvPr>
          <p:cNvSpPr>
            <a:spLocks xmlns:a="http://schemas.openxmlformats.org/drawingml/2006/main" noGrp="1"/>
          </p:cNvSpPr>
          <p:nvPr/>
        </p:nvSpPr>
        <p:spPr>
          <a:xfrm xmlns:a="http://schemas.openxmlformats.org/drawingml/2006/main">
            <a:off x="6381750" y="40862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MCP server</a:t>
            </a:r>
          </a:p>
        </p:txBody>
      </p:sp>
      <p:sp>
        <p:nvSpPr>
          <p:cNvPr id="40" name="">
            <a:extLst xmlns:a="http://schemas.openxmlformats.org/drawingml/2006/main">
              <a:ext uri="{FF2B5EF4-FFF2-40B4-BE49-F238E27FC236}">
                <a16:creationId xmlns:a16="http://schemas.microsoft.com/office/drawing/2014/main" id="{CD9DD697-9FF8-4BC4-9E5F-45FEEC6E5321}"/>
              </a:ext>
            </a:extLst>
          </p:cNvPr>
          <p:cNvSpPr>
            <a:spLocks xmlns:a="http://schemas.openxmlformats.org/drawingml/2006/main" noGrp="1"/>
          </p:cNvSpPr>
          <p:nvPr/>
        </p:nvSpPr>
        <p:spPr>
          <a:xfrm xmlns:a="http://schemas.openxmlformats.org/drawingml/2006/main">
            <a:off x="8343900" y="4029075"/>
            <a:ext cx="647700" cy="323850"/>
          </a:xfrm>
          <a:prstGeom xmlns:a="http://schemas.openxmlformats.org/drawingml/2006/main" prst="roundRect">
            <a:avLst>
              <a:gd name="adj" fmla="val 50000"/>
            </a:avLst>
          </a:prstGeom>
          <a:solidFill xmlns:a="http://schemas.openxmlformats.org/drawingml/2006/main">
            <a:srgbClr val="F7F7F2"/>
          </a:solidFill>
          <a:ln xmlns:a="http://schemas.openxmlformats.org/drawingml/2006/main" w="9525">
            <a:solidFill>
              <a:srgbClr val="F7F7F2"/>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17191C"/>
                </a:solidFill>
              </a:defRPr>
            </a:pPr>
            <a:r>
              <a:rPr sz="1050" b="1">
                <a:solidFill>
                  <a:srgbClr val="17191C"/>
                </a:solidFill>
              </a:rPr>
              <a:t>8081</a:t>
            </a:r>
          </a:p>
        </p:txBody>
      </p:sp>
      <p:sp>
        <p:nvSpPr>
          <p:cNvPr id="41" name="">
            <a:extLst xmlns:a="http://schemas.openxmlformats.org/drawingml/2006/main">
              <a:ext uri="{FF2B5EF4-FFF2-40B4-BE49-F238E27FC236}">
                <a16:creationId xmlns:a16="http://schemas.microsoft.com/office/drawing/2014/main" id="{FE38EC49-DC58-476B-8199-9C5C4FB0602B}"/>
              </a:ext>
            </a:extLst>
          </p:cNvPr>
          <p:cNvSpPr>
            <a:spLocks xmlns:a="http://schemas.openxmlformats.org/drawingml/2006/main" noGrp="1"/>
          </p:cNvSpPr>
          <p:nvPr/>
        </p:nvSpPr>
        <p:spPr>
          <a:xfrm xmlns:a="http://schemas.openxmlformats.org/drawingml/2006/main">
            <a:off x="9525000" y="262890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7C9B5"/>
                </a:solidFill>
              </a:defRPr>
            </a:pPr>
            <a:r>
              <a:rPr sz="1350" b="1">
                <a:solidFill>
                  <a:srgbClr val="B7C9B5"/>
                </a:solidFill>
              </a:rPr>
              <a:t>Docker or Podman Compose</a:t>
            </a:r>
          </a:p>
        </p:txBody>
      </p:sp>
      <p:sp>
        <p:nvSpPr>
          <p:cNvPr id="42" name="">
            <a:extLst xmlns:a="http://schemas.openxmlformats.org/drawingml/2006/main">
              <a:ext uri="{FF2B5EF4-FFF2-40B4-BE49-F238E27FC236}">
                <a16:creationId xmlns:a16="http://schemas.microsoft.com/office/drawing/2014/main" id="{812C9EA4-6E31-4C68-85ED-D1396CB35906}"/>
              </a:ext>
            </a:extLst>
          </p:cNvPr>
          <p:cNvSpPr>
            <a:spLocks xmlns:a="http://schemas.openxmlformats.org/drawingml/2006/main" noGrp="1"/>
          </p:cNvSpPr>
          <p:nvPr/>
        </p:nvSpPr>
        <p:spPr>
          <a:xfrm xmlns:a="http://schemas.openxmlformats.org/drawingml/2006/main">
            <a:off x="9525000" y="333375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CBD5E1"/>
                </a:solidFill>
              </a:defRPr>
            </a:pPr>
            <a:r>
              <a:rPr sz="1200" b="0">
                <a:solidFill>
                  <a:srgbClr val="CBD5E1"/>
                </a:solidFill>
              </a:rPr>
              <a:t>Optional Ollama profile</a:t>
            </a:r>
          </a:p>
        </p:txBody>
      </p:sp>
      <p:sp>
        <p:nvSpPr>
          <p:cNvPr id="43" name="">
            <a:extLst xmlns:a="http://schemas.openxmlformats.org/drawingml/2006/main">
              <a:ext uri="{FF2B5EF4-FFF2-40B4-BE49-F238E27FC236}">
                <a16:creationId xmlns:a16="http://schemas.microsoft.com/office/drawing/2014/main" id="{FB351ECD-5B54-414E-8F27-04A97D108941}"/>
              </a:ext>
            </a:extLst>
          </p:cNvPr>
          <p:cNvSpPr>
            <a:spLocks xmlns:a="http://schemas.openxmlformats.org/drawingml/2006/main" noGrp="1"/>
          </p:cNvSpPr>
          <p:nvPr/>
        </p:nvSpPr>
        <p:spPr>
          <a:xfrm xmlns:a="http://schemas.openxmlformats.org/drawingml/2006/main">
            <a:off x="9525000" y="40386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B7C9B5"/>
                </a:solidFill>
              </a:defRPr>
            </a:pPr>
            <a:r>
              <a:rPr sz="1200" b="1">
                <a:solidFill>
                  <a:srgbClr val="B7C9B5"/>
                </a:solidFill>
              </a:rPr>
              <a:t>GitHub Actions</a:t>
            </a:r>
          </a:p>
          <a:p xmlns:a="http://schemas.openxmlformats.org/drawingml/2006/main">
            <a:pPr algn="ctr">
              <a:defRPr sz="1200" b="1">
                <a:solidFill>
                  <a:srgbClr val="B7C9B5"/>
                </a:solidFill>
              </a:defRPr>
            </a:pPr>
            <a:r>
              <a:rPr sz="1200" b="1">
                <a:solidFill>
                  <a:srgbClr val="B7C9B5"/>
                </a:solidFill>
              </a:rPr>
              <a:t>contracts • web • containers</a:t>
            </a:r>
          </a:p>
        </p:txBody>
      </p:sp>
      <p:sp>
        <p:nvSpPr>
          <p:cNvPr id="44" name="">
            <a:extLst xmlns:a="http://schemas.openxmlformats.org/drawingml/2006/main">
              <a:ext uri="{FF2B5EF4-FFF2-40B4-BE49-F238E27FC236}">
                <a16:creationId xmlns:a16="http://schemas.microsoft.com/office/drawing/2014/main" id="{760E86FF-1042-4070-B31C-4898D127EDF8}"/>
              </a:ext>
            </a:extLst>
          </p:cNvPr>
          <p:cNvSpPr>
            <a:spLocks xmlns:a="http://schemas.openxmlformats.org/drawingml/2006/main" noGrp="1"/>
          </p:cNvSpPr>
          <p:nvPr/>
        </p:nvSpPr>
        <p:spPr>
          <a:xfrm xmlns:a="http://schemas.openxmlformats.org/drawingml/2006/main">
            <a:off x="5905500" y="5543550"/>
            <a:ext cx="3143250" cy="323850"/>
          </a:xfrm>
          <a:prstGeom xmlns:a="http://schemas.openxmlformats.org/drawingml/2006/main" prst="roundRect">
            <a:avLst>
              <a:gd name="adj" fmla="val 50000"/>
            </a:avLst>
          </a:prstGeom>
          <a:solidFill xmlns:a="http://schemas.openxmlformats.org/drawingml/2006/main">
            <a:srgbClr val="E3EBDD"/>
          </a:solidFill>
          <a:ln xmlns:a="http://schemas.openxmlformats.org/drawingml/2006/main" w="9525">
            <a:solidFill>
              <a:srgbClr val="E3EBD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5B8C5A"/>
                </a:solidFill>
              </a:defRPr>
            </a:pPr>
            <a:r>
              <a:rPr sz="1050" b="1">
                <a:solidFill>
                  <a:srgbClr val="5B8C5A"/>
                </a:solidFill>
              </a:rPr>
              <a:t>15 / 15 INFERENCE CASES COMPLETED</a:t>
            </a:r>
          </a:p>
        </p:txBody>
      </p:sp>
      <p:sp>
        <p:nvSpPr>
          <p:cNvPr id="45" name="">
            <a:extLst xmlns:a="http://schemas.openxmlformats.org/drawingml/2006/main">
              <a:ext uri="{FF2B5EF4-FFF2-40B4-BE49-F238E27FC236}">
                <a16:creationId xmlns:a16="http://schemas.microsoft.com/office/drawing/2014/main" id="{C3211A77-9157-4F76-BFF0-C95E89A233E7}"/>
              </a:ext>
            </a:extLst>
          </p:cNvPr>
          <p:cNvSpPr>
            <a:spLocks xmlns:a="http://schemas.openxmlformats.org/drawingml/2006/main" noGrp="1"/>
          </p:cNvSpPr>
          <p:nvPr/>
        </p:nvSpPr>
        <p:spPr>
          <a:xfrm xmlns:a="http://schemas.openxmlformats.org/drawingml/2006/main">
            <a:off x="9277350" y="56007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65D65"/>
                </a:solidFill>
              </a:defRPr>
            </a:pPr>
            <a:r>
              <a:rPr sz="1050" b="0">
                <a:solidFill>
                  <a:srgbClr val="565D65"/>
                </a:solidFill>
              </a:rPr>
              <a:t>Credential-free deterministic tests still run without cloud access.</a:t>
            </a:r>
          </a:p>
        </p:txBody>
      </p:sp>
    </p:spTree>
    <p:extLst>
      <p:ext uri="{BB962C8B-B14F-4D97-AF65-F5344CB8AC3E}">
        <p14:creationId xmlns:p14="http://schemas.microsoft.com/office/powerpoint/2010/main" val="209856923"/>
      </p:ext>
    </p:extLst>
  </p:cSld>
</p:sld>
</file>

<file path=ppt/slides/slide9.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246A60-72D2-430F-9B8B-AE02CA28B5AE}"/>
              </a:ext>
            </a:extLst>
          </p:cNvPr>
          <p:cNvSpPr>
            <a:spLocks xmlns:a="http://schemas.openxmlformats.org/drawingml/2006/main" noGrp="1"/>
          </p:cNvSpPr>
          <p:nvPr/>
        </p:nvSpPr>
        <p:spPr>
          <a:xfrm xmlns:a="http://schemas.openxmlformats.org/drawingml/2006/main">
            <a:off x="590550" y="381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7C9B5"/>
                </a:solidFill>
              </a:defRPr>
            </a:pPr>
            <a:r>
              <a:rPr sz="975" b="1">
                <a:solidFill>
                  <a:srgbClr val="B7C9B5"/>
                </a:solidFill>
              </a:rPr>
              <a:t>CAPSTONE CONCLUSION</a:t>
            </a:r>
          </a:p>
        </p:txBody>
      </p:sp>
      <p:sp>
        <p:nvSpPr>
          <p:cNvPr id="2" name="">
            <a:extLst xmlns:a="http://schemas.openxmlformats.org/drawingml/2006/main">
              <a:ext uri="{FF2B5EF4-FFF2-40B4-BE49-F238E27FC236}">
                <a16:creationId xmlns:a16="http://schemas.microsoft.com/office/drawing/2014/main" id="{E44A655D-7611-4AF8-8FB9-FC093808B196}"/>
              </a:ext>
            </a:extLst>
          </p:cNvPr>
          <p:cNvSpPr>
            <a:spLocks xmlns:a="http://schemas.openxmlformats.org/drawingml/2006/main" noGrp="1"/>
          </p:cNvSpPr>
          <p:nvPr/>
        </p:nvSpPr>
        <p:spPr>
          <a:xfrm xmlns:a="http://schemas.openxmlformats.org/drawingml/2006/main">
            <a:off x="59055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A governed trading workflow, proven through safe simulation</a:t>
            </a:r>
          </a:p>
        </p:txBody>
      </p:sp>
      <p:sp>
        <p:nvSpPr>
          <p:cNvPr id="3" name="">
            <a:extLst xmlns:a="http://schemas.openxmlformats.org/drawingml/2006/main">
              <a:ext uri="{FF2B5EF4-FFF2-40B4-BE49-F238E27FC236}">
                <a16:creationId xmlns:a16="http://schemas.microsoft.com/office/drawing/2014/main" id="{38A55343-B180-4A83-BA18-2B897F5B9D19}"/>
              </a:ext>
            </a:extLst>
          </p:cNvPr>
          <p:cNvSpPr>
            <a:spLocks xmlns:a="http://schemas.openxmlformats.org/drawingml/2006/main" noGrp="1"/>
          </p:cNvSpPr>
          <p:nvPr/>
        </p:nvSpPr>
        <p:spPr>
          <a:xfrm xmlns:a="http://schemas.openxmlformats.org/drawingml/2006/main">
            <a:off x="590550" y="6457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4A3B8"/>
                </a:solidFill>
              </a:defRPr>
            </a:pPr>
            <a:r>
              <a:rPr sz="900" b="1">
                <a:solidFill>
                  <a:srgbClr val="94A3B8"/>
                </a:solidFill>
              </a:rPr>
              <a:t>TRADEPILOT SENTINEL</a:t>
            </a:r>
          </a:p>
        </p:txBody>
      </p:sp>
      <p:sp>
        <p:nvSpPr>
          <p:cNvPr id="4" name="">
            <a:extLst xmlns:a="http://schemas.openxmlformats.org/drawingml/2006/main">
              <a:ext uri="{FF2B5EF4-FFF2-40B4-BE49-F238E27FC236}">
                <a16:creationId xmlns:a16="http://schemas.microsoft.com/office/drawing/2014/main" id="{8646062A-BF6D-418D-B0F0-F49883226BBA}"/>
              </a:ext>
            </a:extLst>
          </p:cNvPr>
          <p:cNvSpPr>
            <a:spLocks xmlns:a="http://schemas.openxmlformats.org/drawingml/2006/main" noGrp="1"/>
          </p:cNvSpPr>
          <p:nvPr/>
        </p:nvSpPr>
        <p:spPr>
          <a:xfrm xmlns:a="http://schemas.openxmlformats.org/drawingml/2006/main">
            <a:off x="111442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94A3B8"/>
                </a:solidFill>
              </a:defRPr>
            </a:pPr>
            <a:r>
              <a:rPr sz="900" b="1">
                <a:solidFill>
                  <a:srgbClr val="94A3B8"/>
                </a:solidFill>
              </a:rPr>
              <a:t>09</a:t>
            </a:r>
          </a:p>
        </p:txBody>
      </p:sp>
      <p:sp>
        <p:nvSpPr>
          <p:cNvPr id="5" name="">
            <a:extLst xmlns:a="http://schemas.openxmlformats.org/drawingml/2006/main">
              <a:ext uri="{FF2B5EF4-FFF2-40B4-BE49-F238E27FC236}">
                <a16:creationId xmlns:a16="http://schemas.microsoft.com/office/drawing/2014/main" id="{DB8323D1-BC8F-4CCD-A015-9C3235D72D0A}"/>
              </a:ext>
            </a:extLst>
          </p:cNvPr>
          <p:cNvSpPr>
            <a:spLocks xmlns:a="http://schemas.openxmlformats.org/drawingml/2006/main" noGrp="1"/>
          </p:cNvSpPr>
          <p:nvPr/>
        </p:nvSpPr>
        <p:spPr>
          <a:xfrm xmlns:a="http://schemas.openxmlformats.org/drawingml/2006/main">
            <a:off x="590550" y="1390650"/>
            <a:ext cx="1000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CBD5E1"/>
                </a:solidFill>
              </a:defRPr>
            </a:pPr>
            <a:r>
              <a:rPr sz="1650" b="0">
                <a:solidFill>
                  <a:srgbClr val="CBD5E1"/>
                </a:solidFill>
              </a:rPr>
              <a:t>TradePilot Sentinel combines agent reasoning with deterministic evidence, explicit permissions, and durable audit state.</a:t>
            </a:r>
          </a:p>
        </p:txBody>
      </p:sp>
      <p:sp>
        <p:nvSpPr>
          <p:cNvPr id="6" name="">
            <a:extLst xmlns:a="http://schemas.openxmlformats.org/drawingml/2006/main">
              <a:ext uri="{FF2B5EF4-FFF2-40B4-BE49-F238E27FC236}">
                <a16:creationId xmlns:a16="http://schemas.microsoft.com/office/drawing/2014/main" id="{DA704244-6FBF-427B-826E-F45FC843536E}"/>
              </a:ext>
            </a:extLst>
          </p:cNvPr>
          <p:cNvSpPr>
            <a:spLocks xmlns:a="http://schemas.openxmlformats.org/drawingml/2006/main" noGrp="1"/>
          </p:cNvSpPr>
          <p:nvPr/>
        </p:nvSpPr>
        <p:spPr>
          <a:xfrm xmlns:a="http://schemas.openxmlformats.org/drawingml/2006/main">
            <a:off x="590550" y="2324100"/>
            <a:ext cx="3105150" cy="2400300"/>
          </a:xfrm>
          <a:prstGeom xmlns:a="http://schemas.openxmlformats.org/drawingml/2006/main" prst="roundRect">
            <a:avLst>
              <a:gd name="adj" fmla="val 3968"/>
            </a:avLst>
          </a:prstGeom>
          <a:solidFill xmlns:a="http://schemas.openxmlformats.org/drawingml/2006/main">
            <a:srgbClr val="24282D"/>
          </a:solidFill>
          <a:ln xmlns:a="http://schemas.openxmlformats.org/drawingml/2006/main" w="9525">
            <a:solidFill>
              <a:srgbClr val="334155"/>
            </a:solidFill>
            <a:prstDash val="solid"/>
          </a:ln>
        </p:spPr>
      </p:sp>
      <p:sp>
        <p:nvSpPr>
          <p:cNvPr id="7" name="">
            <a:extLst xmlns:a="http://schemas.openxmlformats.org/drawingml/2006/main">
              <a:ext uri="{FF2B5EF4-FFF2-40B4-BE49-F238E27FC236}">
                <a16:creationId xmlns:a16="http://schemas.microsoft.com/office/drawing/2014/main" id="{6D19304E-7625-48F2-BFBC-0EB7570AF5BB}"/>
              </a:ext>
            </a:extLst>
          </p:cNvPr>
          <p:cNvSpPr>
            <a:spLocks xmlns:a="http://schemas.openxmlformats.org/drawingml/2006/main" noGrp="1"/>
          </p:cNvSpPr>
          <p:nvPr/>
        </p:nvSpPr>
        <p:spPr>
          <a:xfrm xmlns:a="http://schemas.openxmlformats.org/drawingml/2006/main">
            <a:off x="590550" y="2324100"/>
            <a:ext cx="57150" cy="2400300"/>
          </a:xfrm>
          <a:prstGeom xmlns:a="http://schemas.openxmlformats.org/drawingml/2006/main" prst="rect">
            <a:avLst/>
          </a:prstGeom>
          <a:solidFill xmlns:a="http://schemas.openxmlformats.org/drawingml/2006/main">
            <a:srgbClr val="5B8C5A"/>
          </a:solidFill>
          <a:ln xmlns:a="http://schemas.openxmlformats.org/drawingml/2006/main" w="0">
            <a:solidFill>
              <a:srgbClr val="5B8C5A"/>
            </a:solidFill>
            <a:prstDash val="solid"/>
          </a:ln>
        </p:spPr>
      </p:sp>
      <p:sp>
        <p:nvSpPr>
          <p:cNvPr id="8" name="">
            <a:extLst xmlns:a="http://schemas.openxmlformats.org/drawingml/2006/main">
              <a:ext uri="{FF2B5EF4-FFF2-40B4-BE49-F238E27FC236}">
                <a16:creationId xmlns:a16="http://schemas.microsoft.com/office/drawing/2014/main" id="{AE64B181-342D-4B1E-BD7A-CA8F00D8C314}"/>
              </a:ext>
            </a:extLst>
          </p:cNvPr>
          <p:cNvSpPr>
            <a:spLocks xmlns:a="http://schemas.openxmlformats.org/drawingml/2006/main" noGrp="1"/>
          </p:cNvSpPr>
          <p:nvPr/>
        </p:nvSpPr>
        <p:spPr>
          <a:xfrm xmlns:a="http://schemas.openxmlformats.org/drawingml/2006/main">
            <a:off x="781050" y="24765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Implemented now</a:t>
            </a:r>
          </a:p>
        </p:txBody>
      </p:sp>
      <p:sp>
        <p:nvSpPr>
          <p:cNvPr id="9" name="">
            <a:extLst xmlns:a="http://schemas.openxmlformats.org/drawingml/2006/main">
              <a:ext uri="{FF2B5EF4-FFF2-40B4-BE49-F238E27FC236}">
                <a16:creationId xmlns:a16="http://schemas.microsoft.com/office/drawing/2014/main" id="{1A11C7E4-8D80-49B1-B657-498F712622C7}"/>
              </a:ext>
            </a:extLst>
          </p:cNvPr>
          <p:cNvSpPr>
            <a:spLocks xmlns:a="http://schemas.openxmlformats.org/drawingml/2006/main" noGrp="1"/>
          </p:cNvSpPr>
          <p:nvPr/>
        </p:nvSpPr>
        <p:spPr>
          <a:xfrm xmlns:a="http://schemas.openxmlformats.org/drawingml/2006/main">
            <a:off x="781050" y="2914650"/>
            <a:ext cx="27241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BD5E1"/>
                </a:solidFill>
              </a:defRPr>
            </a:pPr>
            <a:r>
              <a:rPr sz="1275" b="0">
                <a:solidFill>
                  <a:srgbClr val="CBD5E1"/>
                </a:solidFill>
              </a:rPr>
              <a:t>Read-only provider adapters</a:t>
            </a:r>
          </a:p>
          <a:p xmlns:a="http://schemas.openxmlformats.org/drawingml/2006/main">
            <a:pPr algn="l">
              <a:defRPr sz="1275" b="0">
                <a:solidFill>
                  <a:srgbClr val="CBD5E1"/>
                </a:solidFill>
              </a:defRPr>
            </a:pPr>
            <a:r>
              <a:rPr sz="1275" b="0">
                <a:solidFill>
                  <a:srgbClr val="CBD5E1"/>
                </a:solidFill>
              </a:rPr>
              <a:t>Multi-factor screeners</a:t>
            </a:r>
          </a:p>
          <a:p xmlns:a="http://schemas.openxmlformats.org/drawingml/2006/main">
            <a:pPr algn="l">
              <a:defRPr sz="1275" b="0">
                <a:solidFill>
                  <a:srgbClr val="CBD5E1"/>
                </a:solidFill>
              </a:defRPr>
            </a:pPr>
            <a:r>
              <a:rPr sz="1275" b="0">
                <a:solidFill>
                  <a:srgbClr val="CBD5E1"/>
                </a:solidFill>
              </a:rPr>
              <a:t>Pattern citations</a:t>
            </a:r>
          </a:p>
          <a:p xmlns:a="http://schemas.openxmlformats.org/drawingml/2006/main">
            <a:pPr algn="l">
              <a:defRPr sz="1275" b="0">
                <a:solidFill>
                  <a:srgbClr val="CBD5E1"/>
                </a:solidFill>
              </a:defRPr>
            </a:pPr>
            <a:r>
              <a:rPr sz="1275" b="0">
                <a:solidFill>
                  <a:srgbClr val="CBD5E1"/>
                </a:solidFill>
              </a:rPr>
              <a:t>Strategy + backtest drafts</a:t>
            </a:r>
          </a:p>
          <a:p xmlns:a="http://schemas.openxmlformats.org/drawingml/2006/main">
            <a:pPr algn="l">
              <a:defRPr sz="1275" b="0">
                <a:solidFill>
                  <a:srgbClr val="CBD5E1"/>
                </a:solidFill>
              </a:defRPr>
            </a:pPr>
            <a:r>
              <a:rPr sz="1275" b="0">
                <a:solidFill>
                  <a:srgbClr val="CBD5E1"/>
                </a:solidFill>
              </a:rPr>
              <a:t>Approval-gated paper ledger</a:t>
            </a:r>
          </a:p>
          <a:p xmlns:a="http://schemas.openxmlformats.org/drawingml/2006/main">
            <a:pPr algn="l">
              <a:defRPr sz="1275" b="0">
                <a:solidFill>
                  <a:srgbClr val="CBD5E1"/>
                </a:solidFill>
              </a:defRPr>
            </a:pPr>
            <a:r>
              <a:rPr sz="1275" b="0">
                <a:solidFill>
                  <a:srgbClr val="CBD5E1"/>
                </a:solidFill>
              </a:rPr>
              <a:t>Reports + redacted audit</a:t>
            </a:r>
          </a:p>
        </p:txBody>
      </p:sp>
      <p:sp>
        <p:nvSpPr>
          <p:cNvPr id="10" name="">
            <a:extLst xmlns:a="http://schemas.openxmlformats.org/drawingml/2006/main">
              <a:ext uri="{FF2B5EF4-FFF2-40B4-BE49-F238E27FC236}">
                <a16:creationId xmlns:a16="http://schemas.microsoft.com/office/drawing/2014/main" id="{3D9B8F17-9CFA-4E67-8C44-A599A7279FBD}"/>
              </a:ext>
            </a:extLst>
          </p:cNvPr>
          <p:cNvSpPr>
            <a:spLocks xmlns:a="http://schemas.openxmlformats.org/drawingml/2006/main" noGrp="1"/>
          </p:cNvSpPr>
          <p:nvPr/>
        </p:nvSpPr>
        <p:spPr>
          <a:xfrm xmlns:a="http://schemas.openxmlformats.org/drawingml/2006/main">
            <a:off x="4152900" y="2324100"/>
            <a:ext cx="3105150" cy="2400300"/>
          </a:xfrm>
          <a:prstGeom xmlns:a="http://schemas.openxmlformats.org/drawingml/2006/main" prst="roundRect">
            <a:avLst>
              <a:gd name="adj" fmla="val 3968"/>
            </a:avLst>
          </a:prstGeom>
          <a:solidFill xmlns:a="http://schemas.openxmlformats.org/drawingml/2006/main">
            <a:srgbClr val="24282D"/>
          </a:solidFill>
          <a:ln xmlns:a="http://schemas.openxmlformats.org/drawingml/2006/main" w="9525">
            <a:solidFill>
              <a:srgbClr val="334155"/>
            </a:solidFill>
            <a:prstDash val="solid"/>
          </a:ln>
        </p:spPr>
      </p:sp>
      <p:sp>
        <p:nvSpPr>
          <p:cNvPr id="11" name="">
            <a:extLst xmlns:a="http://schemas.openxmlformats.org/drawingml/2006/main">
              <a:ext uri="{FF2B5EF4-FFF2-40B4-BE49-F238E27FC236}">
                <a16:creationId xmlns:a16="http://schemas.microsoft.com/office/drawing/2014/main" id="{5CC60301-3EC3-42A0-AE94-13931179B854}"/>
              </a:ext>
            </a:extLst>
          </p:cNvPr>
          <p:cNvSpPr>
            <a:spLocks xmlns:a="http://schemas.openxmlformats.org/drawingml/2006/main" noGrp="1"/>
          </p:cNvSpPr>
          <p:nvPr/>
        </p:nvSpPr>
        <p:spPr>
          <a:xfrm xmlns:a="http://schemas.openxmlformats.org/drawingml/2006/main">
            <a:off x="4152900" y="2324100"/>
            <a:ext cx="57150" cy="2400300"/>
          </a:xfrm>
          <a:prstGeom xmlns:a="http://schemas.openxmlformats.org/drawingml/2006/main" prst="rect">
            <a:avLst/>
          </a:prstGeom>
          <a:solidFill xmlns:a="http://schemas.openxmlformats.org/drawingml/2006/main">
            <a:srgbClr val="2F6B4F"/>
          </a:solidFill>
          <a:ln xmlns:a="http://schemas.openxmlformats.org/drawingml/2006/main" w="0">
            <a:solidFill>
              <a:srgbClr val="2F6B4F"/>
            </a:solidFill>
            <a:prstDash val="solid"/>
          </a:ln>
        </p:spPr>
      </p:sp>
      <p:sp>
        <p:nvSpPr>
          <p:cNvPr id="12" name="">
            <a:extLst xmlns:a="http://schemas.openxmlformats.org/drawingml/2006/main">
              <a:ext uri="{FF2B5EF4-FFF2-40B4-BE49-F238E27FC236}">
                <a16:creationId xmlns:a16="http://schemas.microsoft.com/office/drawing/2014/main" id="{C2CAF868-0039-49C7-9E44-15D69A35F0CF}"/>
              </a:ext>
            </a:extLst>
          </p:cNvPr>
          <p:cNvSpPr>
            <a:spLocks xmlns:a="http://schemas.openxmlformats.org/drawingml/2006/main" noGrp="1"/>
          </p:cNvSpPr>
          <p:nvPr/>
        </p:nvSpPr>
        <p:spPr>
          <a:xfrm xmlns:a="http://schemas.openxmlformats.org/drawingml/2006/main">
            <a:off x="4343400" y="24765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Course concepts proven</a:t>
            </a:r>
          </a:p>
        </p:txBody>
      </p:sp>
      <p:sp>
        <p:nvSpPr>
          <p:cNvPr id="13" name="">
            <a:extLst xmlns:a="http://schemas.openxmlformats.org/drawingml/2006/main">
              <a:ext uri="{FF2B5EF4-FFF2-40B4-BE49-F238E27FC236}">
                <a16:creationId xmlns:a16="http://schemas.microsoft.com/office/drawing/2014/main" id="{CACA78C8-DBAE-422A-8CD3-284F1D4ACE17}"/>
              </a:ext>
            </a:extLst>
          </p:cNvPr>
          <p:cNvSpPr>
            <a:spLocks xmlns:a="http://schemas.openxmlformats.org/drawingml/2006/main" noGrp="1"/>
          </p:cNvSpPr>
          <p:nvPr/>
        </p:nvSpPr>
        <p:spPr>
          <a:xfrm xmlns:a="http://schemas.openxmlformats.org/drawingml/2006/main">
            <a:off x="4343400" y="2914650"/>
            <a:ext cx="27241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BD5E1"/>
                </a:solidFill>
              </a:defRPr>
            </a:pPr>
            <a:r>
              <a:rPr sz="1275" b="0">
                <a:solidFill>
                  <a:srgbClr val="CBD5E1"/>
                </a:solidFill>
              </a:rPr>
              <a:t>Google ADK agent</a:t>
            </a:r>
          </a:p>
          <a:p xmlns:a="http://schemas.openxmlformats.org/drawingml/2006/main">
            <a:pPr algn="l">
              <a:defRPr sz="1275" b="0">
                <a:solidFill>
                  <a:srgbClr val="CBD5E1"/>
                </a:solidFill>
              </a:defRPr>
            </a:pPr>
            <a:r>
              <a:rPr sz="1275" b="0">
                <a:solidFill>
                  <a:srgbClr val="CBD5E1"/>
                </a:solidFill>
              </a:rPr>
              <a:t>MCP tool server</a:t>
            </a:r>
          </a:p>
          <a:p xmlns:a="http://schemas.openxmlformats.org/drawingml/2006/main">
            <a:pPr algn="l">
              <a:defRPr sz="1275" b="0">
                <a:solidFill>
                  <a:srgbClr val="CBD5E1"/>
                </a:solidFill>
              </a:defRPr>
            </a:pPr>
            <a:r>
              <a:rPr sz="1275" b="0">
                <a:solidFill>
                  <a:srgbClr val="CBD5E1"/>
                </a:solidFill>
              </a:rPr>
              <a:t>Security boundaries</a:t>
            </a:r>
          </a:p>
          <a:p xmlns:a="http://schemas.openxmlformats.org/drawingml/2006/main">
            <a:pPr algn="l">
              <a:defRPr sz="1275" b="0">
                <a:solidFill>
                  <a:srgbClr val="CBD5E1"/>
                </a:solidFill>
              </a:defRPr>
            </a:pPr>
            <a:r>
              <a:rPr sz="1275" b="0">
                <a:solidFill>
                  <a:srgbClr val="CBD5E1"/>
                </a:solidFill>
              </a:rPr>
              <a:t>Docker/Podman deployability</a:t>
            </a:r>
          </a:p>
          <a:p xmlns:a="http://schemas.openxmlformats.org/drawingml/2006/main">
            <a:pPr algn="l">
              <a:defRPr sz="1275" b="0">
                <a:solidFill>
                  <a:srgbClr val="CBD5E1"/>
                </a:solidFill>
              </a:defRPr>
            </a:pPr>
            <a:r>
              <a:rPr sz="1275" b="0">
                <a:solidFill>
                  <a:srgbClr val="CBD5E1"/>
                </a:solidFill>
              </a:rPr>
              <a:t>Agents CLI evals and skills</a:t>
            </a:r>
          </a:p>
        </p:txBody>
      </p:sp>
      <p:sp>
        <p:nvSpPr>
          <p:cNvPr id="14" name="">
            <a:extLst xmlns:a="http://schemas.openxmlformats.org/drawingml/2006/main">
              <a:ext uri="{FF2B5EF4-FFF2-40B4-BE49-F238E27FC236}">
                <a16:creationId xmlns:a16="http://schemas.microsoft.com/office/drawing/2014/main" id="{E57C5EA1-5EEA-48FC-847A-587CD9474643}"/>
              </a:ext>
            </a:extLst>
          </p:cNvPr>
          <p:cNvSpPr>
            <a:spLocks xmlns:a="http://schemas.openxmlformats.org/drawingml/2006/main" noGrp="1"/>
          </p:cNvSpPr>
          <p:nvPr/>
        </p:nvSpPr>
        <p:spPr>
          <a:xfrm xmlns:a="http://schemas.openxmlformats.org/drawingml/2006/main">
            <a:off x="7715250" y="2324100"/>
            <a:ext cx="3886200" cy="2400300"/>
          </a:xfrm>
          <a:prstGeom xmlns:a="http://schemas.openxmlformats.org/drawingml/2006/main" prst="roundRect">
            <a:avLst>
              <a:gd name="adj" fmla="val 3968"/>
            </a:avLst>
          </a:prstGeom>
          <a:solidFill xmlns:a="http://schemas.openxmlformats.org/drawingml/2006/main">
            <a:srgbClr val="F3DEDC"/>
          </a:solidFill>
          <a:ln xmlns:a="http://schemas.openxmlformats.org/drawingml/2006/main" w="9525">
            <a:solidFill>
              <a:srgbClr val="D6A2A0"/>
            </a:solidFill>
            <a:prstDash val="solid"/>
          </a:ln>
        </p:spPr>
      </p:sp>
      <p:sp>
        <p:nvSpPr>
          <p:cNvPr id="15" name="">
            <a:extLst xmlns:a="http://schemas.openxmlformats.org/drawingml/2006/main">
              <a:ext uri="{FF2B5EF4-FFF2-40B4-BE49-F238E27FC236}">
                <a16:creationId xmlns:a16="http://schemas.microsoft.com/office/drawing/2014/main" id="{7639D4B1-7F99-46CF-8884-AE3462242E8E}"/>
              </a:ext>
            </a:extLst>
          </p:cNvPr>
          <p:cNvSpPr>
            <a:spLocks xmlns:a="http://schemas.openxmlformats.org/drawingml/2006/main" noGrp="1"/>
          </p:cNvSpPr>
          <p:nvPr/>
        </p:nvSpPr>
        <p:spPr>
          <a:xfrm xmlns:a="http://schemas.openxmlformats.org/drawingml/2006/main">
            <a:off x="7715250" y="2324100"/>
            <a:ext cx="57150" cy="2400300"/>
          </a:xfrm>
          <a:prstGeom xmlns:a="http://schemas.openxmlformats.org/drawingml/2006/main" prst="rect">
            <a:avLst/>
          </a:prstGeom>
          <a:solidFill xmlns:a="http://schemas.openxmlformats.org/drawingml/2006/main">
            <a:srgbClr val="B84A4A"/>
          </a:solidFill>
          <a:ln xmlns:a="http://schemas.openxmlformats.org/drawingml/2006/main" w="0">
            <a:solidFill>
              <a:srgbClr val="B84A4A"/>
            </a:solidFill>
            <a:prstDash val="solid"/>
          </a:ln>
        </p:spPr>
      </p:sp>
      <p:sp>
        <p:nvSpPr>
          <p:cNvPr id="16" name="">
            <a:extLst xmlns:a="http://schemas.openxmlformats.org/drawingml/2006/main">
              <a:ext uri="{FF2B5EF4-FFF2-40B4-BE49-F238E27FC236}">
                <a16:creationId xmlns:a16="http://schemas.microsoft.com/office/drawing/2014/main" id="{A0D7F148-5C37-494F-AA24-CD11B0217014}"/>
              </a:ext>
            </a:extLst>
          </p:cNvPr>
          <p:cNvSpPr>
            <a:spLocks xmlns:a="http://schemas.openxmlformats.org/drawingml/2006/main" noGrp="1"/>
          </p:cNvSpPr>
          <p:nvPr/>
        </p:nvSpPr>
        <p:spPr>
          <a:xfrm xmlns:a="http://schemas.openxmlformats.org/drawingml/2006/main">
            <a:off x="7924800" y="2476500"/>
            <a:ext cx="346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84A4A"/>
                </a:solidFill>
              </a:defRPr>
            </a:pPr>
            <a:r>
              <a:rPr sz="1650" b="1">
                <a:solidFill>
                  <a:srgbClr val="B84A4A"/>
                </a:solidFill>
              </a:rPr>
              <a:t>Future release boundary</a:t>
            </a:r>
          </a:p>
        </p:txBody>
      </p:sp>
      <p:sp>
        <p:nvSpPr>
          <p:cNvPr id="17" name="">
            <a:extLst xmlns:a="http://schemas.openxmlformats.org/drawingml/2006/main">
              <a:ext uri="{FF2B5EF4-FFF2-40B4-BE49-F238E27FC236}">
                <a16:creationId xmlns:a16="http://schemas.microsoft.com/office/drawing/2014/main" id="{BEB16C6C-2EBE-4D37-9ACE-A07B518D7E05}"/>
              </a:ext>
            </a:extLst>
          </p:cNvPr>
          <p:cNvSpPr>
            <a:spLocks xmlns:a="http://schemas.openxmlformats.org/drawingml/2006/main" noGrp="1"/>
          </p:cNvSpPr>
          <p:nvPr/>
        </p:nvSpPr>
        <p:spPr>
          <a:xfrm xmlns:a="http://schemas.openxmlformats.org/drawingml/2006/main">
            <a:off x="7924800" y="2933700"/>
            <a:ext cx="34671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65D65"/>
                </a:solidFill>
              </a:defRPr>
            </a:pPr>
            <a:r>
              <a:rPr sz="1275" b="0">
                <a:solidFill>
                  <a:srgbClr val="565D65"/>
                </a:solidFill>
              </a:rPr>
              <a:t>Configured execution adapters may be added only after broker isolation, stronger approvals, audit review, production observability, and release controls are implemented.</a:t>
            </a:r>
          </a:p>
        </p:txBody>
      </p:sp>
      <p:sp>
        <p:nvSpPr>
          <p:cNvPr id="18" name="">
            <a:extLst xmlns:a="http://schemas.openxmlformats.org/drawingml/2006/main">
              <a:ext uri="{FF2B5EF4-FFF2-40B4-BE49-F238E27FC236}">
                <a16:creationId xmlns:a16="http://schemas.microsoft.com/office/drawing/2014/main" id="{77E9503B-6566-4239-837D-E62599FE5C68}"/>
              </a:ext>
            </a:extLst>
          </p:cNvPr>
          <p:cNvSpPr>
            <a:spLocks xmlns:a="http://schemas.openxmlformats.org/drawingml/2006/main" noGrp="1"/>
          </p:cNvSpPr>
          <p:nvPr/>
        </p:nvSpPr>
        <p:spPr>
          <a:xfrm xmlns:a="http://schemas.openxmlformats.org/drawingml/2006/main">
            <a:off x="590550" y="5219700"/>
            <a:ext cx="11010900" cy="762000"/>
          </a:xfrm>
          <a:prstGeom xmlns:a="http://schemas.openxmlformats.org/drawingml/2006/main" prst="roundRect">
            <a:avLst>
              <a:gd name="adj" fmla="val 12500"/>
            </a:avLst>
          </a:prstGeom>
          <a:solidFill xmlns:a="http://schemas.openxmlformats.org/drawingml/2006/main">
            <a:srgbClr val="2F6B4F"/>
          </a:solidFill>
          <a:ln xmlns:a="http://schemas.openxmlformats.org/drawingml/2006/main" w="9525">
            <a:solidFill>
              <a:srgbClr val="2F6B4F"/>
            </a:solidFill>
            <a:prstDash val="solid"/>
          </a:ln>
        </p:spPr>
      </p:sp>
      <p:sp>
        <p:nvSpPr>
          <p:cNvPr id="19" name="">
            <a:extLst xmlns:a="http://schemas.openxmlformats.org/drawingml/2006/main">
              <a:ext uri="{FF2B5EF4-FFF2-40B4-BE49-F238E27FC236}">
                <a16:creationId xmlns:a16="http://schemas.microsoft.com/office/drawing/2014/main" id="{D64642D6-8D54-4304-91CE-A558A514152A}"/>
              </a:ext>
            </a:extLst>
          </p:cNvPr>
          <p:cNvSpPr>
            <a:spLocks xmlns:a="http://schemas.openxmlformats.org/drawingml/2006/main" noGrp="1"/>
          </p:cNvSpPr>
          <p:nvPr/>
        </p:nvSpPr>
        <p:spPr>
          <a:xfrm xmlns:a="http://schemas.openxmlformats.org/drawingml/2006/main">
            <a:off x="876300" y="542925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The model can recommend. The system decides what is permitted. A human controls the consequential step.</a:t>
            </a:r>
          </a:p>
        </p:txBody>
      </p:sp>
    </p:spTree>
    <p:extLst>
      <p:ext uri="{BB962C8B-B14F-4D97-AF65-F5344CB8AC3E}">
        <p14:creationId xmlns:p14="http://schemas.microsoft.com/office/powerpoint/2010/main" val="774988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2026-07-03T05:31:02.5700000Z</dcterms:created>
  <dcterms:modified xsi:type="dcterms:W3CDTF">2026-07-03T05:31:02.5700000Z</dcterms:modified>
</coreProperties>
</file>